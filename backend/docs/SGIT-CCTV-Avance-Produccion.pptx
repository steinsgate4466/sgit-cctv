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avance. El sistema ya está desplegado y funcionando; hoy se muestra qué hace, qué resuelve para Producción y qué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NO es vigilar al técnico. Es que Producción tenga datos propios sobre algo que hoy sólo existe en conversaciones.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Ninguno de estos cuatro problemas es culpa de nadie. Son consecuencia de que la información nunca se escribió.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áreas implicadas, ningún registro. Señalar el bucle de «vuelve a llamar»: ese bucle es el coste real y no aparece en ningún indicador.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Producción no gana trabajo, gana visibilidad. El técnico teclea lo mismo o menos, porque la orden ya viene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del impacto. No hablo de porcentajes de ahorro porque todavía no tengo el histórico: hablo de preguntas que antes no se podían contestar y ahora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deliberada. Si me preguntan por el porcentaje, la respuesta honesta es: dentro de un mes se lo doy medido. Prometer una cifra hoy sería el error más caro de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Jefe de Tren ve SOLO su tren. Eso no es una restricción técnica: es la política de manejo de información de Aceros Arequipa llevada al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conviene abrir el sistema en vivo si hay proyector: la pantalla se explica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la nube y no un servidor en planta: la nube permite enseñarlo hoy sin pedir infraestructura a TI. Migrar a un servidor interno es cambiar una variable de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que más cuesta explicar y más vale: lo que está en cursiva NO se guarda, se calcula. Por eso el sistema no puede contradecirse a sí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Sólo si el público es técnico. Si es puramente de Producción, saltarla.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rojos son honestos: están diseñados y documentados, no construidos. Prefiero enseñarlos que esconderlos.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licencias de Hikvision: el sistema no reemplaza al software del fabricante, convive con él. No añade licencias de CCTV.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Ninguno de estos seis rompía nada visiblemente. Por eso llevaban meses ahí. Es el argumento de por qué el sistema se comprueba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aquí. Es la diapositiva de la que depende que el proyecto siga: pide poco y es concreta.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566928" y="1371600"/>
            <a:ext cx="146304" cy="2377440"/>
          </a:xfrm>
          <a:prstGeom prst="roundRect">
            <a:avLst>
              <a:gd name="adj" fmla="val 31250"/>
            </a:avLst>
          </a:prstGeom>
          <a:solidFill>
            <a:srgbClr val="D97706"/>
          </a:solidFill>
          <a:ln w="12700">
            <a:solidFill>
              <a:srgbClr val="D97706"/>
            </a:solidFill>
            <a:prstDash val="solid"/>
          </a:ln>
        </p:spPr>
      </p:sp>
      <p:sp>
        <p:nvSpPr>
          <p:cNvPr id="3" name="Text 1"/>
          <p:cNvSpPr/>
          <p:nvPr/>
        </p:nvSpPr>
        <p:spPr>
          <a:xfrm>
            <a:off x="914400" y="1298448"/>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SGIT-CCTV</a:t>
            </a:r>
            <a:endParaRPr lang="en-US" sz="5400" dirty="0"/>
          </a:p>
        </p:txBody>
      </p:sp>
      <p:sp>
        <p:nvSpPr>
          <p:cNvPr id="4" name="Text 2"/>
          <p:cNvSpPr/>
          <p:nvPr/>
        </p:nvSpPr>
        <p:spPr>
          <a:xfrm>
            <a:off x="914400" y="2267712"/>
            <a:ext cx="10058400" cy="457200"/>
          </a:xfrm>
          <a:prstGeom prst="rect">
            <a:avLst/>
          </a:prstGeom>
          <a:noFill/>
          <a:ln/>
        </p:spPr>
        <p:txBody>
          <a:bodyPr wrap="square" lIns="0" tIns="0" rIns="0" bIns="0" rtlCol="0" anchor="ctr"/>
          <a:lstStyle/>
          <a:p>
            <a:pPr indent="0" marL="0">
              <a:buNone/>
            </a:pPr>
            <a:r>
              <a:rPr lang="en-US" sz="1900" dirty="0">
                <a:solidFill>
                  <a:srgbClr val="BCCCDC"/>
                </a:solidFill>
                <a:latin typeface="Calibri" pitchFamily="34" charset="0"/>
                <a:ea typeface="Calibri" pitchFamily="34" charset="-122"/>
                <a:cs typeface="Calibri" pitchFamily="34" charset="-120"/>
              </a:rPr>
              <a:t>Sistema de Gestión de Infraestructura Tecnológica y CCTV</a:t>
            </a:r>
            <a:endParaRPr lang="en-US" sz="1900" dirty="0"/>
          </a:p>
        </p:txBody>
      </p:sp>
      <p:sp>
        <p:nvSpPr>
          <p:cNvPr id="5" name="Text 3"/>
          <p:cNvSpPr/>
          <p:nvPr/>
        </p:nvSpPr>
        <p:spPr>
          <a:xfrm>
            <a:off x="914400" y="2852928"/>
            <a:ext cx="10058400" cy="384048"/>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Avance del proyecto · Presentación al área de Producción</a:t>
            </a:r>
            <a:endParaRPr lang="en-US" sz="1500" dirty="0"/>
          </a:p>
        </p:txBody>
      </p:sp>
      <p:sp>
        <p:nvSpPr>
          <p:cNvPr id="6" name="Text 4"/>
          <p:cNvSpPr/>
          <p:nvPr/>
        </p:nvSpPr>
        <p:spPr>
          <a:xfrm>
            <a:off x="914400" y="3913632"/>
            <a:ext cx="1371600" cy="292608"/>
          </a:xfrm>
          <a:prstGeom prst="rect">
            <a:avLst/>
          </a:prstGeom>
          <a:noFill/>
          <a:ln/>
        </p:spPr>
        <p:txBody>
          <a:bodyPr wrap="square" lIns="0" tIns="0" rIns="0" bIns="0" rtlCol="0" anchor="ctr"/>
          <a:lstStyle/>
          <a:p>
            <a:pPr indent="0" marL="0">
              <a:buNone/>
            </a:pPr>
            <a:r>
              <a:rPr lang="en-US" sz="1100" dirty="0">
                <a:solidFill>
                  <a:srgbClr val="829AB1"/>
                </a:solidFill>
                <a:latin typeface="Calibri" pitchFamily="34" charset="0"/>
                <a:ea typeface="Calibri" pitchFamily="34" charset="-122"/>
                <a:cs typeface="Calibri" pitchFamily="34" charset="-120"/>
              </a:rPr>
              <a:t>Planta</a:t>
            </a:r>
            <a:endParaRPr lang="en-US" sz="1100" dirty="0"/>
          </a:p>
        </p:txBody>
      </p:sp>
      <p:sp>
        <p:nvSpPr>
          <p:cNvPr id="7" name="Text 5"/>
          <p:cNvSpPr/>
          <p:nvPr/>
        </p:nvSpPr>
        <p:spPr>
          <a:xfrm>
            <a:off x="2286000" y="3913632"/>
            <a:ext cx="822960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Aceros Arequipa · Pisco</a:t>
            </a:r>
            <a:endParaRPr lang="en-US" sz="1150" dirty="0"/>
          </a:p>
        </p:txBody>
      </p:sp>
      <p:sp>
        <p:nvSpPr>
          <p:cNvPr id="8" name="Text 6"/>
          <p:cNvSpPr/>
          <p:nvPr/>
        </p:nvSpPr>
        <p:spPr>
          <a:xfrm>
            <a:off x="914400" y="4242816"/>
            <a:ext cx="1371600" cy="292608"/>
          </a:xfrm>
          <a:prstGeom prst="rect">
            <a:avLst/>
          </a:prstGeom>
          <a:noFill/>
          <a:ln/>
        </p:spPr>
        <p:txBody>
          <a:bodyPr wrap="square" lIns="0" tIns="0" rIns="0" bIns="0" rtlCol="0" anchor="ctr"/>
          <a:lstStyle/>
          <a:p>
            <a:pPr indent="0" marL="0">
              <a:buNone/>
            </a:pPr>
            <a:r>
              <a:rPr lang="en-US" sz="1100" dirty="0">
                <a:solidFill>
                  <a:srgbClr val="829AB1"/>
                </a:solidFill>
                <a:latin typeface="Calibri" pitchFamily="34" charset="0"/>
                <a:ea typeface="Calibri" pitchFamily="34" charset="-122"/>
                <a:cs typeface="Calibri" pitchFamily="34" charset="-120"/>
              </a:rPr>
              <a:t>Alcance</a:t>
            </a:r>
            <a:endParaRPr lang="en-US" sz="1100" dirty="0"/>
          </a:p>
        </p:txBody>
      </p:sp>
      <p:sp>
        <p:nvSpPr>
          <p:cNvPr id="9" name="Text 7"/>
          <p:cNvSpPr/>
          <p:nvPr/>
        </p:nvSpPr>
        <p:spPr>
          <a:xfrm>
            <a:off x="2286000" y="4242816"/>
            <a:ext cx="822960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Laminación: Trenes 1, 2 y 3 · Oficinas · Grúas</a:t>
            </a:r>
            <a:endParaRPr lang="en-US" sz="1150" dirty="0"/>
          </a:p>
        </p:txBody>
      </p:sp>
      <p:sp>
        <p:nvSpPr>
          <p:cNvPr id="10" name="Text 8"/>
          <p:cNvSpPr/>
          <p:nvPr/>
        </p:nvSpPr>
        <p:spPr>
          <a:xfrm>
            <a:off x="914400" y="4572000"/>
            <a:ext cx="1371600" cy="292608"/>
          </a:xfrm>
          <a:prstGeom prst="rect">
            <a:avLst/>
          </a:prstGeom>
          <a:noFill/>
          <a:ln/>
        </p:spPr>
        <p:txBody>
          <a:bodyPr wrap="square" lIns="0" tIns="0" rIns="0" bIns="0" rtlCol="0" anchor="ctr"/>
          <a:lstStyle/>
          <a:p>
            <a:pPr indent="0" marL="0">
              <a:buNone/>
            </a:pPr>
            <a:r>
              <a:rPr lang="en-US" sz="1100" dirty="0">
                <a:solidFill>
                  <a:srgbClr val="829AB1"/>
                </a:solidFill>
                <a:latin typeface="Calibri" pitchFamily="34" charset="0"/>
                <a:ea typeface="Calibri" pitchFamily="34" charset="-122"/>
                <a:cs typeface="Calibri" pitchFamily="34" charset="-120"/>
              </a:rPr>
              <a:t>Estado</a:t>
            </a:r>
            <a:endParaRPr lang="en-US" sz="1100" dirty="0"/>
          </a:p>
        </p:txBody>
      </p:sp>
      <p:sp>
        <p:nvSpPr>
          <p:cNvPr id="11" name="Text 9"/>
          <p:cNvSpPr/>
          <p:nvPr/>
        </p:nvSpPr>
        <p:spPr>
          <a:xfrm>
            <a:off x="2286000" y="4572000"/>
            <a:ext cx="822960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Desplegado y en funcionamiento</a:t>
            </a:r>
            <a:endParaRPr lang="en-US" sz="1150" dirty="0"/>
          </a:p>
        </p:txBody>
      </p:sp>
      <p:sp>
        <p:nvSpPr>
          <p:cNvPr id="12" name="Text 10"/>
          <p:cNvSpPr/>
          <p:nvPr/>
        </p:nvSpPr>
        <p:spPr>
          <a:xfrm>
            <a:off x="914400" y="4901184"/>
            <a:ext cx="1371600" cy="292608"/>
          </a:xfrm>
          <a:prstGeom prst="rect">
            <a:avLst/>
          </a:prstGeom>
          <a:noFill/>
          <a:ln/>
        </p:spPr>
        <p:txBody>
          <a:bodyPr wrap="square" lIns="0" tIns="0" rIns="0" bIns="0" rtlCol="0" anchor="ctr"/>
          <a:lstStyle/>
          <a:p>
            <a:pPr indent="0" marL="0">
              <a:buNone/>
            </a:pPr>
            <a:r>
              <a:rPr lang="en-US" sz="1100" dirty="0">
                <a:solidFill>
                  <a:srgbClr val="829AB1"/>
                </a:solidFill>
                <a:latin typeface="Calibri" pitchFamily="34" charset="0"/>
                <a:ea typeface="Calibri" pitchFamily="34" charset="-122"/>
                <a:cs typeface="Calibri" pitchFamily="34" charset="-120"/>
              </a:rPr>
              <a:t>Fecha</a:t>
            </a:r>
            <a:endParaRPr lang="en-US" sz="1100" dirty="0"/>
          </a:p>
        </p:txBody>
      </p:sp>
      <p:sp>
        <p:nvSpPr>
          <p:cNvPr id="13" name="Text 11"/>
          <p:cNvSpPr/>
          <p:nvPr/>
        </p:nvSpPr>
        <p:spPr>
          <a:xfrm>
            <a:off x="2286000" y="4901184"/>
            <a:ext cx="822960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21 de agosto de 2026</a:t>
            </a:r>
            <a:endParaRPr lang="en-US" sz="1150" dirty="0"/>
          </a:p>
        </p:txBody>
      </p:sp>
      <p:sp>
        <p:nvSpPr>
          <p:cNvPr id="14" name="Text 12"/>
          <p:cNvSpPr/>
          <p:nvPr/>
        </p:nvSpPr>
        <p:spPr>
          <a:xfrm>
            <a:off x="914400" y="5230368"/>
            <a:ext cx="1371600" cy="292608"/>
          </a:xfrm>
          <a:prstGeom prst="rect">
            <a:avLst/>
          </a:prstGeom>
          <a:noFill/>
          <a:ln/>
        </p:spPr>
        <p:txBody>
          <a:bodyPr wrap="square" lIns="0" tIns="0" rIns="0" bIns="0" rtlCol="0" anchor="ctr"/>
          <a:lstStyle/>
          <a:p>
            <a:pPr indent="0" marL="0">
              <a:buNone/>
            </a:pPr>
            <a:r>
              <a:rPr lang="en-US" sz="1100" dirty="0">
                <a:solidFill>
                  <a:srgbClr val="829AB1"/>
                </a:solidFill>
                <a:latin typeface="Calibri" pitchFamily="34" charset="0"/>
                <a:ea typeface="Calibri" pitchFamily="34" charset="-122"/>
                <a:cs typeface="Calibri" pitchFamily="34" charset="-120"/>
              </a:rPr>
              <a:t>Autor</a:t>
            </a:r>
            <a:endParaRPr lang="en-US" sz="1100" dirty="0"/>
          </a:p>
        </p:txBody>
      </p:sp>
      <p:sp>
        <p:nvSpPr>
          <p:cNvPr id="15" name="Text 13"/>
          <p:cNvSpPr/>
          <p:nvPr/>
        </p:nvSpPr>
        <p:spPr>
          <a:xfrm>
            <a:off x="2286000" y="5230368"/>
            <a:ext cx="822960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Cristhian Rondón Amanqui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Objetivo del proyecto</a:t>
            </a:r>
            <a:endParaRPr lang="en-US" sz="3100" dirty="0"/>
          </a:p>
        </p:txBody>
      </p:sp>
      <p:sp>
        <p:nvSpPr>
          <p:cNvPr id="3" name="Shape 1"/>
          <p:cNvSpPr/>
          <p:nvPr/>
        </p:nvSpPr>
        <p:spPr>
          <a:xfrm>
            <a:off x="566928" y="1481328"/>
            <a:ext cx="11027664" cy="1417320"/>
          </a:xfrm>
          <a:prstGeom prst="roundRect">
            <a:avLst>
              <a:gd name="adj" fmla="val 3871"/>
            </a:avLst>
          </a:prstGeom>
          <a:solidFill>
            <a:srgbClr val="F0F4F8"/>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4" name="Text 2"/>
          <p:cNvSpPr/>
          <p:nvPr/>
        </p:nvSpPr>
        <p:spPr>
          <a:xfrm>
            <a:off x="841248" y="1627632"/>
            <a:ext cx="10479024" cy="1143000"/>
          </a:xfrm>
          <a:prstGeom prst="rect">
            <a:avLst/>
          </a:prstGeom>
          <a:noFill/>
          <a:ln/>
        </p:spPr>
        <p:txBody>
          <a:bodyPr wrap="square" lIns="0" tIns="0" rIns="0" bIns="0" rtlCol="0" anchor="ctr"/>
          <a:lstStyle/>
          <a:p>
            <a:pPr indent="0" marL="0">
              <a:buNone/>
            </a:pPr>
            <a:r>
              <a:rPr lang="en-US" sz="1700" i="1" dirty="0">
                <a:solidFill>
                  <a:srgbClr val="102A43"/>
                </a:solidFill>
                <a:latin typeface="Cambria" pitchFamily="34" charset="0"/>
                <a:ea typeface="Cambria" pitchFamily="34" charset="-122"/>
                <a:cs typeface="Cambria" pitchFamily="34" charset="-120"/>
              </a:rPr>
              <a:t>Convertir el estado del CCTV y de la red de Laminación en información que Producción pueda consultar y medir, sin depender de que alguien se acuerde.</a:t>
            </a:r>
            <a:endParaRPr lang="en-US" sz="1700" dirty="0"/>
          </a:p>
        </p:txBody>
      </p:sp>
      <p:sp>
        <p:nvSpPr>
          <p:cNvPr id="5" name="Shape 3"/>
          <p:cNvSpPr/>
          <p:nvPr/>
        </p:nvSpPr>
        <p:spPr>
          <a:xfrm>
            <a:off x="566928" y="3127248"/>
            <a:ext cx="402336" cy="402336"/>
          </a:xfrm>
          <a:prstGeom prst="ellipse">
            <a:avLst/>
          </a:prstGeom>
          <a:solidFill>
            <a:srgbClr val="102A43"/>
          </a:solidFill>
          <a:ln w="12700">
            <a:solidFill>
              <a:srgbClr val="102A43"/>
            </a:solidFill>
            <a:prstDash val="solid"/>
          </a:ln>
        </p:spPr>
      </p:sp>
      <p:sp>
        <p:nvSpPr>
          <p:cNvPr id="6" name="Text 4"/>
          <p:cNvSpPr/>
          <p:nvPr/>
        </p:nvSpPr>
        <p:spPr>
          <a:xfrm>
            <a:off x="566928" y="31272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33856" y="3099816"/>
            <a:ext cx="2194560" cy="310896"/>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Que se sepa</a:t>
            </a:r>
            <a:endParaRPr lang="en-US" sz="1450" dirty="0"/>
          </a:p>
        </p:txBody>
      </p:sp>
      <p:sp>
        <p:nvSpPr>
          <p:cNvPr id="8" name="Text 6"/>
          <p:cNvSpPr/>
          <p:nvPr/>
        </p:nvSpPr>
        <p:spPr>
          <a:xfrm>
            <a:off x="3264408" y="3099816"/>
            <a:ext cx="8302752" cy="502920"/>
          </a:xfrm>
          <a:prstGeom prst="rect">
            <a:avLst/>
          </a:prstGeom>
          <a:noFill/>
          <a:ln/>
        </p:spPr>
        <p:txBody>
          <a:bodyPr wrap="square" lIns="0" tIns="0" rIns="0" bIns="0" rtlCol="0" anchor="ctr"/>
          <a:lstStyle/>
          <a:p>
            <a:pPr indent="0" marL="0">
              <a:buNone/>
            </a:pPr>
            <a:r>
              <a:rPr lang="en-US" sz="1250" dirty="0">
                <a:solidFill>
                  <a:srgbClr val="334E68"/>
                </a:solidFill>
                <a:latin typeface="Calibri" pitchFamily="34" charset="0"/>
                <a:ea typeface="Calibri" pitchFamily="34" charset="-122"/>
                <a:cs typeface="Calibri" pitchFamily="34" charset="-120"/>
              </a:rPr>
              <a:t>qué cámara está caída, desde cuándo y quién la está atendiendo — sin llamar por radio.</a:t>
            </a:r>
            <a:endParaRPr lang="en-US" sz="1250" dirty="0"/>
          </a:p>
        </p:txBody>
      </p:sp>
      <p:sp>
        <p:nvSpPr>
          <p:cNvPr id="9" name="Shape 7"/>
          <p:cNvSpPr/>
          <p:nvPr/>
        </p:nvSpPr>
        <p:spPr>
          <a:xfrm>
            <a:off x="566928" y="3968496"/>
            <a:ext cx="402336" cy="402336"/>
          </a:xfrm>
          <a:prstGeom prst="ellipse">
            <a:avLst/>
          </a:prstGeom>
          <a:solidFill>
            <a:srgbClr val="102A43"/>
          </a:solidFill>
          <a:ln w="12700">
            <a:solidFill>
              <a:srgbClr val="102A43"/>
            </a:solidFill>
            <a:prstDash val="solid"/>
          </a:ln>
        </p:spPr>
      </p:sp>
      <p:sp>
        <p:nvSpPr>
          <p:cNvPr id="10" name="Text 8"/>
          <p:cNvSpPr/>
          <p:nvPr/>
        </p:nvSpPr>
        <p:spPr>
          <a:xfrm>
            <a:off x="566928" y="3968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33856" y="3941064"/>
            <a:ext cx="2194560" cy="310896"/>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Que se mida</a:t>
            </a:r>
            <a:endParaRPr lang="en-US" sz="1450" dirty="0"/>
          </a:p>
        </p:txBody>
      </p:sp>
      <p:sp>
        <p:nvSpPr>
          <p:cNvPr id="12" name="Text 10"/>
          <p:cNvSpPr/>
          <p:nvPr/>
        </p:nvSpPr>
        <p:spPr>
          <a:xfrm>
            <a:off x="3264408" y="3941064"/>
            <a:ext cx="8302752" cy="502920"/>
          </a:xfrm>
          <a:prstGeom prst="rect">
            <a:avLst/>
          </a:prstGeom>
          <a:noFill/>
          <a:ln/>
        </p:spPr>
        <p:txBody>
          <a:bodyPr wrap="square" lIns="0" tIns="0" rIns="0" bIns="0" rtlCol="0" anchor="ctr"/>
          <a:lstStyle/>
          <a:p>
            <a:pPr indent="0" marL="0">
              <a:buNone/>
            </a:pPr>
            <a:r>
              <a:rPr lang="en-US" sz="1250" dirty="0">
                <a:solidFill>
                  <a:srgbClr val="334E68"/>
                </a:solidFill>
                <a:latin typeface="Calibri" pitchFamily="34" charset="0"/>
                <a:ea typeface="Calibri" pitchFamily="34" charset="-122"/>
                <a:cs typeface="Calibri" pitchFamily="34" charset="-120"/>
              </a:rPr>
              <a:t>las horas sin visión por tren, para poder discutir la inversión con un número y no con una impresión.</a:t>
            </a:r>
            <a:endParaRPr lang="en-US" sz="1250" dirty="0"/>
          </a:p>
        </p:txBody>
      </p:sp>
      <p:sp>
        <p:nvSpPr>
          <p:cNvPr id="13" name="Shape 11"/>
          <p:cNvSpPr/>
          <p:nvPr/>
        </p:nvSpPr>
        <p:spPr>
          <a:xfrm>
            <a:off x="566928" y="4809744"/>
            <a:ext cx="402336" cy="402336"/>
          </a:xfrm>
          <a:prstGeom prst="ellipse">
            <a:avLst/>
          </a:prstGeom>
          <a:solidFill>
            <a:srgbClr val="486581"/>
          </a:solidFill>
          <a:ln w="12700">
            <a:solidFill>
              <a:srgbClr val="486581"/>
            </a:solidFill>
            <a:prstDash val="solid"/>
          </a:ln>
        </p:spPr>
      </p:sp>
      <p:sp>
        <p:nvSpPr>
          <p:cNvPr id="14" name="Text 12"/>
          <p:cNvSpPr/>
          <p:nvPr/>
        </p:nvSpPr>
        <p:spPr>
          <a:xfrm>
            <a:off x="566928" y="48097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33856" y="4782312"/>
            <a:ext cx="2194560" cy="310896"/>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Que se entienda</a:t>
            </a:r>
            <a:endParaRPr lang="en-US" sz="1450" dirty="0"/>
          </a:p>
        </p:txBody>
      </p:sp>
      <p:sp>
        <p:nvSpPr>
          <p:cNvPr id="16" name="Text 14"/>
          <p:cNvSpPr/>
          <p:nvPr/>
        </p:nvSpPr>
        <p:spPr>
          <a:xfrm>
            <a:off x="3264408" y="4782312"/>
            <a:ext cx="8302752" cy="502920"/>
          </a:xfrm>
          <a:prstGeom prst="rect">
            <a:avLst/>
          </a:prstGeom>
          <a:noFill/>
          <a:ln/>
        </p:spPr>
        <p:txBody>
          <a:bodyPr wrap="square" lIns="0" tIns="0" rIns="0" bIns="0" rtlCol="0" anchor="ctr"/>
          <a:lstStyle/>
          <a:p>
            <a:pPr indent="0" marL="0">
              <a:buNone/>
            </a:pPr>
            <a:r>
              <a:rPr lang="en-US" sz="1250" dirty="0">
                <a:solidFill>
                  <a:srgbClr val="334E68"/>
                </a:solidFill>
                <a:latin typeface="Calibri" pitchFamily="34" charset="0"/>
                <a:ea typeface="Calibri" pitchFamily="34" charset="-122"/>
                <a:cs typeface="Calibri" pitchFamily="34" charset="-120"/>
              </a:rPr>
              <a:t>de qué depende cada cámara, en castellano de planta y sin necesidad de ser de sistemas.</a:t>
            </a:r>
            <a:endParaRPr lang="en-US" sz="1250" dirty="0"/>
          </a:p>
        </p:txBody>
      </p:sp>
      <p:sp>
        <p:nvSpPr>
          <p:cNvPr id="17" name="Shape 15"/>
          <p:cNvSpPr/>
          <p:nvPr/>
        </p:nvSpPr>
        <p:spPr>
          <a:xfrm>
            <a:off x="566928" y="5650992"/>
            <a:ext cx="402336" cy="402336"/>
          </a:xfrm>
          <a:prstGeom prst="ellipse">
            <a:avLst/>
          </a:prstGeom>
          <a:solidFill>
            <a:srgbClr val="486581"/>
          </a:solidFill>
          <a:ln w="12700">
            <a:solidFill>
              <a:srgbClr val="486581"/>
            </a:solidFill>
            <a:prstDash val="solid"/>
          </a:ln>
        </p:spPr>
      </p:sp>
      <p:sp>
        <p:nvSpPr>
          <p:cNvPr id="18" name="Text 16"/>
          <p:cNvSpPr/>
          <p:nvPr/>
        </p:nvSpPr>
        <p:spPr>
          <a:xfrm>
            <a:off x="566928" y="56509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33856" y="5623560"/>
            <a:ext cx="2194560" cy="310896"/>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Que se conserve</a:t>
            </a:r>
            <a:endParaRPr lang="en-US" sz="1450" dirty="0"/>
          </a:p>
        </p:txBody>
      </p:sp>
      <p:sp>
        <p:nvSpPr>
          <p:cNvPr id="20" name="Text 18"/>
          <p:cNvSpPr/>
          <p:nvPr/>
        </p:nvSpPr>
        <p:spPr>
          <a:xfrm>
            <a:off x="3264408" y="5623560"/>
            <a:ext cx="8302752" cy="502920"/>
          </a:xfrm>
          <a:prstGeom prst="rect">
            <a:avLst/>
          </a:prstGeom>
          <a:noFill/>
          <a:ln/>
        </p:spPr>
        <p:txBody>
          <a:bodyPr wrap="square" lIns="0" tIns="0" rIns="0" bIns="0" rtlCol="0" anchor="ctr"/>
          <a:lstStyle/>
          <a:p>
            <a:pPr indent="0" marL="0">
              <a:buNone/>
            </a:pPr>
            <a:r>
              <a:rPr lang="en-US" sz="1250" dirty="0">
                <a:solidFill>
                  <a:srgbClr val="334E68"/>
                </a:solidFill>
                <a:latin typeface="Calibri" pitchFamily="34" charset="0"/>
                <a:ea typeface="Calibri" pitchFamily="34" charset="-122"/>
                <a:cs typeface="Calibri" pitchFamily="34" charset="-120"/>
              </a:rPr>
              <a:t>el historial de cada equipo, para que la experiencia no se vaya con la persona que la tiene.</a:t>
            </a:r>
            <a:endParaRPr lang="en-US" sz="1250" dirty="0"/>
          </a:p>
        </p:txBody>
      </p:sp>
      <p:sp>
        <p:nvSpPr>
          <p:cNvPr id="21" name="Text 19"/>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2" name="Text 20"/>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El problema, dicho sin rodeos</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Lo que pasa hoy cuando una cámara deja de ver</a:t>
            </a:r>
            <a:endParaRPr lang="en-US" sz="1300" dirty="0"/>
          </a:p>
        </p:txBody>
      </p:sp>
      <p:sp>
        <p:nvSpPr>
          <p:cNvPr id="4" name="Shape 2"/>
          <p:cNvSpPr/>
          <p:nvPr/>
        </p:nvSpPr>
        <p:spPr>
          <a:xfrm>
            <a:off x="566928" y="1536192"/>
            <a:ext cx="5422392" cy="1874520"/>
          </a:xfrm>
          <a:prstGeom prst="roundRect">
            <a:avLst>
              <a:gd name="adj" fmla="val 2927"/>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Shape 3"/>
          <p:cNvSpPr/>
          <p:nvPr/>
        </p:nvSpPr>
        <p:spPr>
          <a:xfrm>
            <a:off x="822960" y="1792224"/>
            <a:ext cx="310896" cy="310896"/>
          </a:xfrm>
          <a:prstGeom prst="ellipse">
            <a:avLst/>
          </a:prstGeom>
          <a:solidFill>
            <a:srgbClr val="FDECEC"/>
          </a:solidFill>
          <a:ln w="15240">
            <a:solidFill>
              <a:srgbClr val="A61B1B"/>
            </a:solidFill>
            <a:prstDash val="solid"/>
          </a:ln>
        </p:spPr>
      </p:sp>
      <p:sp>
        <p:nvSpPr>
          <p:cNvPr id="6" name="Text 4"/>
          <p:cNvSpPr/>
          <p:nvPr/>
        </p:nvSpPr>
        <p:spPr>
          <a:xfrm>
            <a:off x="822960" y="1792224"/>
            <a:ext cx="310896" cy="310896"/>
          </a:xfrm>
          <a:prstGeom prst="rect">
            <a:avLst/>
          </a:prstGeom>
          <a:noFill/>
          <a:ln/>
        </p:spPr>
        <p:txBody>
          <a:bodyPr wrap="square" lIns="0" tIns="0" rIns="0" bIns="0" rtlCol="0" anchor="ctr"/>
          <a:lstStyle/>
          <a:p>
            <a:pPr algn="ctr" indent="0" marL="0">
              <a:buNone/>
            </a:pPr>
            <a:r>
              <a:rPr lang="en-US" sz="1400" b="1" dirty="0">
                <a:solidFill>
                  <a:srgbClr val="A61B1B"/>
                </a:solidFill>
              </a:rPr>
              <a:t>!</a:t>
            </a:r>
            <a:endParaRPr lang="en-US" sz="1400" dirty="0"/>
          </a:p>
        </p:txBody>
      </p:sp>
      <p:sp>
        <p:nvSpPr>
          <p:cNvPr id="7" name="Text 5"/>
          <p:cNvSpPr/>
          <p:nvPr/>
        </p:nvSpPr>
        <p:spPr>
          <a:xfrm>
            <a:off x="1243584" y="1773936"/>
            <a:ext cx="4599432" cy="457200"/>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La falla se avisa por radio</a:t>
            </a:r>
            <a:endParaRPr lang="en-US" sz="1450" dirty="0"/>
          </a:p>
        </p:txBody>
      </p:sp>
      <p:sp>
        <p:nvSpPr>
          <p:cNvPr id="8" name="Text 6"/>
          <p:cNvSpPr/>
          <p:nvPr/>
        </p:nvSpPr>
        <p:spPr>
          <a:xfrm>
            <a:off x="822960" y="2377440"/>
            <a:ext cx="4910328" cy="914400"/>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y no queda registrada en ningún sitio. Si quien la atendió no está, se empieza de cero.</a:t>
            </a:r>
            <a:endParaRPr lang="en-US" sz="1200" dirty="0"/>
          </a:p>
        </p:txBody>
      </p:sp>
      <p:sp>
        <p:nvSpPr>
          <p:cNvPr id="9" name="Shape 7"/>
          <p:cNvSpPr/>
          <p:nvPr/>
        </p:nvSpPr>
        <p:spPr>
          <a:xfrm>
            <a:off x="6263640" y="1536192"/>
            <a:ext cx="5422392" cy="1874520"/>
          </a:xfrm>
          <a:prstGeom prst="roundRect">
            <a:avLst>
              <a:gd name="adj" fmla="val 2927"/>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0" name="Shape 8"/>
          <p:cNvSpPr/>
          <p:nvPr/>
        </p:nvSpPr>
        <p:spPr>
          <a:xfrm>
            <a:off x="6519672" y="1792224"/>
            <a:ext cx="310896" cy="310896"/>
          </a:xfrm>
          <a:prstGeom prst="ellipse">
            <a:avLst/>
          </a:prstGeom>
          <a:solidFill>
            <a:srgbClr val="FDECEC"/>
          </a:solidFill>
          <a:ln w="15240">
            <a:solidFill>
              <a:srgbClr val="A61B1B"/>
            </a:solidFill>
            <a:prstDash val="solid"/>
          </a:ln>
        </p:spPr>
      </p:sp>
      <p:sp>
        <p:nvSpPr>
          <p:cNvPr id="11" name="Text 9"/>
          <p:cNvSpPr/>
          <p:nvPr/>
        </p:nvSpPr>
        <p:spPr>
          <a:xfrm>
            <a:off x="6519672" y="1792224"/>
            <a:ext cx="310896" cy="310896"/>
          </a:xfrm>
          <a:prstGeom prst="rect">
            <a:avLst/>
          </a:prstGeom>
          <a:noFill/>
          <a:ln/>
        </p:spPr>
        <p:txBody>
          <a:bodyPr wrap="square" lIns="0" tIns="0" rIns="0" bIns="0" rtlCol="0" anchor="ctr"/>
          <a:lstStyle/>
          <a:p>
            <a:pPr algn="ctr" indent="0" marL="0">
              <a:buNone/>
            </a:pPr>
            <a:r>
              <a:rPr lang="en-US" sz="1400" b="1" dirty="0">
                <a:solidFill>
                  <a:srgbClr val="A61B1B"/>
                </a:solidFill>
              </a:rPr>
              <a:t>!</a:t>
            </a:r>
            <a:endParaRPr lang="en-US" sz="1400" dirty="0"/>
          </a:p>
        </p:txBody>
      </p:sp>
      <p:sp>
        <p:nvSpPr>
          <p:cNvPr id="12" name="Text 10"/>
          <p:cNvSpPr/>
          <p:nvPr/>
        </p:nvSpPr>
        <p:spPr>
          <a:xfrm>
            <a:off x="6940296" y="1773936"/>
            <a:ext cx="4599432" cy="457200"/>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Nadie sabe cuánto tardó</a:t>
            </a:r>
            <a:endParaRPr lang="en-US" sz="1450" dirty="0"/>
          </a:p>
        </p:txBody>
      </p:sp>
      <p:sp>
        <p:nvSpPr>
          <p:cNvPr id="13" name="Text 11"/>
          <p:cNvSpPr/>
          <p:nvPr/>
        </p:nvSpPr>
        <p:spPr>
          <a:xfrm>
            <a:off x="6519672" y="2377440"/>
            <a:ext cx="4910328" cy="914400"/>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No hay fecha comprometida ni fecha real, así que no se puede decir si vamos mejor o peor que el mes pasado.</a:t>
            </a:r>
            <a:endParaRPr lang="en-US" sz="1200" dirty="0"/>
          </a:p>
        </p:txBody>
      </p:sp>
      <p:sp>
        <p:nvSpPr>
          <p:cNvPr id="14" name="Shape 12"/>
          <p:cNvSpPr/>
          <p:nvPr/>
        </p:nvSpPr>
        <p:spPr>
          <a:xfrm>
            <a:off x="566928" y="3685032"/>
            <a:ext cx="5422392" cy="1874520"/>
          </a:xfrm>
          <a:prstGeom prst="roundRect">
            <a:avLst>
              <a:gd name="adj" fmla="val 2927"/>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5" name="Shape 13"/>
          <p:cNvSpPr/>
          <p:nvPr/>
        </p:nvSpPr>
        <p:spPr>
          <a:xfrm>
            <a:off x="822960" y="3941064"/>
            <a:ext cx="310896" cy="310896"/>
          </a:xfrm>
          <a:prstGeom prst="ellipse">
            <a:avLst/>
          </a:prstGeom>
          <a:solidFill>
            <a:srgbClr val="FDECEC"/>
          </a:solidFill>
          <a:ln w="15240">
            <a:solidFill>
              <a:srgbClr val="A61B1B"/>
            </a:solidFill>
            <a:prstDash val="solid"/>
          </a:ln>
        </p:spPr>
      </p:sp>
      <p:sp>
        <p:nvSpPr>
          <p:cNvPr id="16" name="Text 14"/>
          <p:cNvSpPr/>
          <p:nvPr/>
        </p:nvSpPr>
        <p:spPr>
          <a:xfrm>
            <a:off x="822960" y="3941064"/>
            <a:ext cx="310896" cy="310896"/>
          </a:xfrm>
          <a:prstGeom prst="rect">
            <a:avLst/>
          </a:prstGeom>
          <a:noFill/>
          <a:ln/>
        </p:spPr>
        <p:txBody>
          <a:bodyPr wrap="square" lIns="0" tIns="0" rIns="0" bIns="0" rtlCol="0" anchor="ctr"/>
          <a:lstStyle/>
          <a:p>
            <a:pPr algn="ctr" indent="0" marL="0">
              <a:buNone/>
            </a:pPr>
            <a:r>
              <a:rPr lang="en-US" sz="1400" b="1" dirty="0">
                <a:solidFill>
                  <a:srgbClr val="A61B1B"/>
                </a:solidFill>
              </a:rPr>
              <a:t>!</a:t>
            </a:r>
            <a:endParaRPr lang="en-US" sz="1400" dirty="0"/>
          </a:p>
        </p:txBody>
      </p:sp>
      <p:sp>
        <p:nvSpPr>
          <p:cNvPr id="17" name="Text 15"/>
          <p:cNvSpPr/>
          <p:nvPr/>
        </p:nvSpPr>
        <p:spPr>
          <a:xfrm>
            <a:off x="1243584" y="3922776"/>
            <a:ext cx="4599432" cy="457200"/>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La red vive en la cabeza de una persona</a:t>
            </a:r>
            <a:endParaRPr lang="en-US" sz="1450" dirty="0"/>
          </a:p>
        </p:txBody>
      </p:sp>
      <p:sp>
        <p:nvSpPr>
          <p:cNvPr id="18" name="Text 16"/>
          <p:cNvSpPr/>
          <p:nvPr/>
        </p:nvSpPr>
        <p:spPr>
          <a:xfrm>
            <a:off x="822960" y="4526280"/>
            <a:ext cx="4910328" cy="914400"/>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Qué cámara cuelga de qué antena, y qué se cae con qué, no está escrito en ninguna parte.</a:t>
            </a:r>
            <a:endParaRPr lang="en-US" sz="1200" dirty="0"/>
          </a:p>
        </p:txBody>
      </p:sp>
      <p:sp>
        <p:nvSpPr>
          <p:cNvPr id="19" name="Shape 17"/>
          <p:cNvSpPr/>
          <p:nvPr/>
        </p:nvSpPr>
        <p:spPr>
          <a:xfrm>
            <a:off x="6263640" y="3685032"/>
            <a:ext cx="5422392" cy="1874520"/>
          </a:xfrm>
          <a:prstGeom prst="roundRect">
            <a:avLst>
              <a:gd name="adj" fmla="val 2927"/>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20" name="Shape 18"/>
          <p:cNvSpPr/>
          <p:nvPr/>
        </p:nvSpPr>
        <p:spPr>
          <a:xfrm>
            <a:off x="6519672" y="3941064"/>
            <a:ext cx="310896" cy="310896"/>
          </a:xfrm>
          <a:prstGeom prst="ellipse">
            <a:avLst/>
          </a:prstGeom>
          <a:solidFill>
            <a:srgbClr val="FDECEC"/>
          </a:solidFill>
          <a:ln w="15240">
            <a:solidFill>
              <a:srgbClr val="A61B1B"/>
            </a:solidFill>
            <a:prstDash val="solid"/>
          </a:ln>
        </p:spPr>
      </p:sp>
      <p:sp>
        <p:nvSpPr>
          <p:cNvPr id="21" name="Text 19"/>
          <p:cNvSpPr/>
          <p:nvPr/>
        </p:nvSpPr>
        <p:spPr>
          <a:xfrm>
            <a:off x="6519672" y="3941064"/>
            <a:ext cx="310896" cy="310896"/>
          </a:xfrm>
          <a:prstGeom prst="rect">
            <a:avLst/>
          </a:prstGeom>
          <a:noFill/>
          <a:ln/>
        </p:spPr>
        <p:txBody>
          <a:bodyPr wrap="square" lIns="0" tIns="0" rIns="0" bIns="0" rtlCol="0" anchor="ctr"/>
          <a:lstStyle/>
          <a:p>
            <a:pPr algn="ctr" indent="0" marL="0">
              <a:buNone/>
            </a:pPr>
            <a:r>
              <a:rPr lang="en-US" sz="1400" b="1" dirty="0">
                <a:solidFill>
                  <a:srgbClr val="A61B1B"/>
                </a:solidFill>
              </a:rPr>
              <a:t>!</a:t>
            </a:r>
            <a:endParaRPr lang="en-US" sz="1400" dirty="0"/>
          </a:p>
        </p:txBody>
      </p:sp>
      <p:sp>
        <p:nvSpPr>
          <p:cNvPr id="22" name="Text 20"/>
          <p:cNvSpPr/>
          <p:nvPr/>
        </p:nvSpPr>
        <p:spPr>
          <a:xfrm>
            <a:off x="6940296" y="3922776"/>
            <a:ext cx="4599432" cy="457200"/>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No se puede justificar nada</a:t>
            </a:r>
            <a:endParaRPr lang="en-US" sz="1450" dirty="0"/>
          </a:p>
        </p:txBody>
      </p:sp>
      <p:sp>
        <p:nvSpPr>
          <p:cNvPr id="23" name="Text 21"/>
          <p:cNvSpPr/>
          <p:nvPr/>
        </p:nvSpPr>
        <p:spPr>
          <a:xfrm>
            <a:off x="6519672" y="4526280"/>
            <a:ext cx="4910328" cy="914400"/>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Pedir un segundo grabador o un repuesto en caliente exige un número, y ese número hoy no existe.</a:t>
            </a:r>
            <a:endParaRPr lang="en-US" sz="1200" dirty="0"/>
          </a:p>
        </p:txBody>
      </p:sp>
      <p:sp>
        <p:nvSpPr>
          <p:cNvPr id="24" name="Text 2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5" name="Text 2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Así se atiende hoy una cámara caída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Modelado en notación BPMN 2.0 — el estándar que usa Bizagi</a:t>
            </a:r>
            <a:endParaRPr lang="en-US" sz="1300" dirty="0"/>
          </a:p>
        </p:txBody>
      </p:sp>
      <p:pic>
        <p:nvPicPr>
          <p:cNvPr id="4" name="Image 0" descr="bpmn-1-actual.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Así queda con el sistema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Lo verde lo hace el software solo. Producción no teclea: consulta.</a:t>
            </a:r>
            <a:endParaRPr lang="en-US" sz="1300" dirty="0"/>
          </a:p>
        </p:txBody>
      </p:sp>
      <p:pic>
        <p:nvPicPr>
          <p:cNvPr id="4" name="Image 0" descr="bpmn-2-propuesto.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El impacto, en preguntas concretas</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Ocho preguntas que hoy no tenían respuesta escrita</a:t>
            </a:r>
            <a:endParaRPr lang="en-US" sz="1300" dirty="0"/>
          </a:p>
        </p:txBody>
      </p:sp>
      <p:pic>
        <p:nvPicPr>
          <p:cNvPr id="4" name="Image 0" descr="graf-2-preguntas.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Sobre el porcentaje de impacto</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Lo que puedo afirmar hoy, y lo que todavía no</a:t>
            </a:r>
            <a:endParaRPr lang="en-US" sz="1300" dirty="0"/>
          </a:p>
        </p:txBody>
      </p:sp>
      <p:sp>
        <p:nvSpPr>
          <p:cNvPr id="4" name="Shape 2"/>
          <p:cNvSpPr/>
          <p:nvPr/>
        </p:nvSpPr>
        <p:spPr>
          <a:xfrm>
            <a:off x="566928" y="1481328"/>
            <a:ext cx="5422392" cy="4206240"/>
          </a:xfrm>
          <a:prstGeom prst="roundRect">
            <a:avLst>
              <a:gd name="adj" fmla="val 1304"/>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Text 3"/>
          <p:cNvSpPr/>
          <p:nvPr/>
        </p:nvSpPr>
        <p:spPr>
          <a:xfrm>
            <a:off x="841248" y="1664208"/>
            <a:ext cx="4572000" cy="292608"/>
          </a:xfrm>
          <a:prstGeom prst="rect">
            <a:avLst/>
          </a:prstGeom>
          <a:noFill/>
          <a:ln/>
        </p:spPr>
        <p:txBody>
          <a:bodyPr wrap="square" lIns="0" tIns="0" rIns="0" bIns="0" rtlCol="0" anchor="ctr"/>
          <a:lstStyle/>
          <a:p>
            <a:pPr indent="0" marL="0">
              <a:buNone/>
            </a:pPr>
            <a:r>
              <a:rPr lang="en-US" sz="1200" b="1" spc="100" kern="0" dirty="0">
                <a:solidFill>
                  <a:srgbClr val="0F7B4F"/>
                </a:solidFill>
                <a:latin typeface="Calibri" pitchFamily="34" charset="0"/>
                <a:ea typeface="Calibri" pitchFamily="34" charset="-122"/>
                <a:cs typeface="Calibri" pitchFamily="34" charset="-120"/>
              </a:rPr>
              <a:t>LO QUE YA ESTÁ MEDIDO</a:t>
            </a:r>
            <a:endParaRPr lang="en-US" sz="1200" dirty="0"/>
          </a:p>
        </p:txBody>
      </p:sp>
      <p:sp>
        <p:nvSpPr>
          <p:cNvPr id="6" name="Text 4"/>
          <p:cNvSpPr/>
          <p:nvPr/>
        </p:nvSpPr>
        <p:spPr>
          <a:xfrm>
            <a:off x="841248" y="2139696"/>
            <a:ext cx="1051560" cy="548640"/>
          </a:xfrm>
          <a:prstGeom prst="rect">
            <a:avLst/>
          </a:prstGeom>
          <a:noFill/>
          <a:ln/>
        </p:spPr>
        <p:txBody>
          <a:bodyPr wrap="square" lIns="0" tIns="0" rIns="0" bIns="0" rtlCol="0" anchor="ctr"/>
          <a:lstStyle/>
          <a:p>
            <a:pPr algn="r" indent="0" marL="0">
              <a:buNone/>
            </a:pPr>
            <a:r>
              <a:rPr lang="en-US" sz="2800" b="1" dirty="0">
                <a:solidFill>
                  <a:srgbClr val="102A43"/>
                </a:solidFill>
                <a:latin typeface="Cambria" pitchFamily="34" charset="0"/>
                <a:ea typeface="Cambria" pitchFamily="34" charset="-122"/>
                <a:cs typeface="Cambria" pitchFamily="34" charset="-120"/>
              </a:rPr>
              <a:t>803</a:t>
            </a:r>
            <a:endParaRPr lang="en-US" sz="2800" dirty="0"/>
          </a:p>
        </p:txBody>
      </p:sp>
      <p:sp>
        <p:nvSpPr>
          <p:cNvPr id="7" name="Text 5"/>
          <p:cNvSpPr/>
          <p:nvPr/>
        </p:nvSpPr>
        <p:spPr>
          <a:xfrm>
            <a:off x="1984248" y="2139696"/>
            <a:ext cx="3200400" cy="54864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pruebas automáticas en verde</a:t>
            </a:r>
            <a:endParaRPr lang="en-US" sz="1150" dirty="0"/>
          </a:p>
        </p:txBody>
      </p:sp>
      <p:sp>
        <p:nvSpPr>
          <p:cNvPr id="8" name="Text 6"/>
          <p:cNvSpPr/>
          <p:nvPr/>
        </p:nvSpPr>
        <p:spPr>
          <a:xfrm>
            <a:off x="841248" y="2834640"/>
            <a:ext cx="1051560" cy="548640"/>
          </a:xfrm>
          <a:prstGeom prst="rect">
            <a:avLst/>
          </a:prstGeom>
          <a:noFill/>
          <a:ln/>
        </p:spPr>
        <p:txBody>
          <a:bodyPr wrap="square" lIns="0" tIns="0" rIns="0" bIns="0" rtlCol="0" anchor="ctr"/>
          <a:lstStyle/>
          <a:p>
            <a:pPr algn="r" indent="0" marL="0">
              <a:buNone/>
            </a:pPr>
            <a:r>
              <a:rPr lang="en-US" sz="2800" b="1" dirty="0">
                <a:solidFill>
                  <a:srgbClr val="102A43"/>
                </a:solidFill>
                <a:latin typeface="Cambria" pitchFamily="34" charset="0"/>
                <a:ea typeface="Cambria" pitchFamily="34" charset="-122"/>
                <a:cs typeface="Cambria" pitchFamily="34" charset="-120"/>
              </a:rPr>
              <a:t>19</a:t>
            </a:r>
            <a:endParaRPr lang="en-US" sz="2800" dirty="0"/>
          </a:p>
        </p:txBody>
      </p:sp>
      <p:sp>
        <p:nvSpPr>
          <p:cNvPr id="9" name="Text 7"/>
          <p:cNvSpPr/>
          <p:nvPr/>
        </p:nvSpPr>
        <p:spPr>
          <a:xfrm>
            <a:off x="1984248" y="2834640"/>
            <a:ext cx="3200400" cy="54864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verificadores propios, nacidos de fallos reales</a:t>
            </a:r>
            <a:endParaRPr lang="en-US" sz="1150" dirty="0"/>
          </a:p>
        </p:txBody>
      </p:sp>
      <p:sp>
        <p:nvSpPr>
          <p:cNvPr id="10" name="Text 8"/>
          <p:cNvSpPr/>
          <p:nvPr/>
        </p:nvSpPr>
        <p:spPr>
          <a:xfrm>
            <a:off x="841248" y="3529584"/>
            <a:ext cx="1051560" cy="548640"/>
          </a:xfrm>
          <a:prstGeom prst="rect">
            <a:avLst/>
          </a:prstGeom>
          <a:noFill/>
          <a:ln/>
        </p:spPr>
        <p:txBody>
          <a:bodyPr wrap="square" lIns="0" tIns="0" rIns="0" bIns="0" rtlCol="0" anchor="ctr"/>
          <a:lstStyle/>
          <a:p>
            <a:pPr algn="r" indent="0" marL="0">
              <a:buNone/>
            </a:pPr>
            <a:r>
              <a:rPr lang="en-US" sz="2800" b="1" dirty="0">
                <a:solidFill>
                  <a:srgbClr val="102A43"/>
                </a:solidFill>
                <a:latin typeface="Cambria" pitchFamily="34" charset="0"/>
                <a:ea typeface="Cambria" pitchFamily="34" charset="-122"/>
                <a:cs typeface="Cambria" pitchFamily="34" charset="-120"/>
              </a:rPr>
              <a:t>0</a:t>
            </a:r>
            <a:endParaRPr lang="en-US" sz="2800" dirty="0"/>
          </a:p>
        </p:txBody>
      </p:sp>
      <p:sp>
        <p:nvSpPr>
          <p:cNvPr id="11" name="Text 9"/>
          <p:cNvSpPr/>
          <p:nvPr/>
        </p:nvSpPr>
        <p:spPr>
          <a:xfrm>
            <a:off x="1984248" y="3529584"/>
            <a:ext cx="3200400" cy="54864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datos de planta inventados por el sistema</a:t>
            </a:r>
            <a:endParaRPr lang="en-US" sz="1150" dirty="0"/>
          </a:p>
        </p:txBody>
      </p:sp>
      <p:sp>
        <p:nvSpPr>
          <p:cNvPr id="12" name="Text 10"/>
          <p:cNvSpPr/>
          <p:nvPr/>
        </p:nvSpPr>
        <p:spPr>
          <a:xfrm>
            <a:off x="841248" y="4224528"/>
            <a:ext cx="1051560" cy="548640"/>
          </a:xfrm>
          <a:prstGeom prst="rect">
            <a:avLst/>
          </a:prstGeom>
          <a:noFill/>
          <a:ln/>
        </p:spPr>
        <p:txBody>
          <a:bodyPr wrap="square" lIns="0" tIns="0" rIns="0" bIns="0" rtlCol="0" anchor="ctr"/>
          <a:lstStyle/>
          <a:p>
            <a:pPr algn="r" indent="0" marL="0">
              <a:buNone/>
            </a:pPr>
            <a:r>
              <a:rPr lang="en-US" sz="2800" b="1" dirty="0">
                <a:solidFill>
                  <a:srgbClr val="102A43"/>
                </a:solidFill>
                <a:latin typeface="Cambria" pitchFamily="34" charset="0"/>
                <a:ea typeface="Cambria" pitchFamily="34" charset="-122"/>
                <a:cs typeface="Cambria" pitchFamily="34" charset="-120"/>
              </a:rPr>
              <a:t>4</a:t>
            </a:r>
            <a:endParaRPr lang="en-US" sz="2800" dirty="0"/>
          </a:p>
        </p:txBody>
      </p:sp>
      <p:sp>
        <p:nvSpPr>
          <p:cNvPr id="13" name="Text 11"/>
          <p:cNvSpPr/>
          <p:nvPr/>
        </p:nvSpPr>
        <p:spPr>
          <a:xfrm>
            <a:off x="1984248" y="4224528"/>
            <a:ext cx="3200400" cy="54864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servicios desplegados y en línea</a:t>
            </a:r>
            <a:endParaRPr lang="en-US" sz="1150" dirty="0"/>
          </a:p>
        </p:txBody>
      </p:sp>
      <p:sp>
        <p:nvSpPr>
          <p:cNvPr id="14" name="Text 12"/>
          <p:cNvSpPr/>
          <p:nvPr/>
        </p:nvSpPr>
        <p:spPr>
          <a:xfrm>
            <a:off x="841248" y="4919472"/>
            <a:ext cx="1051560" cy="548640"/>
          </a:xfrm>
          <a:prstGeom prst="rect">
            <a:avLst/>
          </a:prstGeom>
          <a:noFill/>
          <a:ln/>
        </p:spPr>
        <p:txBody>
          <a:bodyPr wrap="square" lIns="0" tIns="0" rIns="0" bIns="0" rtlCol="0" anchor="ctr"/>
          <a:lstStyle/>
          <a:p>
            <a:pPr algn="r" indent="0" marL="0">
              <a:buNone/>
            </a:pPr>
            <a:r>
              <a:rPr lang="en-US" sz="2800" b="1" dirty="0">
                <a:solidFill>
                  <a:srgbClr val="102A43"/>
                </a:solidFill>
                <a:latin typeface="Cambria" pitchFamily="34" charset="0"/>
                <a:ea typeface="Cambria" pitchFamily="34" charset="-122"/>
                <a:cs typeface="Cambria" pitchFamily="34" charset="-120"/>
              </a:rPr>
              <a:t>38</a:t>
            </a:r>
            <a:endParaRPr lang="en-US" sz="2800" dirty="0"/>
          </a:p>
        </p:txBody>
      </p:sp>
      <p:sp>
        <p:nvSpPr>
          <p:cNvPr id="15" name="Text 13"/>
          <p:cNvSpPr/>
          <p:nvPr/>
        </p:nvSpPr>
        <p:spPr>
          <a:xfrm>
            <a:off x="1984248" y="4919472"/>
            <a:ext cx="3200400" cy="54864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migraciones aplicadas sin perder un dato</a:t>
            </a:r>
            <a:endParaRPr lang="en-US" sz="1150" dirty="0"/>
          </a:p>
        </p:txBody>
      </p:sp>
      <p:sp>
        <p:nvSpPr>
          <p:cNvPr id="16" name="Shape 14"/>
          <p:cNvSpPr/>
          <p:nvPr/>
        </p:nvSpPr>
        <p:spPr>
          <a:xfrm>
            <a:off x="6172200" y="1481328"/>
            <a:ext cx="5422392" cy="4206240"/>
          </a:xfrm>
          <a:prstGeom prst="roundRect">
            <a:avLst>
              <a:gd name="adj" fmla="val 1304"/>
            </a:avLst>
          </a:prstGeom>
          <a:solidFill>
            <a:srgbClr val="FFFBF2"/>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7" name="Text 15"/>
          <p:cNvSpPr/>
          <p:nvPr/>
        </p:nvSpPr>
        <p:spPr>
          <a:xfrm>
            <a:off x="6446520" y="1664208"/>
            <a:ext cx="4937760" cy="292608"/>
          </a:xfrm>
          <a:prstGeom prst="rect">
            <a:avLst/>
          </a:prstGeom>
          <a:noFill/>
          <a:ln/>
        </p:spPr>
        <p:txBody>
          <a:bodyPr wrap="square" lIns="0" tIns="0" rIns="0" bIns="0" rtlCol="0" anchor="ctr"/>
          <a:lstStyle/>
          <a:p>
            <a:pPr indent="0" marL="0">
              <a:buNone/>
            </a:pPr>
            <a:r>
              <a:rPr lang="en-US" sz="1200" b="1" spc="100" kern="0" dirty="0">
                <a:solidFill>
                  <a:srgbClr val="D97706"/>
                </a:solidFill>
                <a:latin typeface="Calibri" pitchFamily="34" charset="0"/>
                <a:ea typeface="Calibri" pitchFamily="34" charset="-122"/>
                <a:cs typeface="Calibri" pitchFamily="34" charset="-120"/>
              </a:rPr>
              <a:t>LO QUE TODAVÍA NO PUEDO AFIRMAR</a:t>
            </a:r>
            <a:endParaRPr lang="en-US" sz="1200" dirty="0"/>
          </a:p>
        </p:txBody>
      </p:sp>
      <p:sp>
        <p:nvSpPr>
          <p:cNvPr id="18" name="Text 16"/>
          <p:cNvSpPr/>
          <p:nvPr/>
        </p:nvSpPr>
        <p:spPr>
          <a:xfrm>
            <a:off x="6446520" y="2103120"/>
            <a:ext cx="4937760" cy="3383280"/>
          </a:xfrm>
          <a:prstGeom prst="rect">
            <a:avLst/>
          </a:prstGeom>
          <a:noFill/>
          <a:ln/>
        </p:spPr>
        <p:txBody>
          <a:bodyPr wrap="square" lIns="0" tIns="0" rIns="0" bIns="0" rtlCol="0" anchor="t"/>
          <a:lstStyle/>
          <a:p>
            <a:pPr indent="0" marL="0">
              <a:lnSpc>
                <a:spcPts val="1600"/>
              </a:lnSpc>
              <a:buNone/>
            </a:pPr>
            <a:r>
              <a:rPr lang="en-US" sz="1300" b="1" dirty="0">
                <a:solidFill>
                  <a:srgbClr val="102A43"/>
                </a:solidFill>
                <a:latin typeface="Calibri" pitchFamily="34" charset="0"/>
                <a:ea typeface="Calibri" pitchFamily="34" charset="-122"/>
                <a:cs typeface="Calibri" pitchFamily="34" charset="-120"/>
              </a:rPr>
              <a:t>No voy a darles un «reducimos las paradas un 30 %». Sería inventado.
</a:t>
            </a:r>
            <a:pPr indent="0" marL="0">
              <a:lnSpc>
                <a:spcPts val="1600"/>
              </a:lnSpc>
              <a:buNone/>
            </a:pPr>
            <a:r>
              <a:rPr lang="en-US" sz="1200" dirty="0">
                <a:solidFill>
                  <a:srgbClr val="486581"/>
                </a:solidFill>
                <a:latin typeface="Calibri" pitchFamily="34" charset="0"/>
                <a:ea typeface="Calibri" pitchFamily="34" charset="-122"/>
                <a:cs typeface="Calibri" pitchFamily="34" charset="-120"/>
              </a:rPr>
              <a:t>El sistema lleva desplegado poco tiempo y todavía no hay un mes de datos reales de la planta. Cualquier porcentaje que pusiera hoy en esta diapositiva me lo habría sacado de la cabeza — y en cuanto alguien lo comprobara, perdería la credibilidad de todo lo demás.
</a:t>
            </a:r>
            <a:pPr indent="0" marL="0">
              <a:lnSpc>
                <a:spcPts val="1600"/>
              </a:lnSpc>
              <a:buNone/>
            </a:pPr>
            <a:r>
              <a:rPr lang="en-US" sz="1250" b="1" dirty="0">
                <a:solidFill>
                  <a:srgbClr val="102A43"/>
                </a:solidFill>
                <a:latin typeface="Calibri" pitchFamily="34" charset="0"/>
                <a:ea typeface="Calibri" pitchFamily="34" charset="-122"/>
                <a:cs typeface="Calibri" pitchFamily="34" charset="-120"/>
              </a:rPr>
              <a:t>Lo que sí ofrezco: </a:t>
            </a:r>
            <a:pPr indent="0" marL="0">
              <a:lnSpc>
                <a:spcPts val="1600"/>
              </a:lnSpc>
              <a:buNone/>
            </a:pPr>
            <a:r>
              <a:rPr lang="en-US" sz="1200" dirty="0">
                <a:solidFill>
                  <a:srgbClr val="486581"/>
                </a:solidFill>
                <a:latin typeface="Calibri" pitchFamily="34" charset="0"/>
                <a:ea typeface="Calibri" pitchFamily="34" charset="-122"/>
                <a:cs typeface="Calibri" pitchFamily="34" charset="-120"/>
              </a:rPr>
              <a:t>en cuanto el agente de monitoreo lleve un mes instalado, el número saldrá solo, y será suyo. El cálculo ya está escrito y probado.</a:t>
            </a:r>
            <a:endParaRPr lang="en-US" sz="1300" dirty="0"/>
          </a:p>
        </p:txBody>
      </p:sp>
      <p:sp>
        <p:nvSpPr>
          <p:cNvPr id="19" name="Text 17"/>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0" name="Text 18"/>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Qué hay construido</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40 módulos en el servidor · 49 pantallas · agrupados por el proceso que atacan</a:t>
            </a:r>
            <a:endParaRPr lang="en-US" sz="1300" dirty="0"/>
          </a:p>
        </p:txBody>
      </p:sp>
      <p:sp>
        <p:nvSpPr>
          <p:cNvPr id="4" name="Shape 2"/>
          <p:cNvSpPr/>
          <p:nvPr/>
        </p:nvSpPr>
        <p:spPr>
          <a:xfrm>
            <a:off x="566928" y="1554480"/>
            <a:ext cx="11027664" cy="960120"/>
          </a:xfrm>
          <a:prstGeom prst="roundRect">
            <a:avLst>
              <a:gd name="adj" fmla="val 5714"/>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Shape 3"/>
          <p:cNvSpPr/>
          <p:nvPr/>
        </p:nvSpPr>
        <p:spPr>
          <a:xfrm>
            <a:off x="804672" y="1828800"/>
            <a:ext cx="402336" cy="402336"/>
          </a:xfrm>
          <a:prstGeom prst="ellipse">
            <a:avLst/>
          </a:prstGeom>
          <a:solidFill>
            <a:srgbClr val="102A43"/>
          </a:solidFill>
          <a:ln w="12700">
            <a:solidFill>
              <a:srgbClr val="102A43"/>
            </a:solidFill>
            <a:prstDash val="solid"/>
          </a:ln>
        </p:spPr>
      </p:sp>
      <p:sp>
        <p:nvSpPr>
          <p:cNvPr id="6" name="Text 4"/>
          <p:cNvSpPr/>
          <p:nvPr/>
        </p:nvSpPr>
        <p:spPr>
          <a:xfrm>
            <a:off x="804672" y="1828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53312" y="1700784"/>
            <a:ext cx="2834640" cy="329184"/>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El ciclo de una falla</a:t>
            </a:r>
            <a:endParaRPr lang="en-US" sz="1450" dirty="0"/>
          </a:p>
        </p:txBody>
      </p:sp>
      <p:sp>
        <p:nvSpPr>
          <p:cNvPr id="8" name="Text 6"/>
          <p:cNvSpPr/>
          <p:nvPr/>
        </p:nvSpPr>
        <p:spPr>
          <a:xfrm>
            <a:off x="1353312" y="2048256"/>
            <a:ext cx="9930384" cy="384048"/>
          </a:xfrm>
          <a:prstGeom prst="rect">
            <a:avLst/>
          </a:prstGeom>
          <a:noFill/>
          <a:ln/>
        </p:spPr>
        <p:txBody>
          <a:bodyPr wrap="square" lIns="0" tIns="0" rIns="0" bIns="0" rtlCol="0" anchor="ctr"/>
          <a:lstStyle/>
          <a:p>
            <a:pPr indent="0" marL="0">
              <a:buNone/>
            </a:pPr>
            <a:r>
              <a:rPr lang="en-US" sz="1150" dirty="0">
                <a:solidFill>
                  <a:srgbClr val="627D98"/>
                </a:solidFill>
                <a:latin typeface="Calibri" pitchFamily="34" charset="0"/>
                <a:ea typeface="Calibri" pitchFamily="34" charset="-122"/>
                <a:cs typeface="Calibri" pitchFamily="34" charset="-120"/>
              </a:rPr>
              <a:t>Incidencias · Órdenes de mantenimiento · Preventivo · Correctivo · Predictivo · Catálogos de causa y acción</a:t>
            </a:r>
            <a:endParaRPr lang="en-US" sz="1150" dirty="0"/>
          </a:p>
        </p:txBody>
      </p:sp>
      <p:sp>
        <p:nvSpPr>
          <p:cNvPr id="9" name="Shape 7"/>
          <p:cNvSpPr/>
          <p:nvPr/>
        </p:nvSpPr>
        <p:spPr>
          <a:xfrm>
            <a:off x="566928" y="2670048"/>
            <a:ext cx="11027664" cy="960120"/>
          </a:xfrm>
          <a:prstGeom prst="roundRect">
            <a:avLst>
              <a:gd name="adj" fmla="val 5714"/>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0" name="Shape 8"/>
          <p:cNvSpPr/>
          <p:nvPr/>
        </p:nvSpPr>
        <p:spPr>
          <a:xfrm>
            <a:off x="804672" y="2944368"/>
            <a:ext cx="402336" cy="402336"/>
          </a:xfrm>
          <a:prstGeom prst="ellipse">
            <a:avLst/>
          </a:prstGeom>
          <a:solidFill>
            <a:srgbClr val="486581"/>
          </a:solidFill>
          <a:ln w="12700">
            <a:solidFill>
              <a:srgbClr val="486581"/>
            </a:solidFill>
            <a:prstDash val="solid"/>
          </a:ln>
        </p:spPr>
      </p:sp>
      <p:sp>
        <p:nvSpPr>
          <p:cNvPr id="11" name="Text 9"/>
          <p:cNvSpPr/>
          <p:nvPr/>
        </p:nvSpPr>
        <p:spPr>
          <a:xfrm>
            <a:off x="804672" y="29443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53312" y="2816352"/>
            <a:ext cx="2834640" cy="329184"/>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Qué hay y dónde está</a:t>
            </a:r>
            <a:endParaRPr lang="en-US" sz="1450" dirty="0"/>
          </a:p>
        </p:txBody>
      </p:sp>
      <p:sp>
        <p:nvSpPr>
          <p:cNvPr id="13" name="Text 11"/>
          <p:cNvSpPr/>
          <p:nvPr/>
        </p:nvSpPr>
        <p:spPr>
          <a:xfrm>
            <a:off x="1353312" y="3163824"/>
            <a:ext cx="9930384" cy="384048"/>
          </a:xfrm>
          <a:prstGeom prst="rect">
            <a:avLst/>
          </a:prstGeom>
          <a:noFill/>
          <a:ln/>
        </p:spPr>
        <p:txBody>
          <a:bodyPr wrap="square" lIns="0" tIns="0" rIns="0" bIns="0" rtlCol="0" anchor="ctr"/>
          <a:lstStyle/>
          <a:p>
            <a:pPr indent="0" marL="0">
              <a:buNone/>
            </a:pPr>
            <a:r>
              <a:rPr lang="en-US" sz="1150" dirty="0">
                <a:solidFill>
                  <a:srgbClr val="627D98"/>
                </a:solidFill>
                <a:latin typeface="Calibri" pitchFamily="34" charset="0"/>
                <a:ea typeface="Calibri" pitchFamily="34" charset="-122"/>
                <a:cs typeface="Calibri" pitchFamily="34" charset="-120"/>
              </a:rPr>
              <a:t>Activos · Ubicaciones · Gabineteo · Cableado · Direccionamiento IP · Rotulado · Grabadores y canales</a:t>
            </a:r>
            <a:endParaRPr lang="en-US" sz="1150" dirty="0"/>
          </a:p>
        </p:txBody>
      </p:sp>
      <p:sp>
        <p:nvSpPr>
          <p:cNvPr id="14" name="Shape 12"/>
          <p:cNvSpPr/>
          <p:nvPr/>
        </p:nvSpPr>
        <p:spPr>
          <a:xfrm>
            <a:off x="566928" y="3785616"/>
            <a:ext cx="11027664" cy="960120"/>
          </a:xfrm>
          <a:prstGeom prst="roundRect">
            <a:avLst>
              <a:gd name="adj" fmla="val 5714"/>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5" name="Shape 13"/>
          <p:cNvSpPr/>
          <p:nvPr/>
        </p:nvSpPr>
        <p:spPr>
          <a:xfrm>
            <a:off x="804672" y="4059936"/>
            <a:ext cx="402336" cy="402336"/>
          </a:xfrm>
          <a:prstGeom prst="ellipse">
            <a:avLst/>
          </a:prstGeom>
          <a:solidFill>
            <a:srgbClr val="0F7B4F"/>
          </a:solidFill>
          <a:ln w="12700">
            <a:solidFill>
              <a:srgbClr val="0F7B4F"/>
            </a:solidFill>
            <a:prstDash val="solid"/>
          </a:ln>
        </p:spPr>
      </p:sp>
      <p:sp>
        <p:nvSpPr>
          <p:cNvPr id="16" name="Text 14"/>
          <p:cNvSpPr/>
          <p:nvPr/>
        </p:nvSpPr>
        <p:spPr>
          <a:xfrm>
            <a:off x="804672"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53312" y="3931920"/>
            <a:ext cx="2834640" cy="329184"/>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Lo que ve Producción</a:t>
            </a:r>
            <a:endParaRPr lang="en-US" sz="1450" dirty="0"/>
          </a:p>
        </p:txBody>
      </p:sp>
      <p:sp>
        <p:nvSpPr>
          <p:cNvPr id="18" name="Text 16"/>
          <p:cNvSpPr/>
          <p:nvPr/>
        </p:nvSpPr>
        <p:spPr>
          <a:xfrm>
            <a:off x="1353312" y="4279392"/>
            <a:ext cx="9930384" cy="384048"/>
          </a:xfrm>
          <a:prstGeom prst="rect">
            <a:avLst/>
          </a:prstGeom>
          <a:noFill/>
          <a:ln/>
        </p:spPr>
        <p:txBody>
          <a:bodyPr wrap="square" lIns="0" tIns="0" rIns="0" bIns="0" rtlCol="0" anchor="ctr"/>
          <a:lstStyle/>
          <a:p>
            <a:pPr indent="0" marL="0">
              <a:buNone/>
            </a:pPr>
            <a:r>
              <a:rPr lang="en-US" sz="1150" dirty="0">
                <a:solidFill>
                  <a:srgbClr val="627D98"/>
                </a:solidFill>
                <a:latin typeface="Calibri" pitchFamily="34" charset="0"/>
                <a:ea typeface="Calibri" pitchFamily="34" charset="-122"/>
                <a:cs typeface="Calibri" pitchFamily="34" charset="-120"/>
              </a:rPr>
              <a:t>Vista general por sector · Mis cámaras · Mis activos · De qué depende cada cámara · Cobertura · Indicadores</a:t>
            </a:r>
            <a:endParaRPr lang="en-US" sz="1150" dirty="0"/>
          </a:p>
        </p:txBody>
      </p:sp>
      <p:sp>
        <p:nvSpPr>
          <p:cNvPr id="19" name="Shape 17"/>
          <p:cNvSpPr/>
          <p:nvPr/>
        </p:nvSpPr>
        <p:spPr>
          <a:xfrm>
            <a:off x="566928" y="4901184"/>
            <a:ext cx="11027664" cy="960120"/>
          </a:xfrm>
          <a:prstGeom prst="roundRect">
            <a:avLst>
              <a:gd name="adj" fmla="val 5714"/>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20" name="Shape 18"/>
          <p:cNvSpPr/>
          <p:nvPr/>
        </p:nvSpPr>
        <p:spPr>
          <a:xfrm>
            <a:off x="804672" y="5175504"/>
            <a:ext cx="402336" cy="402336"/>
          </a:xfrm>
          <a:prstGeom prst="ellipse">
            <a:avLst/>
          </a:prstGeom>
          <a:solidFill>
            <a:srgbClr val="D97706"/>
          </a:solidFill>
          <a:ln w="12700">
            <a:solidFill>
              <a:srgbClr val="D97706"/>
            </a:solidFill>
            <a:prstDash val="solid"/>
          </a:ln>
        </p:spPr>
      </p:sp>
      <p:sp>
        <p:nvSpPr>
          <p:cNvPr id="21" name="Text 19"/>
          <p:cNvSpPr/>
          <p:nvPr/>
        </p:nvSpPr>
        <p:spPr>
          <a:xfrm>
            <a:off x="804672" y="5175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353312" y="5047488"/>
            <a:ext cx="2834640" cy="329184"/>
          </a:xfrm>
          <a:prstGeom prst="rect">
            <a:avLst/>
          </a:prstGeom>
          <a:noFill/>
          <a:ln/>
        </p:spPr>
        <p:txBody>
          <a:bodyPr wrap="square" lIns="0" tIns="0" rIns="0" bIns="0" rtlCol="0" anchor="ctr"/>
          <a:lstStyle/>
          <a:p>
            <a:pPr indent="0" marL="0">
              <a:buNone/>
            </a:pPr>
            <a:r>
              <a:rPr lang="en-US" sz="1450" b="1" dirty="0">
                <a:solidFill>
                  <a:srgbClr val="102A43"/>
                </a:solidFill>
                <a:latin typeface="Calibri" pitchFamily="34" charset="0"/>
                <a:ea typeface="Calibri" pitchFamily="34" charset="-122"/>
                <a:cs typeface="Calibri" pitchFamily="34" charset="-120"/>
              </a:rPr>
              <a:t>Soporte a la operación</a:t>
            </a:r>
            <a:endParaRPr lang="en-US" sz="1450" dirty="0"/>
          </a:p>
        </p:txBody>
      </p:sp>
      <p:sp>
        <p:nvSpPr>
          <p:cNvPr id="23" name="Text 21"/>
          <p:cNvSpPr/>
          <p:nvPr/>
        </p:nvSpPr>
        <p:spPr>
          <a:xfrm>
            <a:off x="1353312" y="5394960"/>
            <a:ext cx="9930384" cy="384048"/>
          </a:xfrm>
          <a:prstGeom prst="rect">
            <a:avLst/>
          </a:prstGeom>
          <a:noFill/>
          <a:ln/>
        </p:spPr>
        <p:txBody>
          <a:bodyPr wrap="square" lIns="0" tIns="0" rIns="0" bIns="0" rtlCol="0" anchor="ctr"/>
          <a:lstStyle/>
          <a:p>
            <a:pPr indent="0" marL="0">
              <a:buNone/>
            </a:pPr>
            <a:r>
              <a:rPr lang="en-US" sz="1150" dirty="0">
                <a:solidFill>
                  <a:srgbClr val="627D98"/>
                </a:solidFill>
                <a:latin typeface="Calibri" pitchFamily="34" charset="0"/>
                <a:ea typeface="Calibri" pitchFamily="34" charset="-122"/>
                <a:cs typeface="Calibri" pitchFamily="34" charset="-120"/>
              </a:rPr>
              <a:t>Almacén y repuestos · Instalaciones nuevas · Paradas · Grúas · Electricidad · Documentos · Auditoría</a:t>
            </a:r>
            <a:endParaRPr lang="en-US" sz="1150" dirty="0"/>
          </a:p>
        </p:txBody>
      </p:sp>
      <p:sp>
        <p:nvSpPr>
          <p:cNvPr id="24" name="Text 22"/>
          <p:cNvSpPr/>
          <p:nvPr/>
        </p:nvSpPr>
        <p:spPr>
          <a:xfrm>
            <a:off x="566928" y="6053328"/>
            <a:ext cx="11027664" cy="310896"/>
          </a:xfrm>
          <a:prstGeom prst="rect">
            <a:avLst/>
          </a:prstGeom>
          <a:noFill/>
          <a:ln/>
        </p:spPr>
        <p:txBody>
          <a:bodyPr wrap="square" lIns="0" tIns="0" rIns="0" bIns="0" rtlCol="0" anchor="ctr"/>
          <a:lstStyle/>
          <a:p>
            <a:pPr indent="0" marL="0">
              <a:buNone/>
            </a:pPr>
            <a:r>
              <a:rPr lang="en-US" sz="1100" i="1" dirty="0">
                <a:solidFill>
                  <a:srgbClr val="486581"/>
                </a:solidFill>
                <a:latin typeface="Calibri" pitchFamily="34" charset="0"/>
                <a:ea typeface="Calibri" pitchFamily="34" charset="-122"/>
                <a:cs typeface="Calibri" pitchFamily="34" charset="-120"/>
              </a:rPr>
              <a:t>Producción sólo ve el grupo 3. No es una limitación: es que quien mira para analizar no debe poder cerrar una orden por accidente.</a:t>
            </a:r>
            <a:endParaRPr lang="en-US" sz="1100" dirty="0"/>
          </a:p>
        </p:txBody>
      </p:sp>
      <p:sp>
        <p:nvSpPr>
          <p:cNvPr id="25" name="Text 23"/>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6" name="Text 24"/>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Quién usa el sistema y para qué</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Diagrama de casos de uso · UML 2.5</a:t>
            </a:r>
            <a:endParaRPr lang="en-US" sz="1300" dirty="0"/>
          </a:p>
        </p:txBody>
      </p:sp>
      <p:pic>
        <p:nvPicPr>
          <p:cNvPr id="4" name="Image 0" descr="uml-1-casos-de-uso.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Lo último que se terminó: «De qué depende cada cámara»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Una pestaña por equipo. Se abre, y salen las cámaras que cuelgan de él.</a:t>
            </a:r>
            <a:endParaRPr lang="en-US" sz="1300" dirty="0"/>
          </a:p>
        </p:txBody>
      </p:sp>
      <p:sp>
        <p:nvSpPr>
          <p:cNvPr id="4" name="Shape 2"/>
          <p:cNvSpPr/>
          <p:nvPr/>
        </p:nvSpPr>
        <p:spPr>
          <a:xfrm>
            <a:off x="566928" y="1517904"/>
            <a:ext cx="11027664" cy="1371600"/>
          </a:xfrm>
          <a:prstGeom prst="roundRect">
            <a:avLst>
              <a:gd name="adj" fmla="val 4000"/>
            </a:avLst>
          </a:prstGeom>
          <a:solidFill>
            <a:srgbClr val="F5F9F7"/>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Text 3"/>
          <p:cNvSpPr/>
          <p:nvPr/>
        </p:nvSpPr>
        <p:spPr>
          <a:xfrm>
            <a:off x="877824" y="1664208"/>
            <a:ext cx="10405872" cy="1097280"/>
          </a:xfrm>
          <a:prstGeom prst="rect">
            <a:avLst/>
          </a:prstGeom>
          <a:noFill/>
          <a:ln/>
        </p:spPr>
        <p:txBody>
          <a:bodyPr wrap="square" lIns="0" tIns="0" rIns="0" bIns="0" rtlCol="0" anchor="ctr"/>
          <a:lstStyle/>
          <a:p>
            <a:pPr indent="0" marL="0">
              <a:lnSpc>
                <a:spcPts val="2200"/>
              </a:lnSpc>
              <a:buNone/>
            </a:pPr>
            <a:r>
              <a:rPr lang="en-US" sz="1900" b="1" dirty="0">
                <a:solidFill>
                  <a:srgbClr val="0F7B4F"/>
                </a:solidFill>
                <a:latin typeface="Cambria" pitchFamily="34" charset="0"/>
                <a:ea typeface="Cambria" pitchFamily="34" charset="-122"/>
                <a:cs typeface="Cambria" pitchFamily="34" charset="-120"/>
              </a:rPr>
              <a:t>«Si se cae esta antena, se dejan de ver 6 cámaras de Tren 2 y 1 cámara de Oficinas.»</a:t>
            </a:r>
            <a:pPr indent="0" marL="0">
              <a:lnSpc>
                <a:spcPts val="2200"/>
              </a:lnSpc>
              <a:buNone/>
            </a:pPr>
            <a:endParaRPr lang="en-US" sz="1900" dirty="0"/>
          </a:p>
          <a:p>
            <a:pPr indent="0" marL="0">
              <a:lnSpc>
                <a:spcPts val="2200"/>
              </a:lnSpc>
              <a:buNone/>
            </a:pPr>
            <a:r>
              <a:rPr lang="en-US" sz="1250" dirty="0">
                <a:solidFill>
                  <a:srgbClr val="486581"/>
                </a:solidFill>
                <a:latin typeface="Calibri" pitchFamily="34" charset="0"/>
                <a:ea typeface="Calibri" pitchFamily="34" charset="-122"/>
                <a:cs typeface="Calibri" pitchFamily="34" charset="-120"/>
              </a:rPr>
              <a:t>Esa frase la escribe el sistema solo. No hay diagrama de red en esta pantalla, a propósito.</a:t>
            </a:r>
            <a:endParaRPr lang="en-US" sz="1900" dirty="0"/>
          </a:p>
        </p:txBody>
      </p:sp>
      <p:sp>
        <p:nvSpPr>
          <p:cNvPr id="6" name="Shape 4"/>
          <p:cNvSpPr/>
          <p:nvPr/>
        </p:nvSpPr>
        <p:spPr>
          <a:xfrm>
            <a:off x="566928" y="3182112"/>
            <a:ext cx="292608" cy="292608"/>
          </a:xfrm>
          <a:prstGeom prst="ellipse">
            <a:avLst/>
          </a:prstGeom>
          <a:solidFill>
            <a:srgbClr val="0F7B4F"/>
          </a:solidFill>
          <a:ln w="12700">
            <a:solidFill>
              <a:srgbClr val="0F7B4F"/>
            </a:solidFill>
            <a:prstDash val="solid"/>
          </a:ln>
        </p:spPr>
      </p:sp>
      <p:sp>
        <p:nvSpPr>
          <p:cNvPr id="7" name="Text 5"/>
          <p:cNvSpPr/>
          <p:nvPr/>
        </p:nvSpPr>
        <p:spPr>
          <a:xfrm>
            <a:off x="566928" y="31821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8" name="Text 6"/>
          <p:cNvSpPr/>
          <p:nvPr/>
        </p:nvSpPr>
        <p:spPr>
          <a:xfrm>
            <a:off x="1005840" y="3127248"/>
            <a:ext cx="3657600" cy="822960"/>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Depender no es estar conectado</a:t>
            </a:r>
            <a:endParaRPr lang="en-US" sz="1300" dirty="0"/>
          </a:p>
        </p:txBody>
      </p:sp>
      <p:sp>
        <p:nvSpPr>
          <p:cNvPr id="9" name="Text 7"/>
          <p:cNvSpPr/>
          <p:nvPr/>
        </p:nvSpPr>
        <p:spPr>
          <a:xfrm>
            <a:off x="4773168" y="3127248"/>
            <a:ext cx="6748272" cy="86868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Una cámara depende de un equipo si, al caer ése, su imagen ya no llega al grabador. En el anillo de fibra hay equipos que se pueden caer sin perder nada: la red da la vuelta.</a:t>
            </a:r>
            <a:endParaRPr lang="en-US" sz="1150" dirty="0"/>
          </a:p>
        </p:txBody>
      </p:sp>
      <p:sp>
        <p:nvSpPr>
          <p:cNvPr id="10" name="Shape 8"/>
          <p:cNvSpPr/>
          <p:nvPr/>
        </p:nvSpPr>
        <p:spPr>
          <a:xfrm>
            <a:off x="566928" y="4169664"/>
            <a:ext cx="292608" cy="292608"/>
          </a:xfrm>
          <a:prstGeom prst="ellipse">
            <a:avLst/>
          </a:prstGeom>
          <a:solidFill>
            <a:srgbClr val="0F7B4F"/>
          </a:solidFill>
          <a:ln w="12700">
            <a:solidFill>
              <a:srgbClr val="0F7B4F"/>
            </a:solidFill>
            <a:prstDash val="solid"/>
          </a:ln>
        </p:spPr>
      </p:sp>
      <p:sp>
        <p:nvSpPr>
          <p:cNvPr id="11" name="Text 9"/>
          <p:cNvSpPr/>
          <p:nvPr/>
        </p:nvSpPr>
        <p:spPr>
          <a:xfrm>
            <a:off x="566928" y="41696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2" name="Text 10"/>
          <p:cNvSpPr/>
          <p:nvPr/>
        </p:nvSpPr>
        <p:spPr>
          <a:xfrm>
            <a:off x="1005840" y="4114800"/>
            <a:ext cx="3657600" cy="822960"/>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No se cuentan las que ya estaban caídas</a:t>
            </a:r>
            <a:endParaRPr lang="en-US" sz="1300" dirty="0"/>
          </a:p>
        </p:txBody>
      </p:sp>
      <p:sp>
        <p:nvSpPr>
          <p:cNvPr id="13" name="Text 11"/>
          <p:cNvSpPr/>
          <p:nvPr/>
        </p:nvSpPr>
        <p:spPr>
          <a:xfrm>
            <a:off x="4773168" y="4114800"/>
            <a:ext cx="6748272" cy="86868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Si una cámara lleva un mes sin cable, no es culpa del equipo que acaba de fallar. Un número inflado deja de creerse a la tercera vez.</a:t>
            </a:r>
            <a:endParaRPr lang="en-US" sz="1150" dirty="0"/>
          </a:p>
        </p:txBody>
      </p:sp>
      <p:sp>
        <p:nvSpPr>
          <p:cNvPr id="14" name="Shape 12"/>
          <p:cNvSpPr/>
          <p:nvPr/>
        </p:nvSpPr>
        <p:spPr>
          <a:xfrm>
            <a:off x="566928" y="5157216"/>
            <a:ext cx="292608" cy="292608"/>
          </a:xfrm>
          <a:prstGeom prst="ellipse">
            <a:avLst/>
          </a:prstGeom>
          <a:solidFill>
            <a:srgbClr val="0F7B4F"/>
          </a:solidFill>
          <a:ln w="12700">
            <a:solidFill>
              <a:srgbClr val="0F7B4F"/>
            </a:solidFill>
            <a:prstDash val="solid"/>
          </a:ln>
        </p:spPr>
      </p:sp>
      <p:sp>
        <p:nvSpPr>
          <p:cNvPr id="15" name="Text 13"/>
          <p:cNvSpPr/>
          <p:nvPr/>
        </p:nvSpPr>
        <p:spPr>
          <a:xfrm>
            <a:off x="566928" y="5157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6" name="Text 14"/>
          <p:cNvSpPr/>
          <p:nvPr/>
        </p:nvSpPr>
        <p:spPr>
          <a:xfrm>
            <a:off x="1005840" y="5102352"/>
            <a:ext cx="3657600" cy="822960"/>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Salió un dato que nadie tenía escrito</a:t>
            </a:r>
            <a:endParaRPr lang="en-US" sz="1300" dirty="0"/>
          </a:p>
        </p:txBody>
      </p:sp>
      <p:sp>
        <p:nvSpPr>
          <p:cNvPr id="17" name="Text 15"/>
          <p:cNvSpPr/>
          <p:nvPr/>
        </p:nvSpPr>
        <p:spPr>
          <a:xfrm>
            <a:off x="4773168" y="5102352"/>
            <a:ext cx="6748272" cy="86868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Con un solo grabador, ese grabador encabeza la lista: se lleva TODAS las cámaras. Es el argumento medido para pedir el segundo.</a:t>
            </a:r>
            <a:endParaRPr lang="en-US" sz="1150" dirty="0"/>
          </a:p>
        </p:txBody>
      </p:sp>
      <p:sp>
        <p:nvSpPr>
          <p:cNvPr id="18" name="Text 16"/>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19" name="Text 17"/>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Cómo está construido por dentro</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Diagrama de componentes · UML 2.5 · desplegado en Railway</a:t>
            </a:r>
            <a:endParaRPr lang="en-US" sz="1300" dirty="0"/>
          </a:p>
        </p:txBody>
      </p:sp>
      <p:pic>
        <p:nvPicPr>
          <p:cNvPr id="4" name="Image 0" descr="uml-2-componentes.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El modelo de datos</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Diagrama de clases · UML 2.5 · 8 de las 72 entidades</a:t>
            </a:r>
            <a:endParaRPr lang="en-US" sz="1300" dirty="0"/>
          </a:p>
        </p:txBody>
      </p:sp>
      <p:pic>
        <p:nvPicPr>
          <p:cNvPr id="4" name="Image 0" descr="uml-3-clases.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Qué ocurre al abrir una pantalla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Diagrama de secuencia · UML 2.5</a:t>
            </a:r>
            <a:endParaRPr lang="en-US" sz="1300" dirty="0"/>
          </a:p>
        </p:txBody>
      </p:sp>
      <p:pic>
        <p:nvPicPr>
          <p:cNvPr id="4" name="Image 0" descr="uml-4-secuencia.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En qué punto estamos</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Avance real por bloque funcional, medido sobre lo construido</a:t>
            </a:r>
            <a:endParaRPr lang="en-US" sz="1300" dirty="0"/>
          </a:p>
        </p:txBody>
      </p:sp>
      <p:pic>
        <p:nvPicPr>
          <p:cNvPr id="4" name="Image 0" descr="graf-1-avance.png">    </p:cNvPr>
          <p:cNvPicPr>
            <a:picLocks noChangeAspect="1"/>
          </p:cNvPicPr>
          <p:nvPr/>
        </p:nvPicPr>
        <p:blipFill>
          <a:blip r:embed="rId1"/>
          <a:srcRect l="0" r="0" t="0" b="0"/>
          <a:stretch/>
        </p:blipFill>
        <p:spPr>
          <a:xfrm>
            <a:off x="566928" y="1426464"/>
            <a:ext cx="11027664" cy="4709160"/>
          </a:xfrm>
          <a:prstGeom prst="rect">
            <a:avLst/>
          </a:prstGeom>
        </p:spPr>
      </p:pic>
      <p:sp>
        <p:nvSpPr>
          <p:cNvPr id="6" name="Text 2"/>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 name="Text 3"/>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Lo que falta, por orden de importancia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Nada de esto está oculto: está escrito y priorizado</a:t>
            </a:r>
            <a:endParaRPr lang="en-US" sz="1300" dirty="0"/>
          </a:p>
        </p:txBody>
      </p:sp>
      <p:sp>
        <p:nvSpPr>
          <p:cNvPr id="4" name="Shape 2"/>
          <p:cNvSpPr/>
          <p:nvPr/>
        </p:nvSpPr>
        <p:spPr>
          <a:xfrm>
            <a:off x="566928" y="1554480"/>
            <a:ext cx="11027664" cy="768096"/>
          </a:xfrm>
          <a:prstGeom prst="roundRect">
            <a:avLst>
              <a:gd name="adj" fmla="val 71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Text 3"/>
          <p:cNvSpPr/>
          <p:nvPr/>
        </p:nvSpPr>
        <p:spPr>
          <a:xfrm>
            <a:off x="768096" y="1700784"/>
            <a:ext cx="384048" cy="475488"/>
          </a:xfrm>
          <a:prstGeom prst="rect">
            <a:avLst/>
          </a:prstGeom>
          <a:noFill/>
          <a:ln/>
        </p:spPr>
        <p:txBody>
          <a:bodyPr wrap="square" lIns="0" tIns="0" rIns="0" bIns="0" rtlCol="0" anchor="ctr"/>
          <a:lstStyle/>
          <a:p>
            <a:pPr algn="ctr" indent="0" marL="0">
              <a:buNone/>
            </a:pPr>
            <a:r>
              <a:rPr lang="en-US" sz="2000" b="1" dirty="0">
                <a:solidFill>
                  <a:srgbClr val="A61B1B"/>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61872" y="1627632"/>
            <a:ext cx="4114800" cy="310896"/>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Instalar el agente de monitoreo en planta</a:t>
            </a:r>
            <a:endParaRPr lang="en-US" sz="1300" dirty="0"/>
          </a:p>
        </p:txBody>
      </p:sp>
      <p:sp>
        <p:nvSpPr>
          <p:cNvPr id="7" name="Text 5"/>
          <p:cNvSpPr/>
          <p:nvPr/>
        </p:nvSpPr>
        <p:spPr>
          <a:xfrm>
            <a:off x="1261872" y="1938528"/>
            <a:ext cx="8741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Es la pieza que convierte el sistema en automático. Sin él, alguien tiene que teclear que una cámara cayó.</a:t>
            </a:r>
            <a:endParaRPr lang="en-US" sz="1100" dirty="0"/>
          </a:p>
        </p:txBody>
      </p:sp>
      <p:sp>
        <p:nvSpPr>
          <p:cNvPr id="8" name="Shape 6"/>
          <p:cNvSpPr/>
          <p:nvPr/>
        </p:nvSpPr>
        <p:spPr>
          <a:xfrm>
            <a:off x="10543032" y="1773936"/>
            <a:ext cx="822960" cy="292608"/>
          </a:xfrm>
          <a:prstGeom prst="roundRect">
            <a:avLst>
              <a:gd name="adj" fmla="val 12500"/>
            </a:avLst>
          </a:prstGeom>
          <a:solidFill>
            <a:srgbClr val="FDECEC"/>
          </a:solidFill>
          <a:ln w="12700">
            <a:solidFill>
              <a:srgbClr val="A61B1B"/>
            </a:solidFill>
            <a:prstDash val="solid"/>
          </a:ln>
        </p:spPr>
      </p:sp>
      <p:sp>
        <p:nvSpPr>
          <p:cNvPr id="9" name="Text 7"/>
          <p:cNvSpPr/>
          <p:nvPr/>
        </p:nvSpPr>
        <p:spPr>
          <a:xfrm>
            <a:off x="10543032" y="1773936"/>
            <a:ext cx="822960" cy="292608"/>
          </a:xfrm>
          <a:prstGeom prst="rect">
            <a:avLst/>
          </a:prstGeom>
          <a:noFill/>
          <a:ln/>
        </p:spPr>
        <p:txBody>
          <a:bodyPr wrap="square" lIns="0" tIns="0" rIns="0" bIns="0" rtlCol="0" anchor="ctr"/>
          <a:lstStyle/>
          <a:p>
            <a:pPr algn="ctr" indent="0" marL="0">
              <a:buNone/>
            </a:pPr>
            <a:r>
              <a:rPr lang="en-US" sz="850" b="1" dirty="0">
                <a:solidFill>
                  <a:srgbClr val="A61B1B"/>
                </a:solidFill>
                <a:latin typeface="Calibri" pitchFamily="34" charset="0"/>
                <a:ea typeface="Calibri" pitchFamily="34" charset="-122"/>
                <a:cs typeface="Calibri" pitchFamily="34" charset="-120"/>
              </a:rPr>
              <a:t>ALTA</a:t>
            </a:r>
            <a:endParaRPr lang="en-US" sz="850" dirty="0"/>
          </a:p>
        </p:txBody>
      </p:sp>
      <p:sp>
        <p:nvSpPr>
          <p:cNvPr id="10" name="Shape 8"/>
          <p:cNvSpPr/>
          <p:nvPr/>
        </p:nvSpPr>
        <p:spPr>
          <a:xfrm>
            <a:off x="566928" y="2450592"/>
            <a:ext cx="11027664" cy="768096"/>
          </a:xfrm>
          <a:prstGeom prst="roundRect">
            <a:avLst>
              <a:gd name="adj" fmla="val 71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1" name="Text 9"/>
          <p:cNvSpPr/>
          <p:nvPr/>
        </p:nvSpPr>
        <p:spPr>
          <a:xfrm>
            <a:off x="768096" y="2596896"/>
            <a:ext cx="384048" cy="475488"/>
          </a:xfrm>
          <a:prstGeom prst="rect">
            <a:avLst/>
          </a:prstGeom>
          <a:noFill/>
          <a:ln/>
        </p:spPr>
        <p:txBody>
          <a:bodyPr wrap="square" lIns="0" tIns="0" rIns="0" bIns="0" rtlCol="0" anchor="ctr"/>
          <a:lstStyle/>
          <a:p>
            <a:pPr algn="ctr" indent="0" marL="0">
              <a:buNone/>
            </a:pPr>
            <a:r>
              <a:rPr lang="en-US" sz="2000" b="1" dirty="0">
                <a:solidFill>
                  <a:srgbClr val="A61B1B"/>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261872" y="2523744"/>
            <a:ext cx="4114800" cy="310896"/>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Cargar los activos reales</a:t>
            </a:r>
            <a:endParaRPr lang="en-US" sz="1300" dirty="0"/>
          </a:p>
        </p:txBody>
      </p:sp>
      <p:sp>
        <p:nvSpPr>
          <p:cNvPr id="13" name="Text 11"/>
          <p:cNvSpPr/>
          <p:nvPr/>
        </p:nvSpPr>
        <p:spPr>
          <a:xfrm>
            <a:off x="1261872" y="2834640"/>
            <a:ext cx="8741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Hoy hay datos de ejemplo. Se necesitan 20 o 30 equipos reales para que las pantallas digan algo.</a:t>
            </a:r>
            <a:endParaRPr lang="en-US" sz="1100" dirty="0"/>
          </a:p>
        </p:txBody>
      </p:sp>
      <p:sp>
        <p:nvSpPr>
          <p:cNvPr id="14" name="Shape 12"/>
          <p:cNvSpPr/>
          <p:nvPr/>
        </p:nvSpPr>
        <p:spPr>
          <a:xfrm>
            <a:off x="10543032" y="2670048"/>
            <a:ext cx="822960" cy="292608"/>
          </a:xfrm>
          <a:prstGeom prst="roundRect">
            <a:avLst>
              <a:gd name="adj" fmla="val 12500"/>
            </a:avLst>
          </a:prstGeom>
          <a:solidFill>
            <a:srgbClr val="FDECEC"/>
          </a:solidFill>
          <a:ln w="12700">
            <a:solidFill>
              <a:srgbClr val="A61B1B"/>
            </a:solidFill>
            <a:prstDash val="solid"/>
          </a:ln>
        </p:spPr>
      </p:sp>
      <p:sp>
        <p:nvSpPr>
          <p:cNvPr id="15" name="Text 13"/>
          <p:cNvSpPr/>
          <p:nvPr/>
        </p:nvSpPr>
        <p:spPr>
          <a:xfrm>
            <a:off x="10543032" y="2670048"/>
            <a:ext cx="822960" cy="292608"/>
          </a:xfrm>
          <a:prstGeom prst="rect">
            <a:avLst/>
          </a:prstGeom>
          <a:noFill/>
          <a:ln/>
        </p:spPr>
        <p:txBody>
          <a:bodyPr wrap="square" lIns="0" tIns="0" rIns="0" bIns="0" rtlCol="0" anchor="ctr"/>
          <a:lstStyle/>
          <a:p>
            <a:pPr algn="ctr" indent="0" marL="0">
              <a:buNone/>
            </a:pPr>
            <a:r>
              <a:rPr lang="en-US" sz="850" b="1" dirty="0">
                <a:solidFill>
                  <a:srgbClr val="A61B1B"/>
                </a:solidFill>
                <a:latin typeface="Calibri" pitchFamily="34" charset="0"/>
                <a:ea typeface="Calibri" pitchFamily="34" charset="-122"/>
                <a:cs typeface="Calibri" pitchFamily="34" charset="-120"/>
              </a:rPr>
              <a:t>ALTA</a:t>
            </a:r>
            <a:endParaRPr lang="en-US" sz="850" dirty="0"/>
          </a:p>
        </p:txBody>
      </p:sp>
      <p:sp>
        <p:nvSpPr>
          <p:cNvPr id="16" name="Shape 14"/>
          <p:cNvSpPr/>
          <p:nvPr/>
        </p:nvSpPr>
        <p:spPr>
          <a:xfrm>
            <a:off x="566928" y="3346704"/>
            <a:ext cx="11027664" cy="768096"/>
          </a:xfrm>
          <a:prstGeom prst="roundRect">
            <a:avLst>
              <a:gd name="adj" fmla="val 71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7" name="Text 15"/>
          <p:cNvSpPr/>
          <p:nvPr/>
        </p:nvSpPr>
        <p:spPr>
          <a:xfrm>
            <a:off x="768096" y="3493008"/>
            <a:ext cx="384048"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261872" y="3419856"/>
            <a:ext cx="4114800" cy="310896"/>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Los dos módulos de instalación</a:t>
            </a:r>
            <a:endParaRPr lang="en-US" sz="1300" dirty="0"/>
          </a:p>
        </p:txBody>
      </p:sp>
      <p:sp>
        <p:nvSpPr>
          <p:cNvPr id="19" name="Text 17"/>
          <p:cNvSpPr/>
          <p:nvPr/>
        </p:nvSpPr>
        <p:spPr>
          <a:xfrm>
            <a:off x="1261872" y="3730752"/>
            <a:ext cx="8741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Planificar e instalar, con metros reales, color de cable, número de PETAR y bloqueo eléctrico.</a:t>
            </a:r>
            <a:endParaRPr lang="en-US" sz="1100" dirty="0"/>
          </a:p>
        </p:txBody>
      </p:sp>
      <p:sp>
        <p:nvSpPr>
          <p:cNvPr id="20" name="Shape 18"/>
          <p:cNvSpPr/>
          <p:nvPr/>
        </p:nvSpPr>
        <p:spPr>
          <a:xfrm>
            <a:off x="10543032" y="3566160"/>
            <a:ext cx="822960" cy="292608"/>
          </a:xfrm>
          <a:prstGeom prst="roundRect">
            <a:avLst>
              <a:gd name="adj" fmla="val 12500"/>
            </a:avLst>
          </a:prstGeom>
          <a:solidFill>
            <a:srgbClr val="FFF7E8"/>
          </a:solidFill>
          <a:ln w="12700">
            <a:solidFill>
              <a:srgbClr val="D97706"/>
            </a:solidFill>
            <a:prstDash val="solid"/>
          </a:ln>
        </p:spPr>
      </p:sp>
      <p:sp>
        <p:nvSpPr>
          <p:cNvPr id="21" name="Text 19"/>
          <p:cNvSpPr/>
          <p:nvPr/>
        </p:nvSpPr>
        <p:spPr>
          <a:xfrm>
            <a:off x="10543032" y="3566160"/>
            <a:ext cx="822960" cy="292608"/>
          </a:xfrm>
          <a:prstGeom prst="rect">
            <a:avLst/>
          </a:prstGeom>
          <a:noFill/>
          <a:ln/>
        </p:spPr>
        <p:txBody>
          <a:bodyPr wrap="square" lIns="0" tIns="0" rIns="0" bIns="0"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MEDIA</a:t>
            </a:r>
            <a:endParaRPr lang="en-US" sz="850" dirty="0"/>
          </a:p>
        </p:txBody>
      </p:sp>
      <p:sp>
        <p:nvSpPr>
          <p:cNvPr id="22" name="Shape 20"/>
          <p:cNvSpPr/>
          <p:nvPr/>
        </p:nvSpPr>
        <p:spPr>
          <a:xfrm>
            <a:off x="566928" y="4242816"/>
            <a:ext cx="11027664" cy="768096"/>
          </a:xfrm>
          <a:prstGeom prst="roundRect">
            <a:avLst>
              <a:gd name="adj" fmla="val 71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23" name="Text 21"/>
          <p:cNvSpPr/>
          <p:nvPr/>
        </p:nvSpPr>
        <p:spPr>
          <a:xfrm>
            <a:off x="768096" y="4389120"/>
            <a:ext cx="384048"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1261872" y="4315968"/>
            <a:ext cx="4114800" cy="310896"/>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La analítica del mes</a:t>
            </a:r>
            <a:endParaRPr lang="en-US" sz="1300" dirty="0"/>
          </a:p>
        </p:txBody>
      </p:sp>
      <p:sp>
        <p:nvSpPr>
          <p:cNvPr id="25" name="Text 23"/>
          <p:cNvSpPr/>
          <p:nvPr/>
        </p:nvSpPr>
        <p:spPr>
          <a:xfrm>
            <a:off x="1261872" y="4626864"/>
            <a:ext cx="8741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Horas sin visión por tren. Está calculado y probado; espera a que existan datos reales.</a:t>
            </a:r>
            <a:endParaRPr lang="en-US" sz="1100" dirty="0"/>
          </a:p>
        </p:txBody>
      </p:sp>
      <p:sp>
        <p:nvSpPr>
          <p:cNvPr id="26" name="Shape 24"/>
          <p:cNvSpPr/>
          <p:nvPr/>
        </p:nvSpPr>
        <p:spPr>
          <a:xfrm>
            <a:off x="10543032" y="4462272"/>
            <a:ext cx="822960" cy="292608"/>
          </a:xfrm>
          <a:prstGeom prst="roundRect">
            <a:avLst>
              <a:gd name="adj" fmla="val 12500"/>
            </a:avLst>
          </a:prstGeom>
          <a:solidFill>
            <a:srgbClr val="FFF7E8"/>
          </a:solidFill>
          <a:ln w="12700">
            <a:solidFill>
              <a:srgbClr val="D97706"/>
            </a:solidFill>
            <a:prstDash val="solid"/>
          </a:ln>
        </p:spPr>
      </p:sp>
      <p:sp>
        <p:nvSpPr>
          <p:cNvPr id="27" name="Text 25"/>
          <p:cNvSpPr/>
          <p:nvPr/>
        </p:nvSpPr>
        <p:spPr>
          <a:xfrm>
            <a:off x="10543032" y="4462272"/>
            <a:ext cx="822960" cy="292608"/>
          </a:xfrm>
          <a:prstGeom prst="rect">
            <a:avLst/>
          </a:prstGeom>
          <a:noFill/>
          <a:ln/>
        </p:spPr>
        <p:txBody>
          <a:bodyPr wrap="square" lIns="0" tIns="0" rIns="0" bIns="0"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MEDIA</a:t>
            </a:r>
            <a:endParaRPr lang="en-US" sz="850" dirty="0"/>
          </a:p>
        </p:txBody>
      </p:sp>
      <p:sp>
        <p:nvSpPr>
          <p:cNvPr id="28" name="Shape 26"/>
          <p:cNvSpPr/>
          <p:nvPr/>
        </p:nvSpPr>
        <p:spPr>
          <a:xfrm>
            <a:off x="566928" y="5138928"/>
            <a:ext cx="11027664" cy="768096"/>
          </a:xfrm>
          <a:prstGeom prst="roundRect">
            <a:avLst>
              <a:gd name="adj" fmla="val 71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29" name="Text 27"/>
          <p:cNvSpPr/>
          <p:nvPr/>
        </p:nvSpPr>
        <p:spPr>
          <a:xfrm>
            <a:off x="768096" y="5285232"/>
            <a:ext cx="384048" cy="475488"/>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5</a:t>
            </a:r>
            <a:endParaRPr lang="en-US" sz="2000" dirty="0"/>
          </a:p>
        </p:txBody>
      </p:sp>
      <p:sp>
        <p:nvSpPr>
          <p:cNvPr id="30" name="Text 28"/>
          <p:cNvSpPr/>
          <p:nvPr/>
        </p:nvSpPr>
        <p:spPr>
          <a:xfrm>
            <a:off x="1261872" y="5212080"/>
            <a:ext cx="4114800" cy="310896"/>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Observabilidad y respaldo ensayado</a:t>
            </a:r>
            <a:endParaRPr lang="en-US" sz="1300" dirty="0"/>
          </a:p>
        </p:txBody>
      </p:sp>
      <p:sp>
        <p:nvSpPr>
          <p:cNvPr id="31" name="Text 29"/>
          <p:cNvSpPr/>
          <p:nvPr/>
        </p:nvSpPr>
        <p:spPr>
          <a:xfrm>
            <a:off x="1261872" y="5522976"/>
            <a:ext cx="8741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Que el sistema avise si algo falla de madrugada, y haber restaurado un respaldo al menos una vez.</a:t>
            </a:r>
            <a:endParaRPr lang="en-US" sz="1100" dirty="0"/>
          </a:p>
        </p:txBody>
      </p:sp>
      <p:sp>
        <p:nvSpPr>
          <p:cNvPr id="32" name="Shape 30"/>
          <p:cNvSpPr/>
          <p:nvPr/>
        </p:nvSpPr>
        <p:spPr>
          <a:xfrm>
            <a:off x="10543032" y="5358384"/>
            <a:ext cx="822960" cy="292608"/>
          </a:xfrm>
          <a:prstGeom prst="roundRect">
            <a:avLst>
              <a:gd name="adj" fmla="val 12500"/>
            </a:avLst>
          </a:prstGeom>
          <a:solidFill>
            <a:srgbClr val="FFF7E8"/>
          </a:solidFill>
          <a:ln w="12700">
            <a:solidFill>
              <a:srgbClr val="D97706"/>
            </a:solidFill>
            <a:prstDash val="solid"/>
          </a:ln>
        </p:spPr>
      </p:sp>
      <p:sp>
        <p:nvSpPr>
          <p:cNvPr id="33" name="Text 31"/>
          <p:cNvSpPr/>
          <p:nvPr/>
        </p:nvSpPr>
        <p:spPr>
          <a:xfrm>
            <a:off x="10543032" y="5358384"/>
            <a:ext cx="822960" cy="292608"/>
          </a:xfrm>
          <a:prstGeom prst="rect">
            <a:avLst/>
          </a:prstGeom>
          <a:noFill/>
          <a:ln/>
        </p:spPr>
        <p:txBody>
          <a:bodyPr wrap="square" lIns="0" tIns="0" rIns="0" bIns="0"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MEDIA</a:t>
            </a:r>
            <a:endParaRPr lang="en-US" sz="850" dirty="0"/>
          </a:p>
        </p:txBody>
      </p:sp>
      <p:sp>
        <p:nvSpPr>
          <p:cNvPr id="34" name="Text 32"/>
          <p:cNvSpPr/>
          <p:nvPr/>
        </p:nvSpPr>
        <p:spPr>
          <a:xfrm>
            <a:off x="566928" y="6108192"/>
            <a:ext cx="11027664" cy="310896"/>
          </a:xfrm>
          <a:prstGeom prst="rect">
            <a:avLst/>
          </a:prstGeom>
          <a:noFill/>
          <a:ln/>
        </p:spPr>
        <p:txBody>
          <a:bodyPr wrap="square" lIns="0" tIns="0" rIns="0" bIns="0" rtlCol="0" anchor="ctr"/>
          <a:lstStyle/>
          <a:p>
            <a:pPr indent="0" marL="0">
              <a:buNone/>
            </a:pPr>
            <a:r>
              <a:rPr lang="en-US" sz="1150" b="1" i="1" dirty="0">
                <a:solidFill>
                  <a:srgbClr val="102A43"/>
                </a:solidFill>
                <a:latin typeface="Calibri" pitchFamily="34" charset="0"/>
                <a:ea typeface="Calibri" pitchFamily="34" charset="-122"/>
                <a:cs typeface="Calibri" pitchFamily="34" charset="-120"/>
              </a:rPr>
              <a:t>Los puntos 1 y 2 no son de programación: dependen de que Producción y TI den acceso y datos. Es la ayuda concreta que pido hoy.</a:t>
            </a:r>
            <a:endParaRPr lang="en-US" sz="1150" dirty="0"/>
          </a:p>
        </p:txBody>
      </p:sp>
      <p:sp>
        <p:nvSpPr>
          <p:cNvPr id="35" name="Text 33"/>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36" name="Text 34"/>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Licencias y costo de software</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Todo el sistema está construido sobre software libre de uso comercial</a:t>
            </a:r>
            <a:endParaRPr lang="en-US" sz="1300" dirty="0"/>
          </a:p>
        </p:txBody>
      </p:sp>
      <p:sp>
        <p:nvSpPr>
          <p:cNvPr id="4" name="Shape 2"/>
          <p:cNvSpPr/>
          <p:nvPr/>
        </p:nvSpPr>
        <p:spPr>
          <a:xfrm>
            <a:off x="566928" y="1554480"/>
            <a:ext cx="3108960" cy="365760"/>
          </a:xfrm>
          <a:prstGeom prst="rect">
            <a:avLst/>
          </a:prstGeom>
          <a:solidFill>
            <a:srgbClr val="102A43"/>
          </a:solidFill>
          <a:ln w="12700">
            <a:solidFill>
              <a:srgbClr val="102A43"/>
            </a:solidFill>
            <a:prstDash val="solid"/>
          </a:ln>
        </p:spPr>
      </p:sp>
      <p:sp>
        <p:nvSpPr>
          <p:cNvPr id="5" name="Text 3"/>
          <p:cNvSpPr/>
          <p:nvPr/>
        </p:nvSpPr>
        <p:spPr>
          <a:xfrm>
            <a:off x="658368" y="1554480"/>
            <a:ext cx="29260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Componente</a:t>
            </a:r>
            <a:endParaRPr lang="en-US" sz="1050" dirty="0"/>
          </a:p>
        </p:txBody>
      </p:sp>
      <p:sp>
        <p:nvSpPr>
          <p:cNvPr id="6" name="Shape 4"/>
          <p:cNvSpPr/>
          <p:nvPr/>
        </p:nvSpPr>
        <p:spPr>
          <a:xfrm>
            <a:off x="3675888" y="1554480"/>
            <a:ext cx="1371600" cy="365760"/>
          </a:xfrm>
          <a:prstGeom prst="rect">
            <a:avLst/>
          </a:prstGeom>
          <a:solidFill>
            <a:srgbClr val="102A43"/>
          </a:solidFill>
          <a:ln w="12700">
            <a:solidFill>
              <a:srgbClr val="102A43"/>
            </a:solidFill>
            <a:prstDash val="solid"/>
          </a:ln>
        </p:spPr>
      </p:sp>
      <p:sp>
        <p:nvSpPr>
          <p:cNvPr id="7" name="Text 5"/>
          <p:cNvSpPr/>
          <p:nvPr/>
        </p:nvSpPr>
        <p:spPr>
          <a:xfrm>
            <a:off x="3767328" y="1554480"/>
            <a:ext cx="118872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Versión</a:t>
            </a:r>
            <a:endParaRPr lang="en-US" sz="1050" dirty="0"/>
          </a:p>
        </p:txBody>
      </p:sp>
      <p:sp>
        <p:nvSpPr>
          <p:cNvPr id="8" name="Shape 6"/>
          <p:cNvSpPr/>
          <p:nvPr/>
        </p:nvSpPr>
        <p:spPr>
          <a:xfrm>
            <a:off x="5047488" y="1554480"/>
            <a:ext cx="1737360" cy="365760"/>
          </a:xfrm>
          <a:prstGeom prst="rect">
            <a:avLst/>
          </a:prstGeom>
          <a:solidFill>
            <a:srgbClr val="102A43"/>
          </a:solidFill>
          <a:ln w="12700">
            <a:solidFill>
              <a:srgbClr val="102A43"/>
            </a:solidFill>
            <a:prstDash val="solid"/>
          </a:ln>
        </p:spPr>
      </p:sp>
      <p:sp>
        <p:nvSpPr>
          <p:cNvPr id="9" name="Text 7"/>
          <p:cNvSpPr/>
          <p:nvPr/>
        </p:nvSpPr>
        <p:spPr>
          <a:xfrm>
            <a:off x="5138928" y="1554480"/>
            <a:ext cx="15544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Licencia</a:t>
            </a:r>
            <a:endParaRPr lang="en-US" sz="1050" dirty="0"/>
          </a:p>
        </p:txBody>
      </p:sp>
      <p:sp>
        <p:nvSpPr>
          <p:cNvPr id="10" name="Shape 8"/>
          <p:cNvSpPr/>
          <p:nvPr/>
        </p:nvSpPr>
        <p:spPr>
          <a:xfrm>
            <a:off x="6784848" y="1554480"/>
            <a:ext cx="1280160" cy="365760"/>
          </a:xfrm>
          <a:prstGeom prst="rect">
            <a:avLst/>
          </a:prstGeom>
          <a:solidFill>
            <a:srgbClr val="102A43"/>
          </a:solidFill>
          <a:ln w="12700">
            <a:solidFill>
              <a:srgbClr val="102A43"/>
            </a:solidFill>
            <a:prstDash val="solid"/>
          </a:ln>
        </p:spPr>
      </p:sp>
      <p:sp>
        <p:nvSpPr>
          <p:cNvPr id="11" name="Text 9"/>
          <p:cNvSpPr/>
          <p:nvPr/>
        </p:nvSpPr>
        <p:spPr>
          <a:xfrm>
            <a:off x="6876288" y="1554480"/>
            <a:ext cx="10972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 paga?</a:t>
            </a:r>
            <a:endParaRPr lang="en-US" sz="1050" dirty="0"/>
          </a:p>
        </p:txBody>
      </p:sp>
      <p:sp>
        <p:nvSpPr>
          <p:cNvPr id="12" name="Shape 10"/>
          <p:cNvSpPr/>
          <p:nvPr/>
        </p:nvSpPr>
        <p:spPr>
          <a:xfrm>
            <a:off x="8065008" y="1554480"/>
            <a:ext cx="3657600" cy="365760"/>
          </a:xfrm>
          <a:prstGeom prst="rect">
            <a:avLst/>
          </a:prstGeom>
          <a:solidFill>
            <a:srgbClr val="102A43"/>
          </a:solidFill>
          <a:ln w="12700">
            <a:solidFill>
              <a:srgbClr val="102A43"/>
            </a:solidFill>
            <a:prstDash val="solid"/>
          </a:ln>
        </p:spPr>
      </p:sp>
      <p:sp>
        <p:nvSpPr>
          <p:cNvPr id="13" name="Text 11"/>
          <p:cNvSpPr/>
          <p:nvPr/>
        </p:nvSpPr>
        <p:spPr>
          <a:xfrm>
            <a:off x="8156448" y="1554480"/>
            <a:ext cx="347472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Para qué sirve</a:t>
            </a:r>
            <a:endParaRPr lang="en-US" sz="1050" dirty="0"/>
          </a:p>
        </p:txBody>
      </p:sp>
      <p:sp>
        <p:nvSpPr>
          <p:cNvPr id="14" name="Shape 12"/>
          <p:cNvSpPr/>
          <p:nvPr/>
        </p:nvSpPr>
        <p:spPr>
          <a:xfrm>
            <a:off x="566928" y="1920240"/>
            <a:ext cx="11027664" cy="333756"/>
          </a:xfrm>
          <a:prstGeom prst="rect">
            <a:avLst/>
          </a:prstGeom>
          <a:solidFill>
            <a:srgbClr val="F0F4F8"/>
          </a:solidFill>
          <a:ln w="12700">
            <a:solidFill>
              <a:srgbClr val="F0F4F8"/>
            </a:solidFill>
            <a:prstDash val="solid"/>
          </a:ln>
        </p:spPr>
      </p:sp>
      <p:sp>
        <p:nvSpPr>
          <p:cNvPr id="15" name="Text 13"/>
          <p:cNvSpPr/>
          <p:nvPr/>
        </p:nvSpPr>
        <p:spPr>
          <a:xfrm>
            <a:off x="658368" y="1920240"/>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NestJS (servidor)</a:t>
            </a:r>
            <a:endParaRPr lang="en-US" sz="1000" dirty="0"/>
          </a:p>
        </p:txBody>
      </p:sp>
      <p:sp>
        <p:nvSpPr>
          <p:cNvPr id="16" name="Text 14"/>
          <p:cNvSpPr/>
          <p:nvPr/>
        </p:nvSpPr>
        <p:spPr>
          <a:xfrm>
            <a:off x="3767328" y="1920240"/>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10.4</a:t>
            </a:r>
            <a:endParaRPr lang="en-US" sz="1000" dirty="0"/>
          </a:p>
        </p:txBody>
      </p:sp>
      <p:sp>
        <p:nvSpPr>
          <p:cNvPr id="17" name="Text 15"/>
          <p:cNvSpPr/>
          <p:nvPr/>
        </p:nvSpPr>
        <p:spPr>
          <a:xfrm>
            <a:off x="5138928" y="1920240"/>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MIT</a:t>
            </a:r>
            <a:endParaRPr lang="en-US" sz="1000" dirty="0"/>
          </a:p>
        </p:txBody>
      </p:sp>
      <p:sp>
        <p:nvSpPr>
          <p:cNvPr id="18" name="Text 16"/>
          <p:cNvSpPr/>
          <p:nvPr/>
        </p:nvSpPr>
        <p:spPr>
          <a:xfrm>
            <a:off x="6876288" y="1920240"/>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19" name="Text 17"/>
          <p:cNvSpPr/>
          <p:nvPr/>
        </p:nvSpPr>
        <p:spPr>
          <a:xfrm>
            <a:off x="8156448" y="1920240"/>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Estructura del backend</a:t>
            </a:r>
            <a:endParaRPr lang="en-US" sz="1000" dirty="0"/>
          </a:p>
        </p:txBody>
      </p:sp>
      <p:sp>
        <p:nvSpPr>
          <p:cNvPr id="20" name="Text 18"/>
          <p:cNvSpPr/>
          <p:nvPr/>
        </p:nvSpPr>
        <p:spPr>
          <a:xfrm>
            <a:off x="658368" y="2253996"/>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Node.js</a:t>
            </a:r>
            <a:endParaRPr lang="en-US" sz="1000" dirty="0"/>
          </a:p>
        </p:txBody>
      </p:sp>
      <p:sp>
        <p:nvSpPr>
          <p:cNvPr id="21" name="Text 19"/>
          <p:cNvSpPr/>
          <p:nvPr/>
        </p:nvSpPr>
        <p:spPr>
          <a:xfrm>
            <a:off x="3767328" y="2253996"/>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22 LTS</a:t>
            </a:r>
            <a:endParaRPr lang="en-US" sz="1000" dirty="0"/>
          </a:p>
        </p:txBody>
      </p:sp>
      <p:sp>
        <p:nvSpPr>
          <p:cNvPr id="22" name="Text 20"/>
          <p:cNvSpPr/>
          <p:nvPr/>
        </p:nvSpPr>
        <p:spPr>
          <a:xfrm>
            <a:off x="5138928" y="2253996"/>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MIT</a:t>
            </a:r>
            <a:endParaRPr lang="en-US" sz="1000" dirty="0"/>
          </a:p>
        </p:txBody>
      </p:sp>
      <p:sp>
        <p:nvSpPr>
          <p:cNvPr id="23" name="Text 21"/>
          <p:cNvSpPr/>
          <p:nvPr/>
        </p:nvSpPr>
        <p:spPr>
          <a:xfrm>
            <a:off x="6876288" y="2253996"/>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24" name="Text 22"/>
          <p:cNvSpPr/>
          <p:nvPr/>
        </p:nvSpPr>
        <p:spPr>
          <a:xfrm>
            <a:off x="8156448" y="2253996"/>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Motor de ejecución</a:t>
            </a:r>
            <a:endParaRPr lang="en-US" sz="1000" dirty="0"/>
          </a:p>
        </p:txBody>
      </p:sp>
      <p:sp>
        <p:nvSpPr>
          <p:cNvPr id="25" name="Shape 23"/>
          <p:cNvSpPr/>
          <p:nvPr/>
        </p:nvSpPr>
        <p:spPr>
          <a:xfrm>
            <a:off x="566928" y="2587752"/>
            <a:ext cx="11027664" cy="333756"/>
          </a:xfrm>
          <a:prstGeom prst="rect">
            <a:avLst/>
          </a:prstGeom>
          <a:solidFill>
            <a:srgbClr val="F0F4F8"/>
          </a:solidFill>
          <a:ln w="12700">
            <a:solidFill>
              <a:srgbClr val="F0F4F8"/>
            </a:solidFill>
            <a:prstDash val="solid"/>
          </a:ln>
        </p:spPr>
      </p:sp>
      <p:sp>
        <p:nvSpPr>
          <p:cNvPr id="26" name="Text 24"/>
          <p:cNvSpPr/>
          <p:nvPr/>
        </p:nvSpPr>
        <p:spPr>
          <a:xfrm>
            <a:off x="658368" y="2587752"/>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React</a:t>
            </a:r>
            <a:endParaRPr lang="en-US" sz="1000" dirty="0"/>
          </a:p>
        </p:txBody>
      </p:sp>
      <p:sp>
        <p:nvSpPr>
          <p:cNvPr id="27" name="Text 25"/>
          <p:cNvSpPr/>
          <p:nvPr/>
        </p:nvSpPr>
        <p:spPr>
          <a:xfrm>
            <a:off x="3767328" y="2587752"/>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18.3</a:t>
            </a:r>
            <a:endParaRPr lang="en-US" sz="1000" dirty="0"/>
          </a:p>
        </p:txBody>
      </p:sp>
      <p:sp>
        <p:nvSpPr>
          <p:cNvPr id="28" name="Text 26"/>
          <p:cNvSpPr/>
          <p:nvPr/>
        </p:nvSpPr>
        <p:spPr>
          <a:xfrm>
            <a:off x="5138928" y="2587752"/>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MIT</a:t>
            </a:r>
            <a:endParaRPr lang="en-US" sz="1000" dirty="0"/>
          </a:p>
        </p:txBody>
      </p:sp>
      <p:sp>
        <p:nvSpPr>
          <p:cNvPr id="29" name="Text 27"/>
          <p:cNvSpPr/>
          <p:nvPr/>
        </p:nvSpPr>
        <p:spPr>
          <a:xfrm>
            <a:off x="6876288" y="2587752"/>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30" name="Text 28"/>
          <p:cNvSpPr/>
          <p:nvPr/>
        </p:nvSpPr>
        <p:spPr>
          <a:xfrm>
            <a:off x="8156448" y="2587752"/>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Las pantallas</a:t>
            </a:r>
            <a:endParaRPr lang="en-US" sz="1000" dirty="0"/>
          </a:p>
        </p:txBody>
      </p:sp>
      <p:sp>
        <p:nvSpPr>
          <p:cNvPr id="31" name="Text 29"/>
          <p:cNvSpPr/>
          <p:nvPr/>
        </p:nvSpPr>
        <p:spPr>
          <a:xfrm>
            <a:off x="658368" y="2921508"/>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Vite</a:t>
            </a:r>
            <a:endParaRPr lang="en-US" sz="1000" dirty="0"/>
          </a:p>
        </p:txBody>
      </p:sp>
      <p:sp>
        <p:nvSpPr>
          <p:cNvPr id="32" name="Text 30"/>
          <p:cNvSpPr/>
          <p:nvPr/>
        </p:nvSpPr>
        <p:spPr>
          <a:xfrm>
            <a:off x="3767328" y="2921508"/>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5.4</a:t>
            </a:r>
            <a:endParaRPr lang="en-US" sz="1000" dirty="0"/>
          </a:p>
        </p:txBody>
      </p:sp>
      <p:sp>
        <p:nvSpPr>
          <p:cNvPr id="33" name="Text 31"/>
          <p:cNvSpPr/>
          <p:nvPr/>
        </p:nvSpPr>
        <p:spPr>
          <a:xfrm>
            <a:off x="5138928" y="2921508"/>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MIT</a:t>
            </a:r>
            <a:endParaRPr lang="en-US" sz="1000" dirty="0"/>
          </a:p>
        </p:txBody>
      </p:sp>
      <p:sp>
        <p:nvSpPr>
          <p:cNvPr id="34" name="Text 32"/>
          <p:cNvSpPr/>
          <p:nvPr/>
        </p:nvSpPr>
        <p:spPr>
          <a:xfrm>
            <a:off x="6876288" y="2921508"/>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35" name="Text 33"/>
          <p:cNvSpPr/>
          <p:nvPr/>
        </p:nvSpPr>
        <p:spPr>
          <a:xfrm>
            <a:off x="8156448" y="2921508"/>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Compilado del frontend</a:t>
            </a:r>
            <a:endParaRPr lang="en-US" sz="1000" dirty="0"/>
          </a:p>
        </p:txBody>
      </p:sp>
      <p:sp>
        <p:nvSpPr>
          <p:cNvPr id="36" name="Shape 34"/>
          <p:cNvSpPr/>
          <p:nvPr/>
        </p:nvSpPr>
        <p:spPr>
          <a:xfrm>
            <a:off x="566928" y="3255264"/>
            <a:ext cx="11027664" cy="333756"/>
          </a:xfrm>
          <a:prstGeom prst="rect">
            <a:avLst/>
          </a:prstGeom>
          <a:solidFill>
            <a:srgbClr val="F0F4F8"/>
          </a:solidFill>
          <a:ln w="12700">
            <a:solidFill>
              <a:srgbClr val="F0F4F8"/>
            </a:solidFill>
            <a:prstDash val="solid"/>
          </a:ln>
        </p:spPr>
      </p:sp>
      <p:sp>
        <p:nvSpPr>
          <p:cNvPr id="37" name="Text 35"/>
          <p:cNvSpPr/>
          <p:nvPr/>
        </p:nvSpPr>
        <p:spPr>
          <a:xfrm>
            <a:off x="658368" y="3255264"/>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TypeScript</a:t>
            </a:r>
            <a:endParaRPr lang="en-US" sz="1000" dirty="0"/>
          </a:p>
        </p:txBody>
      </p:sp>
      <p:sp>
        <p:nvSpPr>
          <p:cNvPr id="38" name="Text 36"/>
          <p:cNvSpPr/>
          <p:nvPr/>
        </p:nvSpPr>
        <p:spPr>
          <a:xfrm>
            <a:off x="3767328" y="3255264"/>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5.5</a:t>
            </a:r>
            <a:endParaRPr lang="en-US" sz="1000" dirty="0"/>
          </a:p>
        </p:txBody>
      </p:sp>
      <p:sp>
        <p:nvSpPr>
          <p:cNvPr id="39" name="Text 37"/>
          <p:cNvSpPr/>
          <p:nvPr/>
        </p:nvSpPr>
        <p:spPr>
          <a:xfrm>
            <a:off x="5138928" y="3255264"/>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Apache-2.0</a:t>
            </a:r>
            <a:endParaRPr lang="en-US" sz="1000" dirty="0"/>
          </a:p>
        </p:txBody>
      </p:sp>
      <p:sp>
        <p:nvSpPr>
          <p:cNvPr id="40" name="Text 38"/>
          <p:cNvSpPr/>
          <p:nvPr/>
        </p:nvSpPr>
        <p:spPr>
          <a:xfrm>
            <a:off x="6876288" y="3255264"/>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41" name="Text 39"/>
          <p:cNvSpPr/>
          <p:nvPr/>
        </p:nvSpPr>
        <p:spPr>
          <a:xfrm>
            <a:off x="8156448" y="3255264"/>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Detecta errores antes de ejecutar</a:t>
            </a:r>
            <a:endParaRPr lang="en-US" sz="1000" dirty="0"/>
          </a:p>
        </p:txBody>
      </p:sp>
      <p:sp>
        <p:nvSpPr>
          <p:cNvPr id="42" name="Text 40"/>
          <p:cNvSpPr/>
          <p:nvPr/>
        </p:nvSpPr>
        <p:spPr>
          <a:xfrm>
            <a:off x="658368" y="3589020"/>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PostgreSQL</a:t>
            </a:r>
            <a:endParaRPr lang="en-US" sz="1000" dirty="0"/>
          </a:p>
        </p:txBody>
      </p:sp>
      <p:sp>
        <p:nvSpPr>
          <p:cNvPr id="43" name="Text 41"/>
          <p:cNvSpPr/>
          <p:nvPr/>
        </p:nvSpPr>
        <p:spPr>
          <a:xfrm>
            <a:off x="3767328" y="3589020"/>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18</a:t>
            </a:r>
            <a:endParaRPr lang="en-US" sz="1000" dirty="0"/>
          </a:p>
        </p:txBody>
      </p:sp>
      <p:sp>
        <p:nvSpPr>
          <p:cNvPr id="44" name="Text 42"/>
          <p:cNvSpPr/>
          <p:nvPr/>
        </p:nvSpPr>
        <p:spPr>
          <a:xfrm>
            <a:off x="5138928" y="3589020"/>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PostgreSQL Lic.</a:t>
            </a:r>
            <a:endParaRPr lang="en-US" sz="1000" dirty="0"/>
          </a:p>
        </p:txBody>
      </p:sp>
      <p:sp>
        <p:nvSpPr>
          <p:cNvPr id="45" name="Text 43"/>
          <p:cNvSpPr/>
          <p:nvPr/>
        </p:nvSpPr>
        <p:spPr>
          <a:xfrm>
            <a:off x="6876288" y="3589020"/>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46" name="Text 44"/>
          <p:cNvSpPr/>
          <p:nvPr/>
        </p:nvSpPr>
        <p:spPr>
          <a:xfrm>
            <a:off x="8156448" y="3589020"/>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La base de datos</a:t>
            </a:r>
            <a:endParaRPr lang="en-US" sz="1000" dirty="0"/>
          </a:p>
        </p:txBody>
      </p:sp>
      <p:sp>
        <p:nvSpPr>
          <p:cNvPr id="47" name="Shape 45"/>
          <p:cNvSpPr/>
          <p:nvPr/>
        </p:nvSpPr>
        <p:spPr>
          <a:xfrm>
            <a:off x="566928" y="3922776"/>
            <a:ext cx="11027664" cy="333756"/>
          </a:xfrm>
          <a:prstGeom prst="rect">
            <a:avLst/>
          </a:prstGeom>
          <a:solidFill>
            <a:srgbClr val="F0F4F8"/>
          </a:solidFill>
          <a:ln w="12700">
            <a:solidFill>
              <a:srgbClr val="F0F4F8"/>
            </a:solidFill>
            <a:prstDash val="solid"/>
          </a:ln>
        </p:spPr>
      </p:sp>
      <p:sp>
        <p:nvSpPr>
          <p:cNvPr id="48" name="Text 46"/>
          <p:cNvSpPr/>
          <p:nvPr/>
        </p:nvSpPr>
        <p:spPr>
          <a:xfrm>
            <a:off x="658368" y="3922776"/>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Prisma</a:t>
            </a:r>
            <a:endParaRPr lang="en-US" sz="1000" dirty="0"/>
          </a:p>
        </p:txBody>
      </p:sp>
      <p:sp>
        <p:nvSpPr>
          <p:cNvPr id="49" name="Text 47"/>
          <p:cNvSpPr/>
          <p:nvPr/>
        </p:nvSpPr>
        <p:spPr>
          <a:xfrm>
            <a:off x="3767328" y="3922776"/>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5.18</a:t>
            </a:r>
            <a:endParaRPr lang="en-US" sz="1000" dirty="0"/>
          </a:p>
        </p:txBody>
      </p:sp>
      <p:sp>
        <p:nvSpPr>
          <p:cNvPr id="50" name="Text 48"/>
          <p:cNvSpPr/>
          <p:nvPr/>
        </p:nvSpPr>
        <p:spPr>
          <a:xfrm>
            <a:off x="5138928" y="3922776"/>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Apache-2.0</a:t>
            </a:r>
            <a:endParaRPr lang="en-US" sz="1000" dirty="0"/>
          </a:p>
        </p:txBody>
      </p:sp>
      <p:sp>
        <p:nvSpPr>
          <p:cNvPr id="51" name="Text 49"/>
          <p:cNvSpPr/>
          <p:nvPr/>
        </p:nvSpPr>
        <p:spPr>
          <a:xfrm>
            <a:off x="6876288" y="3922776"/>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52" name="Text 50"/>
          <p:cNvSpPr/>
          <p:nvPr/>
        </p:nvSpPr>
        <p:spPr>
          <a:xfrm>
            <a:off x="8156448" y="3922776"/>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Acceso a la base y migraciones</a:t>
            </a:r>
            <a:endParaRPr lang="en-US" sz="1000" dirty="0"/>
          </a:p>
        </p:txBody>
      </p:sp>
      <p:sp>
        <p:nvSpPr>
          <p:cNvPr id="53" name="Text 51"/>
          <p:cNvSpPr/>
          <p:nvPr/>
        </p:nvSpPr>
        <p:spPr>
          <a:xfrm>
            <a:off x="658368" y="4256532"/>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MinIO</a:t>
            </a:r>
            <a:endParaRPr lang="en-US" sz="1000" dirty="0"/>
          </a:p>
        </p:txBody>
      </p:sp>
      <p:sp>
        <p:nvSpPr>
          <p:cNvPr id="54" name="Text 52"/>
          <p:cNvSpPr/>
          <p:nvPr/>
        </p:nvSpPr>
        <p:spPr>
          <a:xfrm>
            <a:off x="3767328" y="4256532"/>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última</a:t>
            </a:r>
            <a:endParaRPr lang="en-US" sz="1000" dirty="0"/>
          </a:p>
        </p:txBody>
      </p:sp>
      <p:sp>
        <p:nvSpPr>
          <p:cNvPr id="55" name="Text 53"/>
          <p:cNvSpPr/>
          <p:nvPr/>
        </p:nvSpPr>
        <p:spPr>
          <a:xfrm>
            <a:off x="5138928" y="4256532"/>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AGPL-3.0 *</a:t>
            </a:r>
            <a:endParaRPr lang="en-US" sz="1000" dirty="0"/>
          </a:p>
        </p:txBody>
      </p:sp>
      <p:sp>
        <p:nvSpPr>
          <p:cNvPr id="56" name="Text 54"/>
          <p:cNvSpPr/>
          <p:nvPr/>
        </p:nvSpPr>
        <p:spPr>
          <a:xfrm>
            <a:off x="6876288" y="4256532"/>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57" name="Text 55"/>
          <p:cNvSpPr/>
          <p:nvPr/>
        </p:nvSpPr>
        <p:spPr>
          <a:xfrm>
            <a:off x="8156448" y="4256532"/>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Fotos e informes</a:t>
            </a:r>
            <a:endParaRPr lang="en-US" sz="1000" dirty="0"/>
          </a:p>
        </p:txBody>
      </p:sp>
      <p:sp>
        <p:nvSpPr>
          <p:cNvPr id="58" name="Shape 56"/>
          <p:cNvSpPr/>
          <p:nvPr/>
        </p:nvSpPr>
        <p:spPr>
          <a:xfrm>
            <a:off x="566928" y="4590288"/>
            <a:ext cx="11027664" cy="333756"/>
          </a:xfrm>
          <a:prstGeom prst="rect">
            <a:avLst/>
          </a:prstGeom>
          <a:solidFill>
            <a:srgbClr val="F0F4F8"/>
          </a:solidFill>
          <a:ln w="12700">
            <a:solidFill>
              <a:srgbClr val="F0F4F8"/>
            </a:solidFill>
            <a:prstDash val="solid"/>
          </a:ln>
        </p:spPr>
      </p:sp>
      <p:sp>
        <p:nvSpPr>
          <p:cNvPr id="59" name="Text 57"/>
          <p:cNvSpPr/>
          <p:nvPr/>
        </p:nvSpPr>
        <p:spPr>
          <a:xfrm>
            <a:off x="658368" y="4590288"/>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Docker</a:t>
            </a:r>
            <a:endParaRPr lang="en-US" sz="1000" dirty="0"/>
          </a:p>
        </p:txBody>
      </p:sp>
      <p:sp>
        <p:nvSpPr>
          <p:cNvPr id="60" name="Text 58"/>
          <p:cNvSpPr/>
          <p:nvPr/>
        </p:nvSpPr>
        <p:spPr>
          <a:xfrm>
            <a:off x="3767328" y="4590288"/>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5138928" y="4590288"/>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Apache-2.0</a:t>
            </a:r>
            <a:endParaRPr lang="en-US" sz="1000" dirty="0"/>
          </a:p>
        </p:txBody>
      </p:sp>
      <p:sp>
        <p:nvSpPr>
          <p:cNvPr id="62" name="Text 60"/>
          <p:cNvSpPr/>
          <p:nvPr/>
        </p:nvSpPr>
        <p:spPr>
          <a:xfrm>
            <a:off x="6876288" y="4590288"/>
            <a:ext cx="10972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No</a:t>
            </a:r>
            <a:endParaRPr lang="en-US" sz="1000" dirty="0"/>
          </a:p>
        </p:txBody>
      </p:sp>
      <p:sp>
        <p:nvSpPr>
          <p:cNvPr id="63" name="Text 61"/>
          <p:cNvSpPr/>
          <p:nvPr/>
        </p:nvSpPr>
        <p:spPr>
          <a:xfrm>
            <a:off x="8156448" y="4590288"/>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Empaquetado del despliegue</a:t>
            </a:r>
            <a:endParaRPr lang="en-US" sz="1000" dirty="0"/>
          </a:p>
        </p:txBody>
      </p:sp>
      <p:sp>
        <p:nvSpPr>
          <p:cNvPr id="64" name="Text 62"/>
          <p:cNvSpPr/>
          <p:nvPr/>
        </p:nvSpPr>
        <p:spPr>
          <a:xfrm>
            <a:off x="658368" y="4924044"/>
            <a:ext cx="2926080" cy="333756"/>
          </a:xfrm>
          <a:prstGeom prst="rect">
            <a:avLst/>
          </a:prstGeom>
          <a:noFill/>
          <a:ln/>
        </p:spPr>
        <p:txBody>
          <a:bodyPr wrap="square" lIns="0" tIns="0" rIns="0" bIns="0" rtlCol="0" anchor="ctr"/>
          <a:lstStyle/>
          <a:p>
            <a:pPr indent="0" marL="0">
              <a:buNone/>
            </a:pPr>
            <a:r>
              <a:rPr lang="en-US" sz="1000" b="1" dirty="0">
                <a:solidFill>
                  <a:srgbClr val="102A43"/>
                </a:solidFill>
                <a:latin typeface="Calibri" pitchFamily="34" charset="0"/>
                <a:ea typeface="Calibri" pitchFamily="34" charset="-122"/>
                <a:cs typeface="Calibri" pitchFamily="34" charset="-120"/>
              </a:rPr>
              <a:t>Railway (nube)</a:t>
            </a:r>
            <a:endParaRPr lang="en-US" sz="1000" dirty="0"/>
          </a:p>
        </p:txBody>
      </p:sp>
      <p:sp>
        <p:nvSpPr>
          <p:cNvPr id="65" name="Text 63"/>
          <p:cNvSpPr/>
          <p:nvPr/>
        </p:nvSpPr>
        <p:spPr>
          <a:xfrm>
            <a:off x="3767328" y="4924044"/>
            <a:ext cx="1188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a:t>
            </a:r>
            <a:endParaRPr lang="en-US" sz="1000" dirty="0"/>
          </a:p>
        </p:txBody>
      </p:sp>
      <p:sp>
        <p:nvSpPr>
          <p:cNvPr id="66" name="Text 64"/>
          <p:cNvSpPr/>
          <p:nvPr/>
        </p:nvSpPr>
        <p:spPr>
          <a:xfrm>
            <a:off x="5138928" y="4924044"/>
            <a:ext cx="155448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Servicio</a:t>
            </a:r>
            <a:endParaRPr lang="en-US" sz="1000" dirty="0"/>
          </a:p>
        </p:txBody>
      </p:sp>
      <p:sp>
        <p:nvSpPr>
          <p:cNvPr id="67" name="Text 65"/>
          <p:cNvSpPr/>
          <p:nvPr/>
        </p:nvSpPr>
        <p:spPr>
          <a:xfrm>
            <a:off x="6876288" y="4924044"/>
            <a:ext cx="1097280" cy="333756"/>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Sí</a:t>
            </a:r>
            <a:endParaRPr lang="en-US" sz="1000" dirty="0"/>
          </a:p>
        </p:txBody>
      </p:sp>
      <p:sp>
        <p:nvSpPr>
          <p:cNvPr id="68" name="Text 66"/>
          <p:cNvSpPr/>
          <p:nvPr/>
        </p:nvSpPr>
        <p:spPr>
          <a:xfrm>
            <a:off x="8156448" y="4924044"/>
            <a:ext cx="3474720" cy="333756"/>
          </a:xfrm>
          <a:prstGeom prst="rect">
            <a:avLst/>
          </a:prstGeom>
          <a:noFill/>
          <a:ln/>
        </p:spPr>
        <p:txBody>
          <a:bodyPr wrap="square" lIns="0" tIns="0" rIns="0" bIns="0" rtlCol="0" anchor="ctr"/>
          <a:lstStyle/>
          <a:p>
            <a:pPr indent="0" marL="0">
              <a:buNone/>
            </a:pPr>
            <a:r>
              <a:rPr lang="en-US" sz="1000" dirty="0">
                <a:solidFill>
                  <a:srgbClr val="486581"/>
                </a:solidFill>
                <a:latin typeface="Calibri" pitchFamily="34" charset="0"/>
                <a:ea typeface="Calibri" pitchFamily="34" charset="-122"/>
                <a:cs typeface="Calibri" pitchFamily="34" charset="-120"/>
              </a:rPr>
              <a:t>Hospedaje mientras se demuestra</a:t>
            </a:r>
            <a:endParaRPr lang="en-US" sz="1000" dirty="0"/>
          </a:p>
        </p:txBody>
      </p:sp>
      <p:sp>
        <p:nvSpPr>
          <p:cNvPr id="69" name="Text 67"/>
          <p:cNvSpPr/>
          <p:nvPr/>
        </p:nvSpPr>
        <p:spPr>
          <a:xfrm>
            <a:off x="566928" y="5440680"/>
            <a:ext cx="11027664" cy="457200"/>
          </a:xfrm>
          <a:prstGeom prst="rect">
            <a:avLst/>
          </a:prstGeom>
          <a:noFill/>
          <a:ln/>
        </p:spPr>
        <p:txBody>
          <a:bodyPr wrap="square" lIns="0" tIns="0" rIns="0" bIns="0" rtlCol="0" anchor="ctr"/>
          <a:lstStyle/>
          <a:p>
            <a:pPr indent="0" marL="0">
              <a:buNone/>
            </a:pPr>
            <a:r>
              <a:rPr lang="en-US" sz="950" i="1" dirty="0">
                <a:solidFill>
                  <a:srgbClr val="486581"/>
                </a:solidFill>
                <a:latin typeface="Calibri" pitchFamily="34" charset="0"/>
                <a:ea typeface="Calibri" pitchFamily="34" charset="-122"/>
                <a:cs typeface="Calibri" pitchFamily="34" charset="-120"/>
              </a:rPr>
              <a:t>* MinIO en AGPL sólo obliga a publicar el código si se ofreciera como servicio a terceros. Uso interno de planta: sin obligación. Si aun así incomoda, se sustituye por almacenamiento en disco sin tocar el resto.</a:t>
            </a:r>
            <a:endParaRPr lang="en-US" sz="950" dirty="0"/>
          </a:p>
        </p:txBody>
      </p:sp>
      <p:sp>
        <p:nvSpPr>
          <p:cNvPr id="70" name="Text 68"/>
          <p:cNvSpPr/>
          <p:nvPr/>
        </p:nvSpPr>
        <p:spPr>
          <a:xfrm>
            <a:off x="566928" y="5943600"/>
            <a:ext cx="11027664" cy="365760"/>
          </a:xfrm>
          <a:prstGeom prst="rect">
            <a:avLst/>
          </a:prstGeom>
          <a:noFill/>
          <a:ln/>
        </p:spPr>
        <p:txBody>
          <a:bodyPr wrap="square" lIns="0" tIns="0" rIns="0" bIns="0" rtlCol="0" anchor="ctr"/>
          <a:lstStyle/>
          <a:p>
            <a:pPr indent="0" marL="0">
              <a:buNone/>
            </a:pPr>
            <a:r>
              <a:rPr lang="en-US" sz="1150" b="1" dirty="0">
                <a:solidFill>
                  <a:srgbClr val="102A43"/>
                </a:solidFill>
                <a:latin typeface="Calibri" pitchFamily="34" charset="0"/>
                <a:ea typeface="Calibri" pitchFamily="34" charset="-122"/>
                <a:cs typeface="Calibri" pitchFamily="34" charset="-120"/>
              </a:rPr>
              <a:t>El único costo recurrente hoy es el hospedaje en la nube, y existe sólo para poder enseñarlo. Llevarlo a un servidor de Aceros elimina también ese.</a:t>
            </a:r>
            <a:endParaRPr lang="en-US" sz="1150" dirty="0"/>
          </a:p>
        </p:txBody>
      </p:sp>
      <p:sp>
        <p:nvSpPr>
          <p:cNvPr id="71" name="Text 69"/>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72" name="Text 70"/>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Cómo se sabe que esto funciona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El proyecto no se prueba a mano: se prueba solo, en cada cambio</a:t>
            </a:r>
            <a:endParaRPr lang="en-US" sz="1300" dirty="0"/>
          </a:p>
        </p:txBody>
      </p:sp>
      <p:sp>
        <p:nvSpPr>
          <p:cNvPr id="4" name="Shape 2"/>
          <p:cNvSpPr/>
          <p:nvPr/>
        </p:nvSpPr>
        <p:spPr>
          <a:xfrm>
            <a:off x="621792" y="1536192"/>
            <a:ext cx="2647188" cy="1691640"/>
          </a:xfrm>
          <a:prstGeom prst="roundRect">
            <a:avLst>
              <a:gd name="adj" fmla="val 32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5" name="Text 3"/>
          <p:cNvSpPr/>
          <p:nvPr/>
        </p:nvSpPr>
        <p:spPr>
          <a:xfrm>
            <a:off x="621792" y="1691640"/>
            <a:ext cx="2647188" cy="685800"/>
          </a:xfrm>
          <a:prstGeom prst="rect">
            <a:avLst/>
          </a:prstGeom>
          <a:noFill/>
          <a:ln/>
        </p:spPr>
        <p:txBody>
          <a:bodyPr wrap="square" lIns="0" tIns="0" rIns="0" bIns="0" rtlCol="0" anchor="ctr"/>
          <a:lstStyle/>
          <a:p>
            <a:pPr algn="ctr" indent="0" marL="0">
              <a:buNone/>
            </a:pPr>
            <a:r>
              <a:rPr lang="en-US" sz="4000" b="1" dirty="0">
                <a:solidFill>
                  <a:srgbClr val="102A43"/>
                </a:solidFill>
                <a:latin typeface="Cambria" pitchFamily="34" charset="0"/>
                <a:ea typeface="Cambria" pitchFamily="34" charset="-122"/>
                <a:cs typeface="Cambria" pitchFamily="34" charset="-120"/>
              </a:rPr>
              <a:t>803</a:t>
            </a:r>
            <a:endParaRPr lang="en-US" sz="4000" dirty="0"/>
          </a:p>
        </p:txBody>
      </p:sp>
      <p:sp>
        <p:nvSpPr>
          <p:cNvPr id="6" name="Text 4"/>
          <p:cNvSpPr/>
          <p:nvPr/>
        </p:nvSpPr>
        <p:spPr>
          <a:xfrm>
            <a:off x="713232" y="2395728"/>
            <a:ext cx="2464308" cy="292608"/>
          </a:xfrm>
          <a:prstGeom prst="rect">
            <a:avLst/>
          </a:prstGeom>
          <a:noFill/>
          <a:ln/>
        </p:spPr>
        <p:txBody>
          <a:bodyPr wrap="square" lIns="0" tIns="0" rIns="0" bIns="0" rtlCol="0" anchor="ctr"/>
          <a:lstStyle/>
          <a:p>
            <a:pPr algn="ctr" indent="0" marL="0">
              <a:buNone/>
            </a:pPr>
            <a:r>
              <a:rPr lang="en-US" sz="1200" b="1" dirty="0">
                <a:solidFill>
                  <a:srgbClr val="486581"/>
                </a:solidFill>
                <a:latin typeface="Calibri" pitchFamily="34" charset="0"/>
                <a:ea typeface="Calibri" pitchFamily="34" charset="-122"/>
                <a:cs typeface="Calibri" pitchFamily="34" charset="-120"/>
              </a:rPr>
              <a:t>pruebas automáticas</a:t>
            </a:r>
            <a:endParaRPr lang="en-US" sz="1200" dirty="0"/>
          </a:p>
        </p:txBody>
      </p:sp>
      <p:sp>
        <p:nvSpPr>
          <p:cNvPr id="7" name="Text 5"/>
          <p:cNvSpPr/>
          <p:nvPr/>
        </p:nvSpPr>
        <p:spPr>
          <a:xfrm>
            <a:off x="713232" y="2688336"/>
            <a:ext cx="2464308" cy="457200"/>
          </a:xfrm>
          <a:prstGeom prst="rect">
            <a:avLst/>
          </a:prstGeom>
          <a:noFill/>
          <a:ln/>
        </p:spPr>
        <p:txBody>
          <a:bodyPr wrap="square" lIns="0" tIns="0" rIns="0" bIns="0" rtlCol="0" anchor="ctr"/>
          <a:lstStyle/>
          <a:p>
            <a:pPr algn="ctr" indent="0" marL="0">
              <a:buNone/>
            </a:pPr>
            <a:r>
              <a:rPr lang="en-US" sz="950" dirty="0">
                <a:solidFill>
                  <a:srgbClr val="829AB1"/>
                </a:solidFill>
                <a:latin typeface="Calibri" pitchFamily="34" charset="0"/>
                <a:ea typeface="Calibri" pitchFamily="34" charset="-122"/>
                <a:cs typeface="Calibri" pitchFamily="34" charset="-120"/>
              </a:rPr>
              <a:t>49 conjuntos, todos en verde</a:t>
            </a:r>
            <a:endParaRPr lang="en-US" sz="950" dirty="0"/>
          </a:p>
        </p:txBody>
      </p:sp>
      <p:sp>
        <p:nvSpPr>
          <p:cNvPr id="8" name="Shape 6"/>
          <p:cNvSpPr/>
          <p:nvPr/>
        </p:nvSpPr>
        <p:spPr>
          <a:xfrm>
            <a:off x="3378708" y="1536192"/>
            <a:ext cx="2647188" cy="1691640"/>
          </a:xfrm>
          <a:prstGeom prst="roundRect">
            <a:avLst>
              <a:gd name="adj" fmla="val 32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9" name="Text 7"/>
          <p:cNvSpPr/>
          <p:nvPr/>
        </p:nvSpPr>
        <p:spPr>
          <a:xfrm>
            <a:off x="3378708" y="1691640"/>
            <a:ext cx="2647188" cy="685800"/>
          </a:xfrm>
          <a:prstGeom prst="rect">
            <a:avLst/>
          </a:prstGeom>
          <a:noFill/>
          <a:ln/>
        </p:spPr>
        <p:txBody>
          <a:bodyPr wrap="square" lIns="0" tIns="0" rIns="0" bIns="0" rtlCol="0" anchor="ctr"/>
          <a:lstStyle/>
          <a:p>
            <a:pPr algn="ctr" indent="0" marL="0">
              <a:buNone/>
            </a:pPr>
            <a:r>
              <a:rPr lang="en-US" sz="4000" b="1" dirty="0">
                <a:solidFill>
                  <a:srgbClr val="102A43"/>
                </a:solidFill>
                <a:latin typeface="Cambria" pitchFamily="34" charset="0"/>
                <a:ea typeface="Cambria" pitchFamily="34" charset="-122"/>
                <a:cs typeface="Cambria" pitchFamily="34" charset="-120"/>
              </a:rPr>
              <a:t>19</a:t>
            </a:r>
            <a:endParaRPr lang="en-US" sz="4000" dirty="0"/>
          </a:p>
        </p:txBody>
      </p:sp>
      <p:sp>
        <p:nvSpPr>
          <p:cNvPr id="10" name="Text 8"/>
          <p:cNvSpPr/>
          <p:nvPr/>
        </p:nvSpPr>
        <p:spPr>
          <a:xfrm>
            <a:off x="3470148" y="2395728"/>
            <a:ext cx="2464308" cy="292608"/>
          </a:xfrm>
          <a:prstGeom prst="rect">
            <a:avLst/>
          </a:prstGeom>
          <a:noFill/>
          <a:ln/>
        </p:spPr>
        <p:txBody>
          <a:bodyPr wrap="square" lIns="0" tIns="0" rIns="0" bIns="0" rtlCol="0" anchor="ctr"/>
          <a:lstStyle/>
          <a:p>
            <a:pPr algn="ctr" indent="0" marL="0">
              <a:buNone/>
            </a:pPr>
            <a:r>
              <a:rPr lang="en-US" sz="1200" b="1" dirty="0">
                <a:solidFill>
                  <a:srgbClr val="486581"/>
                </a:solidFill>
                <a:latin typeface="Calibri" pitchFamily="34" charset="0"/>
                <a:ea typeface="Calibri" pitchFamily="34" charset="-122"/>
                <a:cs typeface="Calibri" pitchFamily="34" charset="-120"/>
              </a:rPr>
              <a:t>verificadores propios</a:t>
            </a:r>
            <a:endParaRPr lang="en-US" sz="1200" dirty="0"/>
          </a:p>
        </p:txBody>
      </p:sp>
      <p:sp>
        <p:nvSpPr>
          <p:cNvPr id="11" name="Text 9"/>
          <p:cNvSpPr/>
          <p:nvPr/>
        </p:nvSpPr>
        <p:spPr>
          <a:xfrm>
            <a:off x="3470148" y="2688336"/>
            <a:ext cx="2464308" cy="457200"/>
          </a:xfrm>
          <a:prstGeom prst="rect">
            <a:avLst/>
          </a:prstGeom>
          <a:noFill/>
          <a:ln/>
        </p:spPr>
        <p:txBody>
          <a:bodyPr wrap="square" lIns="0" tIns="0" rIns="0" bIns="0" rtlCol="0" anchor="ctr"/>
          <a:lstStyle/>
          <a:p>
            <a:pPr algn="ctr" indent="0" marL="0">
              <a:buNone/>
            </a:pPr>
            <a:r>
              <a:rPr lang="en-US" sz="950" dirty="0">
                <a:solidFill>
                  <a:srgbClr val="829AB1"/>
                </a:solidFill>
                <a:latin typeface="Calibri" pitchFamily="34" charset="0"/>
                <a:ea typeface="Calibri" pitchFamily="34" charset="-122"/>
                <a:cs typeface="Calibri" pitchFamily="34" charset="-120"/>
              </a:rPr>
              <a:t>cada uno nació de un fallo real</a:t>
            </a:r>
            <a:endParaRPr lang="en-US" sz="950" dirty="0"/>
          </a:p>
        </p:txBody>
      </p:sp>
      <p:sp>
        <p:nvSpPr>
          <p:cNvPr id="12" name="Shape 10"/>
          <p:cNvSpPr/>
          <p:nvPr/>
        </p:nvSpPr>
        <p:spPr>
          <a:xfrm>
            <a:off x="6135624" y="1536192"/>
            <a:ext cx="2647188" cy="1691640"/>
          </a:xfrm>
          <a:prstGeom prst="roundRect">
            <a:avLst>
              <a:gd name="adj" fmla="val 32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3" name="Text 11"/>
          <p:cNvSpPr/>
          <p:nvPr/>
        </p:nvSpPr>
        <p:spPr>
          <a:xfrm>
            <a:off x="6135624" y="1691640"/>
            <a:ext cx="2647188" cy="685800"/>
          </a:xfrm>
          <a:prstGeom prst="rect">
            <a:avLst/>
          </a:prstGeom>
          <a:noFill/>
          <a:ln/>
        </p:spPr>
        <p:txBody>
          <a:bodyPr wrap="square" lIns="0" tIns="0" rIns="0" bIns="0" rtlCol="0" anchor="ctr"/>
          <a:lstStyle/>
          <a:p>
            <a:pPr algn="ctr" indent="0" marL="0">
              <a:buNone/>
            </a:pPr>
            <a:r>
              <a:rPr lang="en-US" sz="4000" b="1" dirty="0">
                <a:solidFill>
                  <a:srgbClr val="102A43"/>
                </a:solidFill>
                <a:latin typeface="Cambria" pitchFamily="34" charset="0"/>
                <a:ea typeface="Cambria" pitchFamily="34" charset="-122"/>
                <a:cs typeface="Cambria" pitchFamily="34" charset="-120"/>
              </a:rPr>
              <a:t>38</a:t>
            </a:r>
            <a:endParaRPr lang="en-US" sz="4000" dirty="0"/>
          </a:p>
        </p:txBody>
      </p:sp>
      <p:sp>
        <p:nvSpPr>
          <p:cNvPr id="14" name="Text 12"/>
          <p:cNvSpPr/>
          <p:nvPr/>
        </p:nvSpPr>
        <p:spPr>
          <a:xfrm>
            <a:off x="6227064" y="2395728"/>
            <a:ext cx="2464308" cy="292608"/>
          </a:xfrm>
          <a:prstGeom prst="rect">
            <a:avLst/>
          </a:prstGeom>
          <a:noFill/>
          <a:ln/>
        </p:spPr>
        <p:txBody>
          <a:bodyPr wrap="square" lIns="0" tIns="0" rIns="0" bIns="0" rtlCol="0" anchor="ctr"/>
          <a:lstStyle/>
          <a:p>
            <a:pPr algn="ctr" indent="0" marL="0">
              <a:buNone/>
            </a:pPr>
            <a:r>
              <a:rPr lang="en-US" sz="1200" b="1" dirty="0">
                <a:solidFill>
                  <a:srgbClr val="486581"/>
                </a:solidFill>
                <a:latin typeface="Calibri" pitchFamily="34" charset="0"/>
                <a:ea typeface="Calibri" pitchFamily="34" charset="-122"/>
                <a:cs typeface="Calibri" pitchFamily="34" charset="-120"/>
              </a:rPr>
              <a:t>migraciones</a:t>
            </a:r>
            <a:endParaRPr lang="en-US" sz="1200" dirty="0"/>
          </a:p>
        </p:txBody>
      </p:sp>
      <p:sp>
        <p:nvSpPr>
          <p:cNvPr id="15" name="Text 13"/>
          <p:cNvSpPr/>
          <p:nvPr/>
        </p:nvSpPr>
        <p:spPr>
          <a:xfrm>
            <a:off x="6227064" y="2688336"/>
            <a:ext cx="2464308" cy="457200"/>
          </a:xfrm>
          <a:prstGeom prst="rect">
            <a:avLst/>
          </a:prstGeom>
          <a:noFill/>
          <a:ln/>
        </p:spPr>
        <p:txBody>
          <a:bodyPr wrap="square" lIns="0" tIns="0" rIns="0" bIns="0" rtlCol="0" anchor="ctr"/>
          <a:lstStyle/>
          <a:p>
            <a:pPr algn="ctr" indent="0" marL="0">
              <a:buNone/>
            </a:pPr>
            <a:r>
              <a:rPr lang="en-US" sz="950" dirty="0">
                <a:solidFill>
                  <a:srgbClr val="829AB1"/>
                </a:solidFill>
                <a:latin typeface="Calibri" pitchFamily="34" charset="0"/>
                <a:ea typeface="Calibri" pitchFamily="34" charset="-122"/>
                <a:cs typeface="Calibri" pitchFamily="34" charset="-120"/>
              </a:rPr>
              <a:t>ninguna borró un dato</a:t>
            </a:r>
            <a:endParaRPr lang="en-US" sz="950" dirty="0"/>
          </a:p>
        </p:txBody>
      </p:sp>
      <p:sp>
        <p:nvSpPr>
          <p:cNvPr id="16" name="Shape 14"/>
          <p:cNvSpPr/>
          <p:nvPr/>
        </p:nvSpPr>
        <p:spPr>
          <a:xfrm>
            <a:off x="8892540" y="1536192"/>
            <a:ext cx="2647188" cy="1691640"/>
          </a:xfrm>
          <a:prstGeom prst="roundRect">
            <a:avLst>
              <a:gd name="adj" fmla="val 3243"/>
            </a:avLst>
          </a:prstGeom>
          <a:solidFill>
            <a:srgbClr val="FFFFFF"/>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17" name="Text 15"/>
          <p:cNvSpPr/>
          <p:nvPr/>
        </p:nvSpPr>
        <p:spPr>
          <a:xfrm>
            <a:off x="8892540" y="1691640"/>
            <a:ext cx="2647188" cy="685800"/>
          </a:xfrm>
          <a:prstGeom prst="rect">
            <a:avLst/>
          </a:prstGeom>
          <a:noFill/>
          <a:ln/>
        </p:spPr>
        <p:txBody>
          <a:bodyPr wrap="square" lIns="0" tIns="0" rIns="0" bIns="0" rtlCol="0" anchor="ctr"/>
          <a:lstStyle/>
          <a:p>
            <a:pPr algn="ctr" indent="0" marL="0">
              <a:buNone/>
            </a:pPr>
            <a:r>
              <a:rPr lang="en-US" sz="4000" b="1" dirty="0">
                <a:solidFill>
                  <a:srgbClr val="102A43"/>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8983980" y="2395728"/>
            <a:ext cx="2464308" cy="292608"/>
          </a:xfrm>
          <a:prstGeom prst="rect">
            <a:avLst/>
          </a:prstGeom>
          <a:noFill/>
          <a:ln/>
        </p:spPr>
        <p:txBody>
          <a:bodyPr wrap="square" lIns="0" tIns="0" rIns="0" bIns="0" rtlCol="0" anchor="ctr"/>
          <a:lstStyle/>
          <a:p>
            <a:pPr algn="ctr" indent="0" marL="0">
              <a:buNone/>
            </a:pPr>
            <a:r>
              <a:rPr lang="en-US" sz="1200" b="1" dirty="0">
                <a:solidFill>
                  <a:srgbClr val="486581"/>
                </a:solidFill>
                <a:latin typeface="Calibri" pitchFamily="34" charset="0"/>
                <a:ea typeface="Calibri" pitchFamily="34" charset="-122"/>
                <a:cs typeface="Calibri" pitchFamily="34" charset="-120"/>
              </a:rPr>
              <a:t>datos inventados</a:t>
            </a:r>
            <a:endParaRPr lang="en-US" sz="1200" dirty="0"/>
          </a:p>
        </p:txBody>
      </p:sp>
      <p:sp>
        <p:nvSpPr>
          <p:cNvPr id="19" name="Text 17"/>
          <p:cNvSpPr/>
          <p:nvPr/>
        </p:nvSpPr>
        <p:spPr>
          <a:xfrm>
            <a:off x="8983980" y="2688336"/>
            <a:ext cx="2464308" cy="457200"/>
          </a:xfrm>
          <a:prstGeom prst="rect">
            <a:avLst/>
          </a:prstGeom>
          <a:noFill/>
          <a:ln/>
        </p:spPr>
        <p:txBody>
          <a:bodyPr wrap="square" lIns="0" tIns="0" rIns="0" bIns="0" rtlCol="0" anchor="ctr"/>
          <a:lstStyle/>
          <a:p>
            <a:pPr algn="ctr" indent="0" marL="0">
              <a:buNone/>
            </a:pPr>
            <a:r>
              <a:rPr lang="en-US" sz="950" dirty="0">
                <a:solidFill>
                  <a:srgbClr val="829AB1"/>
                </a:solidFill>
                <a:latin typeface="Calibri" pitchFamily="34" charset="0"/>
                <a:ea typeface="Calibri" pitchFamily="34" charset="-122"/>
                <a:cs typeface="Calibri" pitchFamily="34" charset="-120"/>
              </a:rPr>
              <a:t>si falta un dato, se avisa; nunca se rellena</a:t>
            </a:r>
            <a:endParaRPr lang="en-US" sz="950" dirty="0"/>
          </a:p>
        </p:txBody>
      </p:sp>
      <p:sp>
        <p:nvSpPr>
          <p:cNvPr id="20" name="Shape 18"/>
          <p:cNvSpPr/>
          <p:nvPr/>
        </p:nvSpPr>
        <p:spPr>
          <a:xfrm>
            <a:off x="566928" y="3456432"/>
            <a:ext cx="11027664" cy="2240280"/>
          </a:xfrm>
          <a:prstGeom prst="roundRect">
            <a:avLst>
              <a:gd name="adj" fmla="val 2449"/>
            </a:avLst>
          </a:prstGeom>
          <a:solidFill>
            <a:srgbClr val="F0F4F8"/>
          </a:solidFill>
          <a:ln w="12700">
            <a:solidFill>
              <a:srgbClr val="D9E2EC"/>
            </a:solidFill>
            <a:prstDash val="solid"/>
          </a:ln>
          <a:effectLst>
            <a:outerShdw sx="100000" sy="100000" kx="0" ky="0" algn="bl" rotWithShape="0" blurRad="76200" dist="12700" dir="5400000">
              <a:srgbClr val="8A99A8">
                <a:alpha val="10000"/>
              </a:srgbClr>
            </a:outerShdw>
          </a:effectLst>
        </p:spPr>
      </p:sp>
      <p:sp>
        <p:nvSpPr>
          <p:cNvPr id="21" name="Text 19"/>
          <p:cNvSpPr/>
          <p:nvPr/>
        </p:nvSpPr>
        <p:spPr>
          <a:xfrm>
            <a:off x="859536" y="3621024"/>
            <a:ext cx="10442448" cy="329184"/>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Seis fallos silenciosos encontrados y cerrados por esos verificadores</a:t>
            </a:r>
            <a:endParaRPr lang="en-US" sz="1400" dirty="0"/>
          </a:p>
        </p:txBody>
      </p:sp>
      <p:sp>
        <p:nvSpPr>
          <p:cNvPr id="22" name="Text 20"/>
          <p:cNvSpPr/>
          <p:nvPr/>
        </p:nvSpPr>
        <p:spPr>
          <a:xfrm>
            <a:off x="859536" y="4041648"/>
            <a:ext cx="10442448" cy="157276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Un índice de base de datos que habría impedido cualquier despliegue nuevo.</a:t>
            </a:r>
            <a:endParaRPr lang="en-US" sz="1150" dirty="0"/>
          </a:p>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Un diálogo que nunca podía guardar, porque se contradecía consigo mismo en pantalla.</a:t>
            </a:r>
            <a:endParaRPr lang="en-US" sz="1150" dirty="0"/>
          </a:p>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Un contador que decía «2 de 6» y al lado «100 %».</a:t>
            </a:r>
            <a:endParaRPr lang="en-US" sz="1150" dirty="0"/>
          </a:p>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Una comprobación que confundía el Tren 1 con el Tren 10.</a:t>
            </a:r>
            <a:endParaRPr lang="en-US" sz="1150" dirty="0"/>
          </a:p>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Un contenedor marcado como enfermo para siempre, sin que nadie lo notara.</a:t>
            </a:r>
            <a:endParaRPr lang="en-US" sz="1150" dirty="0"/>
          </a:p>
          <a:p>
            <a:pPr marL="342900" indent="-342900">
              <a:spcAft>
                <a:spcPts val="300"/>
              </a:spcAft>
              <a:buSzPct val="100000"/>
              <a:buChar char="•"/>
            </a:pPr>
            <a:r>
              <a:rPr lang="en-US" sz="1150" dirty="0">
                <a:solidFill>
                  <a:srgbClr val="486581"/>
                </a:solidFill>
                <a:latin typeface="Calibri" pitchFamily="34" charset="0"/>
                <a:ea typeface="Calibri" pitchFamily="34" charset="-122"/>
                <a:cs typeface="Calibri" pitchFamily="34" charset="-120"/>
              </a:rPr>
              <a:t>Cuarenta y cuatro avisos de error que ningún lector de pantalla anunciaba.</a:t>
            </a:r>
            <a:endParaRPr lang="en-US" sz="1150" dirty="0"/>
          </a:p>
        </p:txBody>
      </p:sp>
      <p:sp>
        <p:nvSpPr>
          <p:cNvPr id="23" name="Text 21"/>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4" name="Text 22"/>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11027664" cy="566928"/>
          </a:xfrm>
          <a:prstGeom prst="rect">
            <a:avLst/>
          </a:prstGeom>
          <a:noFill/>
          <a:ln/>
        </p:spPr>
        <p:txBody>
          <a:bodyPr wrap="square" lIns="0" tIns="0" rIns="0" bIns="0" rtlCol="0" anchor="ctr"/>
          <a:lstStyle/>
          <a:p>
            <a:pPr indent="0" marL="0">
              <a:buNone/>
            </a:pPr>
            <a:r>
              <a:rPr lang="en-US" sz="3100" b="1" dirty="0">
                <a:solidFill>
                  <a:srgbClr val="102A43"/>
                </a:solidFill>
                <a:latin typeface="Cambria" pitchFamily="34" charset="0"/>
                <a:ea typeface="Cambria" pitchFamily="34" charset="-122"/>
                <a:cs typeface="Cambria" pitchFamily="34" charset="-120"/>
              </a:rPr>
              <a:t>Hoja de ruta</a:t>
            </a:r>
            <a:endParaRPr lang="en-US" sz="3100" dirty="0"/>
          </a:p>
        </p:txBody>
      </p:sp>
      <p:sp>
        <p:nvSpPr>
          <p:cNvPr id="3" name="Text 1"/>
          <p:cNvSpPr/>
          <p:nvPr/>
        </p:nvSpPr>
        <p:spPr>
          <a:xfrm>
            <a:off x="566928" y="969264"/>
            <a:ext cx="11027664" cy="329184"/>
          </a:xfrm>
          <a:prstGeom prst="rect">
            <a:avLst/>
          </a:prstGeom>
          <a:noFill/>
          <a:ln/>
        </p:spPr>
        <p:txBody>
          <a:bodyPr wrap="square" lIns="0" tIns="0" rIns="0" bIns="0" rtlCol="0" anchor="ctr"/>
          <a:lstStyle/>
          <a:p>
            <a:pPr indent="0" marL="0">
              <a:buNone/>
            </a:pPr>
            <a:r>
              <a:rPr lang="en-US" sz="1300" dirty="0">
                <a:solidFill>
                  <a:srgbClr val="486581"/>
                </a:solidFill>
                <a:latin typeface="Calibri" pitchFamily="34" charset="0"/>
                <a:ea typeface="Calibri" pitchFamily="34" charset="-122"/>
                <a:cs typeface="Calibri" pitchFamily="34" charset="-120"/>
              </a:rPr>
              <a:t>Qué se puede tener y cuándo, si hay acceso y datos</a:t>
            </a:r>
            <a:endParaRPr lang="en-US" sz="1300" dirty="0"/>
          </a:p>
        </p:txBody>
      </p:sp>
      <p:sp>
        <p:nvSpPr>
          <p:cNvPr id="4" name="Shape 2"/>
          <p:cNvSpPr/>
          <p:nvPr/>
        </p:nvSpPr>
        <p:spPr>
          <a:xfrm>
            <a:off x="1938528" y="2084832"/>
            <a:ext cx="32004" cy="3840480"/>
          </a:xfrm>
          <a:prstGeom prst="rect">
            <a:avLst/>
          </a:prstGeom>
          <a:solidFill>
            <a:srgbClr val="D9E2EC"/>
          </a:solidFill>
          <a:ln w="12700">
            <a:solidFill>
              <a:srgbClr val="D9E2EC"/>
            </a:solidFill>
            <a:prstDash val="solid"/>
          </a:ln>
        </p:spPr>
      </p:sp>
      <p:sp>
        <p:nvSpPr>
          <p:cNvPr id="5" name="Text 3"/>
          <p:cNvSpPr/>
          <p:nvPr/>
        </p:nvSpPr>
        <p:spPr>
          <a:xfrm>
            <a:off x="566928" y="1920240"/>
            <a:ext cx="1207008" cy="365760"/>
          </a:xfrm>
          <a:prstGeom prst="rect">
            <a:avLst/>
          </a:prstGeom>
          <a:noFill/>
          <a:ln/>
        </p:spPr>
        <p:txBody>
          <a:bodyPr wrap="square" lIns="0" tIns="0" rIns="0" bIns="0" rtlCol="0" anchor="ctr"/>
          <a:lstStyle/>
          <a:p>
            <a:pPr algn="r" indent="0" marL="0">
              <a:buNone/>
            </a:pPr>
            <a:r>
              <a:rPr lang="en-US" sz="1250" b="1" dirty="0">
                <a:solidFill>
                  <a:srgbClr val="0F7B4F"/>
                </a:solidFill>
                <a:latin typeface="Calibri" pitchFamily="34" charset="0"/>
                <a:ea typeface="Calibri" pitchFamily="34" charset="-122"/>
                <a:cs typeface="Calibri" pitchFamily="34" charset="-120"/>
              </a:rPr>
              <a:t>Ahora</a:t>
            </a:r>
            <a:endParaRPr lang="en-US" sz="1250" dirty="0"/>
          </a:p>
        </p:txBody>
      </p:sp>
      <p:sp>
        <p:nvSpPr>
          <p:cNvPr id="6" name="Shape 4"/>
          <p:cNvSpPr/>
          <p:nvPr/>
        </p:nvSpPr>
        <p:spPr>
          <a:xfrm>
            <a:off x="1865376" y="2002536"/>
            <a:ext cx="182880" cy="182880"/>
          </a:xfrm>
          <a:prstGeom prst="ellipse">
            <a:avLst/>
          </a:prstGeom>
          <a:solidFill>
            <a:srgbClr val="0F7B4F"/>
          </a:solidFill>
          <a:ln w="25400">
            <a:solidFill>
              <a:srgbClr val="FFFFFF"/>
            </a:solidFill>
            <a:prstDash val="solid"/>
          </a:ln>
        </p:spPr>
      </p:sp>
      <p:sp>
        <p:nvSpPr>
          <p:cNvPr id="7" name="Text 5"/>
          <p:cNvSpPr/>
          <p:nvPr/>
        </p:nvSpPr>
        <p:spPr>
          <a:xfrm>
            <a:off x="2258568" y="1901952"/>
            <a:ext cx="9217152" cy="658368"/>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Sistema desplegado, en línea y probado. Producción puede entrar hoy a mirar.</a:t>
            </a:r>
            <a:endParaRPr lang="en-US" sz="1200" dirty="0"/>
          </a:p>
        </p:txBody>
      </p:sp>
      <p:sp>
        <p:nvSpPr>
          <p:cNvPr id="8" name="Text 6"/>
          <p:cNvSpPr/>
          <p:nvPr/>
        </p:nvSpPr>
        <p:spPr>
          <a:xfrm>
            <a:off x="566928" y="2724912"/>
            <a:ext cx="1207008" cy="365760"/>
          </a:xfrm>
          <a:prstGeom prst="rect">
            <a:avLst/>
          </a:prstGeom>
          <a:noFill/>
          <a:ln/>
        </p:spPr>
        <p:txBody>
          <a:bodyPr wrap="square" lIns="0" tIns="0" rIns="0" bIns="0" rtlCol="0" anchor="ctr"/>
          <a:lstStyle/>
          <a:p>
            <a:pPr algn="r" indent="0" marL="0">
              <a:buNone/>
            </a:pPr>
            <a:r>
              <a:rPr lang="en-US" sz="1250" b="1" dirty="0">
                <a:solidFill>
                  <a:srgbClr val="D97706"/>
                </a:solidFill>
                <a:latin typeface="Calibri" pitchFamily="34" charset="0"/>
                <a:ea typeface="Calibri" pitchFamily="34" charset="-122"/>
                <a:cs typeface="Calibri" pitchFamily="34" charset="-120"/>
              </a:rPr>
              <a:t>2 semanas</a:t>
            </a:r>
            <a:endParaRPr lang="en-US" sz="1250" dirty="0"/>
          </a:p>
        </p:txBody>
      </p:sp>
      <p:sp>
        <p:nvSpPr>
          <p:cNvPr id="9" name="Shape 7"/>
          <p:cNvSpPr/>
          <p:nvPr/>
        </p:nvSpPr>
        <p:spPr>
          <a:xfrm>
            <a:off x="1865376" y="2807208"/>
            <a:ext cx="182880" cy="182880"/>
          </a:xfrm>
          <a:prstGeom prst="ellipse">
            <a:avLst/>
          </a:prstGeom>
          <a:solidFill>
            <a:srgbClr val="D97706"/>
          </a:solidFill>
          <a:ln w="25400">
            <a:solidFill>
              <a:srgbClr val="FFFFFF"/>
            </a:solidFill>
            <a:prstDash val="solid"/>
          </a:ln>
        </p:spPr>
      </p:sp>
      <p:sp>
        <p:nvSpPr>
          <p:cNvPr id="10" name="Text 8"/>
          <p:cNvSpPr/>
          <p:nvPr/>
        </p:nvSpPr>
        <p:spPr>
          <a:xfrm>
            <a:off x="2258568" y="2706624"/>
            <a:ext cx="9217152" cy="658368"/>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Agente de monitoreo instalado y activos reales cargados. Las pantallas empiezan a decir la verdad de la planta.</a:t>
            </a:r>
            <a:endParaRPr lang="en-US" sz="1200" dirty="0"/>
          </a:p>
        </p:txBody>
      </p:sp>
      <p:sp>
        <p:nvSpPr>
          <p:cNvPr id="11" name="Text 9"/>
          <p:cNvSpPr/>
          <p:nvPr/>
        </p:nvSpPr>
        <p:spPr>
          <a:xfrm>
            <a:off x="566928" y="3529584"/>
            <a:ext cx="1207008" cy="365760"/>
          </a:xfrm>
          <a:prstGeom prst="rect">
            <a:avLst/>
          </a:prstGeom>
          <a:noFill/>
          <a:ln/>
        </p:spPr>
        <p:txBody>
          <a:bodyPr wrap="square" lIns="0" tIns="0" rIns="0" bIns="0" rtlCol="0" anchor="ctr"/>
          <a:lstStyle/>
          <a:p>
            <a:pPr algn="r" indent="0" marL="0">
              <a:buNone/>
            </a:pPr>
            <a:r>
              <a:rPr lang="en-US" sz="1250" b="1" dirty="0">
                <a:solidFill>
                  <a:srgbClr val="D97706"/>
                </a:solidFill>
                <a:latin typeface="Calibri" pitchFamily="34" charset="0"/>
                <a:ea typeface="Calibri" pitchFamily="34" charset="-122"/>
                <a:cs typeface="Calibri" pitchFamily="34" charset="-120"/>
              </a:rPr>
              <a:t>1 mes</a:t>
            </a:r>
            <a:endParaRPr lang="en-US" sz="1250" dirty="0"/>
          </a:p>
        </p:txBody>
      </p:sp>
      <p:sp>
        <p:nvSpPr>
          <p:cNvPr id="12" name="Shape 10"/>
          <p:cNvSpPr/>
          <p:nvPr/>
        </p:nvSpPr>
        <p:spPr>
          <a:xfrm>
            <a:off x="1865376" y="3611880"/>
            <a:ext cx="182880" cy="182880"/>
          </a:xfrm>
          <a:prstGeom prst="ellipse">
            <a:avLst/>
          </a:prstGeom>
          <a:solidFill>
            <a:srgbClr val="D97706"/>
          </a:solidFill>
          <a:ln w="25400">
            <a:solidFill>
              <a:srgbClr val="FFFFFF"/>
            </a:solidFill>
            <a:prstDash val="solid"/>
          </a:ln>
        </p:spPr>
      </p:sp>
      <p:sp>
        <p:nvSpPr>
          <p:cNvPr id="13" name="Text 11"/>
          <p:cNvSpPr/>
          <p:nvPr/>
        </p:nvSpPr>
        <p:spPr>
          <a:xfrm>
            <a:off x="2258568" y="3511296"/>
            <a:ext cx="9217152" cy="658368"/>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Primer número medido: horas sin visión por tren. El indicador que hoy no existe.</a:t>
            </a:r>
            <a:endParaRPr lang="en-US" sz="1200" dirty="0"/>
          </a:p>
        </p:txBody>
      </p:sp>
      <p:sp>
        <p:nvSpPr>
          <p:cNvPr id="14" name="Text 12"/>
          <p:cNvSpPr/>
          <p:nvPr/>
        </p:nvSpPr>
        <p:spPr>
          <a:xfrm>
            <a:off x="566928" y="4334256"/>
            <a:ext cx="1207008" cy="365760"/>
          </a:xfrm>
          <a:prstGeom prst="rect">
            <a:avLst/>
          </a:prstGeom>
          <a:noFill/>
          <a:ln/>
        </p:spPr>
        <p:txBody>
          <a:bodyPr wrap="square" lIns="0" tIns="0" rIns="0" bIns="0" rtlCol="0" anchor="ctr"/>
          <a:lstStyle/>
          <a:p>
            <a:pPr algn="r" indent="0" marL="0">
              <a:buNone/>
            </a:pPr>
            <a:r>
              <a:rPr lang="en-US" sz="1250" b="1" dirty="0">
                <a:solidFill>
                  <a:srgbClr val="486581"/>
                </a:solidFill>
                <a:latin typeface="Calibri" pitchFamily="34" charset="0"/>
                <a:ea typeface="Calibri" pitchFamily="34" charset="-122"/>
                <a:cs typeface="Calibri" pitchFamily="34" charset="-120"/>
              </a:rPr>
              <a:t>2 meses</a:t>
            </a:r>
            <a:endParaRPr lang="en-US" sz="1250" dirty="0"/>
          </a:p>
        </p:txBody>
      </p:sp>
      <p:sp>
        <p:nvSpPr>
          <p:cNvPr id="15" name="Shape 13"/>
          <p:cNvSpPr/>
          <p:nvPr/>
        </p:nvSpPr>
        <p:spPr>
          <a:xfrm>
            <a:off x="1865376" y="4416552"/>
            <a:ext cx="182880" cy="182880"/>
          </a:xfrm>
          <a:prstGeom prst="ellipse">
            <a:avLst/>
          </a:prstGeom>
          <a:solidFill>
            <a:srgbClr val="486581"/>
          </a:solidFill>
          <a:ln w="25400">
            <a:solidFill>
              <a:srgbClr val="FFFFFF"/>
            </a:solidFill>
            <a:prstDash val="solid"/>
          </a:ln>
        </p:spPr>
      </p:sp>
      <p:sp>
        <p:nvSpPr>
          <p:cNvPr id="16" name="Text 14"/>
          <p:cNvSpPr/>
          <p:nvPr/>
        </p:nvSpPr>
        <p:spPr>
          <a:xfrm>
            <a:off x="2258568" y="4315968"/>
            <a:ext cx="9217152" cy="658368"/>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Módulos de instalación completos y analítica del mes. El ciclo cerrado de punta a punta.</a:t>
            </a:r>
            <a:endParaRPr lang="en-US" sz="1200" dirty="0"/>
          </a:p>
        </p:txBody>
      </p:sp>
      <p:sp>
        <p:nvSpPr>
          <p:cNvPr id="17" name="Text 15"/>
          <p:cNvSpPr/>
          <p:nvPr/>
        </p:nvSpPr>
        <p:spPr>
          <a:xfrm>
            <a:off x="566928" y="5138928"/>
            <a:ext cx="1207008" cy="365760"/>
          </a:xfrm>
          <a:prstGeom prst="rect">
            <a:avLst/>
          </a:prstGeom>
          <a:noFill/>
          <a:ln/>
        </p:spPr>
        <p:txBody>
          <a:bodyPr wrap="square" lIns="0" tIns="0" rIns="0" bIns="0" rtlCol="0" anchor="ctr"/>
          <a:lstStyle/>
          <a:p>
            <a:pPr algn="r" indent="0" marL="0">
              <a:buNone/>
            </a:pPr>
            <a:r>
              <a:rPr lang="en-US" sz="1250" b="1" dirty="0">
                <a:solidFill>
                  <a:srgbClr val="486581"/>
                </a:solidFill>
                <a:latin typeface="Calibri" pitchFamily="34" charset="0"/>
                <a:ea typeface="Calibri" pitchFamily="34" charset="-122"/>
                <a:cs typeface="Calibri" pitchFamily="34" charset="-120"/>
              </a:rPr>
              <a:t>3 meses</a:t>
            </a:r>
            <a:endParaRPr lang="en-US" sz="1250" dirty="0"/>
          </a:p>
        </p:txBody>
      </p:sp>
      <p:sp>
        <p:nvSpPr>
          <p:cNvPr id="18" name="Shape 16"/>
          <p:cNvSpPr/>
          <p:nvPr/>
        </p:nvSpPr>
        <p:spPr>
          <a:xfrm>
            <a:off x="1865376" y="5221224"/>
            <a:ext cx="182880" cy="182880"/>
          </a:xfrm>
          <a:prstGeom prst="ellipse">
            <a:avLst/>
          </a:prstGeom>
          <a:solidFill>
            <a:srgbClr val="486581"/>
          </a:solidFill>
          <a:ln w="25400">
            <a:solidFill>
              <a:srgbClr val="FFFFFF"/>
            </a:solidFill>
            <a:prstDash val="solid"/>
          </a:ln>
        </p:spPr>
      </p:sp>
      <p:sp>
        <p:nvSpPr>
          <p:cNvPr id="19" name="Text 17"/>
          <p:cNvSpPr/>
          <p:nvPr/>
        </p:nvSpPr>
        <p:spPr>
          <a:xfrm>
            <a:off x="2258568" y="5120640"/>
            <a:ext cx="9217152" cy="658368"/>
          </a:xfrm>
          <a:prstGeom prst="rect">
            <a:avLst/>
          </a:prstGeom>
          <a:noFill/>
          <a:ln/>
        </p:spPr>
        <p:txBody>
          <a:bodyPr wrap="square" lIns="0" tIns="0" rIns="0" bIns="0" rtlCol="0" anchor="ctr"/>
          <a:lstStyle/>
          <a:p>
            <a:pPr indent="0" marL="0">
              <a:buNone/>
            </a:pPr>
            <a:r>
              <a:rPr lang="en-US" sz="1200" dirty="0">
                <a:solidFill>
                  <a:srgbClr val="486581"/>
                </a:solidFill>
                <a:latin typeface="Calibri" pitchFamily="34" charset="0"/>
                <a:ea typeface="Calibri" pitchFamily="34" charset="-122"/>
                <a:cs typeface="Calibri" pitchFamily="34" charset="-120"/>
              </a:rPr>
              <a:t>Respaldo restaurado en simulacro, observabilidad y evaluación de traslado a servidor de Aceros.</a:t>
            </a:r>
            <a:endParaRPr lang="en-US" sz="1200" dirty="0"/>
          </a:p>
        </p:txBody>
      </p:sp>
      <p:sp>
        <p:nvSpPr>
          <p:cNvPr id="20" name="Text 18"/>
          <p:cNvSpPr/>
          <p:nvPr/>
        </p:nvSpPr>
        <p:spPr>
          <a:xfrm>
            <a:off x="566928" y="6473952"/>
            <a:ext cx="8229600" cy="237744"/>
          </a:xfrm>
          <a:prstGeom prst="rect">
            <a:avLst/>
          </a:prstGeom>
          <a:noFill/>
          <a:ln/>
        </p:spPr>
        <p:txBody>
          <a:bodyPr wrap="square" lIns="0" tIns="0" rIns="0" bIns="0" rtlCol="0" anchor="ctr"/>
          <a:lstStyle/>
          <a:p>
            <a:pPr indent="0" marL="0">
              <a:buNone/>
            </a:pPr>
            <a:r>
              <a:rPr lang="en-US" sz="900" dirty="0">
                <a:solidFill>
                  <a:srgbClr val="829AB1"/>
                </a:solidFill>
                <a:latin typeface="Calibri" pitchFamily="34" charset="0"/>
                <a:ea typeface="Calibri" pitchFamily="34" charset="-122"/>
                <a:cs typeface="Calibri" pitchFamily="34" charset="-120"/>
              </a:rPr>
              <a:t>SGIT-CCTV · Aceros Arequipa · Planta Pisco</a:t>
            </a:r>
            <a:endParaRPr lang="en-US" sz="900" dirty="0"/>
          </a:p>
        </p:txBody>
      </p:sp>
      <p:sp>
        <p:nvSpPr>
          <p:cNvPr id="21" name="Text 19"/>
          <p:cNvSpPr/>
          <p:nvPr/>
        </p:nvSpPr>
        <p:spPr>
          <a:xfrm>
            <a:off x="11045952" y="6473952"/>
            <a:ext cx="548640" cy="237744"/>
          </a:xfrm>
          <a:prstGeom prst="rect">
            <a:avLst/>
          </a:prstGeom>
          <a:noFill/>
          <a:ln/>
        </p:spPr>
        <p:txBody>
          <a:bodyPr wrap="square" lIns="0" tIns="0" rIns="0" bIns="0" rtlCol="0" anchor="ctr"/>
          <a:lstStyle/>
          <a:p>
            <a:pPr algn="r" indent="0" marL="0">
              <a:buNone/>
            </a:pPr>
            <a:r>
              <a:rPr lang="en-US" sz="1000" dirty="0">
                <a:solidFill>
                  <a:srgbClr val="829AB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566928" y="658368"/>
            <a:ext cx="11027664"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Lo que pido hoy</a:t>
            </a:r>
            <a:endParaRPr lang="en-US" sz="3400" dirty="0"/>
          </a:p>
        </p:txBody>
      </p:sp>
      <p:sp>
        <p:nvSpPr>
          <p:cNvPr id="3" name="Text 1"/>
          <p:cNvSpPr/>
          <p:nvPr/>
        </p:nvSpPr>
        <p:spPr>
          <a:xfrm>
            <a:off x="566928" y="1335024"/>
            <a:ext cx="11027664" cy="365760"/>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Nada de esto cuesta dinero. Los tres son decisiones y accesos.</a:t>
            </a:r>
            <a:endParaRPr lang="en-US" sz="1400" dirty="0"/>
          </a:p>
        </p:txBody>
      </p:sp>
      <p:sp>
        <p:nvSpPr>
          <p:cNvPr id="4" name="Shape 2"/>
          <p:cNvSpPr/>
          <p:nvPr/>
        </p:nvSpPr>
        <p:spPr>
          <a:xfrm>
            <a:off x="566928" y="2103120"/>
            <a:ext cx="11027664" cy="1078992"/>
          </a:xfrm>
          <a:prstGeom prst="roundRect">
            <a:avLst>
              <a:gd name="adj" fmla="val 5085"/>
            </a:avLst>
          </a:prstGeom>
          <a:solidFill>
            <a:srgbClr val="1B3A5C"/>
          </a:solidFill>
          <a:ln w="12700">
            <a:solidFill>
              <a:srgbClr val="2C4F73"/>
            </a:solidFill>
            <a:prstDash val="solid"/>
          </a:ln>
        </p:spPr>
      </p:sp>
      <p:sp>
        <p:nvSpPr>
          <p:cNvPr id="5" name="Shape 3"/>
          <p:cNvSpPr/>
          <p:nvPr/>
        </p:nvSpPr>
        <p:spPr>
          <a:xfrm>
            <a:off x="877824" y="2432304"/>
            <a:ext cx="420624" cy="420624"/>
          </a:xfrm>
          <a:prstGeom prst="ellipse">
            <a:avLst/>
          </a:prstGeom>
          <a:solidFill>
            <a:srgbClr val="D97706"/>
          </a:solidFill>
          <a:ln w="12700">
            <a:solidFill>
              <a:srgbClr val="D97706"/>
            </a:solidFill>
            <a:prstDash val="solid"/>
          </a:ln>
        </p:spPr>
      </p:sp>
      <p:sp>
        <p:nvSpPr>
          <p:cNvPr id="6" name="Text 4"/>
          <p:cNvSpPr/>
          <p:nvPr/>
        </p:nvSpPr>
        <p:spPr>
          <a:xfrm>
            <a:off x="877824" y="24323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81328" y="2249424"/>
            <a:ext cx="30175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Acceso de red</a:t>
            </a:r>
            <a:endParaRPr lang="en-US" sz="1500" dirty="0"/>
          </a:p>
        </p:txBody>
      </p:sp>
      <p:sp>
        <p:nvSpPr>
          <p:cNvPr id="8" name="Text 6"/>
          <p:cNvSpPr/>
          <p:nvPr/>
        </p:nvSpPr>
        <p:spPr>
          <a:xfrm>
            <a:off x="1481328" y="2615184"/>
            <a:ext cx="9747504" cy="502920"/>
          </a:xfrm>
          <a:prstGeom prst="rect">
            <a:avLst/>
          </a:prstGeom>
          <a:noFill/>
          <a:ln/>
        </p:spPr>
        <p:txBody>
          <a:bodyPr wrap="square" lIns="0" tIns="0" rIns="0" bIns="0" rtlCol="0" anchor="ctr"/>
          <a:lstStyle/>
          <a:p>
            <a:pPr indent="0" marL="0">
              <a:buNone/>
            </a:pPr>
            <a:r>
              <a:rPr lang="en-US" sz="1150" dirty="0">
                <a:solidFill>
                  <a:srgbClr val="BCCCDC"/>
                </a:solidFill>
                <a:latin typeface="Calibri" pitchFamily="34" charset="0"/>
                <a:ea typeface="Calibri" pitchFamily="34" charset="-122"/>
                <a:cs typeface="Calibri" pitchFamily="34" charset="-120"/>
              </a:rPr>
              <a:t>Permiso de TI para que el agente de monitoreo consulte las cámaras. Es sólo lectura: pregunta si responden, no toca configuración.</a:t>
            </a:r>
            <a:endParaRPr lang="en-US" sz="1150" dirty="0"/>
          </a:p>
        </p:txBody>
      </p:sp>
      <p:sp>
        <p:nvSpPr>
          <p:cNvPr id="9" name="Shape 7"/>
          <p:cNvSpPr/>
          <p:nvPr/>
        </p:nvSpPr>
        <p:spPr>
          <a:xfrm>
            <a:off x="566928" y="3401568"/>
            <a:ext cx="11027664" cy="1078992"/>
          </a:xfrm>
          <a:prstGeom prst="roundRect">
            <a:avLst>
              <a:gd name="adj" fmla="val 5085"/>
            </a:avLst>
          </a:prstGeom>
          <a:solidFill>
            <a:srgbClr val="1B3A5C"/>
          </a:solidFill>
          <a:ln w="12700">
            <a:solidFill>
              <a:srgbClr val="2C4F73"/>
            </a:solidFill>
            <a:prstDash val="solid"/>
          </a:ln>
        </p:spPr>
      </p:sp>
      <p:sp>
        <p:nvSpPr>
          <p:cNvPr id="10" name="Shape 8"/>
          <p:cNvSpPr/>
          <p:nvPr/>
        </p:nvSpPr>
        <p:spPr>
          <a:xfrm>
            <a:off x="877824" y="3730752"/>
            <a:ext cx="420624" cy="420624"/>
          </a:xfrm>
          <a:prstGeom prst="ellipse">
            <a:avLst/>
          </a:prstGeom>
          <a:solidFill>
            <a:srgbClr val="D97706"/>
          </a:solidFill>
          <a:ln w="12700">
            <a:solidFill>
              <a:srgbClr val="D97706"/>
            </a:solidFill>
            <a:prstDash val="solid"/>
          </a:ln>
        </p:spPr>
      </p:sp>
      <p:sp>
        <p:nvSpPr>
          <p:cNvPr id="11" name="Text 9"/>
          <p:cNvSpPr/>
          <p:nvPr/>
        </p:nvSpPr>
        <p:spPr>
          <a:xfrm>
            <a:off x="877824" y="37307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481328" y="3547872"/>
            <a:ext cx="30175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Dos o tres zonas vitales</a:t>
            </a:r>
            <a:endParaRPr lang="en-US" sz="1500" dirty="0"/>
          </a:p>
        </p:txBody>
      </p:sp>
      <p:sp>
        <p:nvSpPr>
          <p:cNvPr id="13" name="Text 11"/>
          <p:cNvSpPr/>
          <p:nvPr/>
        </p:nvSpPr>
        <p:spPr>
          <a:xfrm>
            <a:off x="1481328" y="3913632"/>
            <a:ext cx="9747504" cy="502920"/>
          </a:xfrm>
          <a:prstGeom prst="rect">
            <a:avLst/>
          </a:prstGeom>
          <a:noFill/>
          <a:ln/>
        </p:spPr>
        <p:txBody>
          <a:bodyPr wrap="square" lIns="0" tIns="0" rIns="0" bIns="0" rtlCol="0" anchor="ctr"/>
          <a:lstStyle/>
          <a:p>
            <a:pPr indent="0" marL="0">
              <a:buNone/>
            </a:pPr>
            <a:r>
              <a:rPr lang="en-US" sz="1150" dirty="0">
                <a:solidFill>
                  <a:srgbClr val="BCCCDC"/>
                </a:solidFill>
                <a:latin typeface="Calibri" pitchFamily="34" charset="0"/>
                <a:ea typeface="Calibri" pitchFamily="34" charset="-122"/>
                <a:cs typeface="Calibri" pitchFamily="34" charset="-120"/>
              </a:rPr>
              <a:t>Que Producción diga qué zonas no pueden quedarse sin visión. Esa decisión es suya, no de Mantenimiento, y el sistema no la puede adivinar.</a:t>
            </a:r>
            <a:endParaRPr lang="en-US" sz="1150" dirty="0"/>
          </a:p>
        </p:txBody>
      </p:sp>
      <p:sp>
        <p:nvSpPr>
          <p:cNvPr id="14" name="Shape 12"/>
          <p:cNvSpPr/>
          <p:nvPr/>
        </p:nvSpPr>
        <p:spPr>
          <a:xfrm>
            <a:off x="566928" y="4700016"/>
            <a:ext cx="11027664" cy="1078992"/>
          </a:xfrm>
          <a:prstGeom prst="roundRect">
            <a:avLst>
              <a:gd name="adj" fmla="val 5085"/>
            </a:avLst>
          </a:prstGeom>
          <a:solidFill>
            <a:srgbClr val="1B3A5C"/>
          </a:solidFill>
          <a:ln w="12700">
            <a:solidFill>
              <a:srgbClr val="2C4F73"/>
            </a:solidFill>
            <a:prstDash val="solid"/>
          </a:ln>
        </p:spPr>
      </p:sp>
      <p:sp>
        <p:nvSpPr>
          <p:cNvPr id="15" name="Shape 13"/>
          <p:cNvSpPr/>
          <p:nvPr/>
        </p:nvSpPr>
        <p:spPr>
          <a:xfrm>
            <a:off x="877824" y="5029200"/>
            <a:ext cx="420624" cy="420624"/>
          </a:xfrm>
          <a:prstGeom prst="ellipse">
            <a:avLst/>
          </a:prstGeom>
          <a:solidFill>
            <a:srgbClr val="D97706"/>
          </a:solidFill>
          <a:ln w="12700">
            <a:solidFill>
              <a:srgbClr val="D97706"/>
            </a:solidFill>
            <a:prstDash val="solid"/>
          </a:ln>
        </p:spPr>
      </p:sp>
      <p:sp>
        <p:nvSpPr>
          <p:cNvPr id="16" name="Text 14"/>
          <p:cNvSpPr/>
          <p:nvPr/>
        </p:nvSpPr>
        <p:spPr>
          <a:xfrm>
            <a:off x="877824" y="5029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81328" y="4846320"/>
            <a:ext cx="30175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Una persona de contacto</a:t>
            </a:r>
            <a:endParaRPr lang="en-US" sz="1500" dirty="0"/>
          </a:p>
        </p:txBody>
      </p:sp>
      <p:sp>
        <p:nvSpPr>
          <p:cNvPr id="18" name="Text 16"/>
          <p:cNvSpPr/>
          <p:nvPr/>
        </p:nvSpPr>
        <p:spPr>
          <a:xfrm>
            <a:off x="1481328" y="5212080"/>
            <a:ext cx="9747504" cy="502920"/>
          </a:xfrm>
          <a:prstGeom prst="rect">
            <a:avLst/>
          </a:prstGeom>
          <a:noFill/>
          <a:ln/>
        </p:spPr>
        <p:txBody>
          <a:bodyPr wrap="square" lIns="0" tIns="0" rIns="0" bIns="0" rtlCol="0" anchor="ctr"/>
          <a:lstStyle/>
          <a:p>
            <a:pPr indent="0" marL="0">
              <a:buNone/>
            </a:pPr>
            <a:r>
              <a:rPr lang="en-US" sz="1150" dirty="0">
                <a:solidFill>
                  <a:srgbClr val="BCCCDC"/>
                </a:solidFill>
                <a:latin typeface="Calibri" pitchFamily="34" charset="0"/>
                <a:ea typeface="Calibri" pitchFamily="34" charset="-122"/>
                <a:cs typeface="Calibri" pitchFamily="34" charset="-120"/>
              </a:rPr>
              <a:t>Alguien de Producción que revise las pantallas una vez por semana durante el primer mes y diga qué le sobra y qué le falta.</a:t>
            </a:r>
            <a:endParaRPr lang="en-US" sz="1150" dirty="0"/>
          </a:p>
        </p:txBody>
      </p:sp>
      <p:sp>
        <p:nvSpPr>
          <p:cNvPr id="19" name="Text 17"/>
          <p:cNvSpPr/>
          <p:nvPr/>
        </p:nvSpPr>
        <p:spPr>
          <a:xfrm>
            <a:off x="566928" y="6144768"/>
            <a:ext cx="11027664" cy="365760"/>
          </a:xfrm>
          <a:prstGeom prst="rect">
            <a:avLst/>
          </a:prstGeom>
          <a:noFill/>
          <a:ln/>
        </p:spPr>
        <p:txBody>
          <a:bodyPr wrap="square" lIns="0" tIns="0" rIns="0" bIns="0" rtlCol="0" anchor="ctr"/>
          <a:lstStyle/>
          <a:p>
            <a:pPr indent="0" marL="0">
              <a:buNone/>
            </a:pPr>
            <a:r>
              <a:rPr lang="en-US" sz="1300" b="1" i="1" dirty="0">
                <a:solidFill>
                  <a:srgbClr val="D97706"/>
                </a:solidFill>
                <a:latin typeface="Calibri" pitchFamily="34" charset="0"/>
                <a:ea typeface="Calibri" pitchFamily="34" charset="-122"/>
                <a:cs typeface="Calibri" pitchFamily="34" charset="-120"/>
              </a:rPr>
              <a:t>Con esas tres cosas, en un mes traigo el primer número medido de la planta.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566928" y="2286000"/>
            <a:ext cx="11027664"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3" name="Text 1"/>
          <p:cNvSpPr/>
          <p:nvPr/>
        </p:nvSpPr>
        <p:spPr>
          <a:xfrm>
            <a:off x="566928" y="3246120"/>
            <a:ext cx="11027664" cy="457200"/>
          </a:xfrm>
          <a:prstGeom prst="rect">
            <a:avLst/>
          </a:prstGeom>
          <a:noFill/>
          <a:ln/>
        </p:spPr>
        <p:txBody>
          <a:bodyPr wrap="square" lIns="0" tIns="0" rIns="0" bIns="0" rtlCol="0" anchor="ctr"/>
          <a:lstStyle/>
          <a:p>
            <a:pPr indent="0" marL="0">
              <a:buNone/>
            </a:pPr>
            <a:r>
              <a:rPr lang="en-US" sz="1900" i="1" dirty="0">
                <a:solidFill>
                  <a:srgbClr val="D97706"/>
                </a:solidFill>
                <a:latin typeface="Cambria" pitchFamily="34" charset="0"/>
                <a:ea typeface="Cambria" pitchFamily="34" charset="-122"/>
                <a:cs typeface="Cambria" pitchFamily="34" charset="-120"/>
              </a:rPr>
              <a:t>«Sin datos, nunca cero.»</a:t>
            </a:r>
            <a:endParaRPr lang="en-US" sz="1900" dirty="0"/>
          </a:p>
        </p:txBody>
      </p:sp>
      <p:sp>
        <p:nvSpPr>
          <p:cNvPr id="4" name="Text 2"/>
          <p:cNvSpPr/>
          <p:nvPr/>
        </p:nvSpPr>
        <p:spPr>
          <a:xfrm>
            <a:off x="566928" y="3840480"/>
            <a:ext cx="8778240" cy="914400"/>
          </a:xfrm>
          <a:prstGeom prst="rect">
            <a:avLst/>
          </a:prstGeom>
          <a:noFill/>
          <a:ln/>
        </p:spPr>
        <p:txBody>
          <a:bodyPr wrap="square" lIns="0" tIns="0" rIns="0" bIns="0" rtlCol="0" anchor="ctr"/>
          <a:lstStyle/>
          <a:p>
            <a:pPr indent="0" marL="0">
              <a:lnSpc>
                <a:spcPts val="2000"/>
              </a:lnSpc>
              <a:buNone/>
            </a:pPr>
            <a:r>
              <a:rPr lang="en-US" sz="1250" dirty="0">
                <a:solidFill>
                  <a:srgbClr val="BCCCDC"/>
                </a:solidFill>
                <a:latin typeface="Calibri" pitchFamily="34" charset="0"/>
                <a:ea typeface="Calibri" pitchFamily="34" charset="-122"/>
                <a:cs typeface="Calibri" pitchFamily="34" charset="-120"/>
              </a:rPr>
              <a:t>Es la regla que atraviesa todo el sistema: cuando falta un dato, se dice que falta.</a:t>
            </a:r>
            <a:endParaRPr lang="en-US" sz="1250" dirty="0"/>
          </a:p>
          <a:p>
            <a:pPr indent="0" marL="0">
              <a:lnSpc>
                <a:spcPts val="2000"/>
              </a:lnSpc>
              <a:buNone/>
            </a:pPr>
            <a:r>
              <a:rPr lang="en-US" sz="1250" dirty="0">
                <a:solidFill>
                  <a:srgbClr val="BCCCDC"/>
                </a:solidFill>
                <a:latin typeface="Calibri" pitchFamily="34" charset="0"/>
                <a:ea typeface="Calibri" pitchFamily="34" charset="-122"/>
                <a:cs typeface="Calibri" pitchFamily="34" charset="-120"/>
              </a:rPr>
              <a:t>Nunca se rellena con un valor razonable, porque un cero inventado se parece demasiado a que todo está bien.</a:t>
            </a:r>
            <a:endParaRPr lang="en-US" sz="1250" dirty="0"/>
          </a:p>
        </p:txBody>
      </p:sp>
      <p:sp>
        <p:nvSpPr>
          <p:cNvPr id="5" name="Text 3"/>
          <p:cNvSpPr/>
          <p:nvPr/>
        </p:nvSpPr>
        <p:spPr>
          <a:xfrm>
            <a:off x="566928" y="6035040"/>
            <a:ext cx="11027664" cy="329184"/>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Cristhian Rondón Amanqui · SGIT-CCTV · 21 de agosto de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SGIT-CCTV — Avance para Produccion</dc:title>
  <dc:subject>PptxGenJS Presentation</dc:subject>
  <dc:creator>Cristhian Rondon Amanqui</dc:creator>
  <cp:lastModifiedBy>Cristhian Rondon Amanqui</cp:lastModifiedBy>
  <cp:revision>1</cp:revision>
  <dcterms:created xsi:type="dcterms:W3CDTF">2026-08-21T11:21:02Z</dcterms:created>
  <dcterms:modified xsi:type="dcterms:W3CDTF">2026-08-21T11:21:02Z</dcterms:modified>
</cp:coreProperties>
</file>