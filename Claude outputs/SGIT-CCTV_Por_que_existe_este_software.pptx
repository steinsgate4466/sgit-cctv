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La frase de abajo fija el encuadre: el software no es un inventario, es memoria demostrable.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Agenda. Las tecnologias van primero por peticion expresa.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preguntan por licencias: todo el stack es abierto salvo el alojamiento en Railway.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argumento de fondo: ninguna pieza esta por gusto tecnico; cada una cierra un problema concreto.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BPMN AS-IS. Cada caja roja es informacion que hoy no queda en ningun sitio. Los dos ★★ son el agujero de seguridad de las credenciales.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BPMN TO-BE. El circulo de fin ya no es una cruz: cada carril termina con algo registrado.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dos procesos van juntos a proposito: separarlos en dos diapositivas pierde toda la fuerza del contraste.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Punto 3 es tambien un agujero de seguridad: un contratista que ya no trabaja aqui sigue teniendo acceso a un equipo de la planta.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diapositiva bisagra: pasa del relato tecnico al coste operativo.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oscuro: es el unico de la presentacion. Eso hace que se recuerde.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dano 1 va marcado en rojo: es el unico que no es economico.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Pausa aqui. Es el clima del bloque 4 y la bisagra hacia la solucion.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numero 1 es el aviso rojo de arriba: va antes que cualquier otro dato de la ficha.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Comparacion directa. Es la diapositiva que mejor explica la adopcion en campo.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el ingeniero pregunta por el correo de verificacion: esta en el PPT anterior y NO existe. Hay que decirlo.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reparto por duenos es lo que evita que mantenimiento cargue con la demora en avisar.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regla es lo que hace defendibles las cifras del bloque 9 ante un comite.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Doce reglas, cada una nacida de un fallo real de planta.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Doce reglas, cada una nacida de un fallo real de planta.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del bloque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recorridos Playwright sacaron cuatro bugs reales que 1.263 pruebas y 19 verificadores no vieron. Corren en PC y en telefono.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enumerar aqui los hallazgos abiertos salvo que pregunten: estan documentados y priorizados.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Recapitulacion. Es la diapositiva de la que sale la ultima frase.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Dejar la ultima frase en pantalla durante las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72600" y="4828032"/>
            <a:ext cx="192024" cy="192024"/>
          </a:xfrm>
          <a:prstGeom prst="rect">
            <a:avLst/>
          </a:prstGeom>
          <a:solidFill>
            <a:srgbClr val="E8590C"/>
          </a:solidFill>
          <a:ln w="12700">
            <a:solidFill>
              <a:srgbClr val="1B1F2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10344" y="4828032"/>
            <a:ext cx="192024" cy="192024"/>
          </a:xfrm>
          <a:prstGeom prst="rect">
            <a:avLst/>
          </a:prstGeom>
          <a:solidFill>
            <a:srgbClr val="333941"/>
          </a:solidFill>
          <a:ln w="12700">
            <a:solidFill>
              <a:srgbClr val="1B1F2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48088" y="4828032"/>
            <a:ext cx="192024" cy="192024"/>
          </a:xfrm>
          <a:prstGeom prst="rect">
            <a:avLst/>
          </a:prstGeom>
          <a:solidFill>
            <a:srgbClr val="333941"/>
          </a:solidFill>
          <a:ln w="12700">
            <a:solidFill>
              <a:srgbClr val="1B1F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23576" y="4828032"/>
            <a:ext cx="192024" cy="192024"/>
          </a:xfrm>
          <a:prstGeom prst="rect">
            <a:avLst/>
          </a:prstGeom>
          <a:solidFill>
            <a:srgbClr val="E8590C"/>
          </a:solidFill>
          <a:ln w="12700">
            <a:solidFill>
              <a:srgbClr val="1B1F2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61320" y="4828032"/>
            <a:ext cx="192024" cy="192024"/>
          </a:xfrm>
          <a:prstGeom prst="rect">
            <a:avLst/>
          </a:prstGeom>
          <a:solidFill>
            <a:srgbClr val="333941"/>
          </a:solidFill>
          <a:ln w="12700">
            <a:solidFill>
              <a:srgbClr val="1B1F2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36808" y="4828032"/>
            <a:ext cx="192024" cy="192024"/>
          </a:xfrm>
          <a:prstGeom prst="rect">
            <a:avLst/>
          </a:prstGeom>
          <a:solidFill>
            <a:srgbClr val="333941"/>
          </a:solidFill>
          <a:ln w="12700">
            <a:solidFill>
              <a:srgbClr val="1B1F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72600" y="5065776"/>
            <a:ext cx="192024" cy="192024"/>
          </a:xfrm>
          <a:prstGeom prst="rect">
            <a:avLst/>
          </a:prstGeom>
          <a:solidFill>
            <a:srgbClr val="333941"/>
          </a:solidFill>
          <a:ln w="12700">
            <a:solidFill>
              <a:srgbClr val="1B1F2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48088" y="5065776"/>
            <a:ext cx="192024" cy="192024"/>
          </a:xfrm>
          <a:prstGeom prst="rect">
            <a:avLst/>
          </a:prstGeom>
          <a:solidFill>
            <a:srgbClr val="333941"/>
          </a:solidFill>
          <a:ln w="12700">
            <a:solidFill>
              <a:srgbClr val="1B1F2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85832" y="5065776"/>
            <a:ext cx="192024" cy="192024"/>
          </a:xfrm>
          <a:prstGeom prst="rect">
            <a:avLst/>
          </a:prstGeom>
          <a:solidFill>
            <a:srgbClr val="E8590C"/>
          </a:solidFill>
          <a:ln w="12700">
            <a:solidFill>
              <a:srgbClr val="1B1F2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61320" y="5065776"/>
            <a:ext cx="192024" cy="192024"/>
          </a:xfrm>
          <a:prstGeom prst="rect">
            <a:avLst/>
          </a:prstGeom>
          <a:solidFill>
            <a:srgbClr val="333941"/>
          </a:solidFill>
          <a:ln w="12700">
            <a:solidFill>
              <a:srgbClr val="1B1F2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99064" y="5065776"/>
            <a:ext cx="192024" cy="192024"/>
          </a:xfrm>
          <a:prstGeom prst="rect">
            <a:avLst/>
          </a:prstGeom>
          <a:solidFill>
            <a:srgbClr val="333941"/>
          </a:solidFill>
          <a:ln w="12700">
            <a:solidFill>
              <a:srgbClr val="1B1F2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372600" y="5303520"/>
            <a:ext cx="192024" cy="192024"/>
          </a:xfrm>
          <a:prstGeom prst="rect">
            <a:avLst/>
          </a:prstGeom>
          <a:solidFill>
            <a:srgbClr val="333941"/>
          </a:solidFill>
          <a:ln w="12700">
            <a:solidFill>
              <a:srgbClr val="1B1F2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10344" y="5303520"/>
            <a:ext cx="192024" cy="192024"/>
          </a:xfrm>
          <a:prstGeom prst="rect">
            <a:avLst/>
          </a:prstGeom>
          <a:solidFill>
            <a:srgbClr val="333941"/>
          </a:solidFill>
          <a:ln w="12700">
            <a:solidFill>
              <a:srgbClr val="1B1F2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85832" y="5303520"/>
            <a:ext cx="192024" cy="192024"/>
          </a:xfrm>
          <a:prstGeom prst="rect">
            <a:avLst/>
          </a:prstGeom>
          <a:solidFill>
            <a:srgbClr val="333941"/>
          </a:solidFill>
          <a:ln w="12700">
            <a:solidFill>
              <a:srgbClr val="1B1F2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323576" y="5303520"/>
            <a:ext cx="192024" cy="192024"/>
          </a:xfrm>
          <a:prstGeom prst="rect">
            <a:avLst/>
          </a:prstGeom>
          <a:solidFill>
            <a:srgbClr val="333941"/>
          </a:solidFill>
          <a:ln w="12700">
            <a:solidFill>
              <a:srgbClr val="1B1F2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799064" y="5303520"/>
            <a:ext cx="192024" cy="192024"/>
          </a:xfrm>
          <a:prstGeom prst="rect">
            <a:avLst/>
          </a:prstGeom>
          <a:solidFill>
            <a:srgbClr val="E8590C"/>
          </a:solidFill>
          <a:ln w="12700">
            <a:solidFill>
              <a:srgbClr val="1B1F2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036808" y="5303520"/>
            <a:ext cx="192024" cy="192024"/>
          </a:xfrm>
          <a:prstGeom prst="rect">
            <a:avLst/>
          </a:prstGeom>
          <a:solidFill>
            <a:srgbClr val="333941"/>
          </a:solidFill>
          <a:ln w="12700">
            <a:solidFill>
              <a:srgbClr val="1B1F2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10344" y="5541264"/>
            <a:ext cx="192024" cy="192024"/>
          </a:xfrm>
          <a:prstGeom prst="rect">
            <a:avLst/>
          </a:prstGeom>
          <a:solidFill>
            <a:srgbClr val="E8590C"/>
          </a:solidFill>
          <a:ln w="12700">
            <a:solidFill>
              <a:srgbClr val="1B1F2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48088" y="5541264"/>
            <a:ext cx="192024" cy="192024"/>
          </a:xfrm>
          <a:prstGeom prst="rect">
            <a:avLst/>
          </a:prstGeom>
          <a:solidFill>
            <a:srgbClr val="333941"/>
          </a:solidFill>
          <a:ln w="12700">
            <a:solidFill>
              <a:srgbClr val="1B1F2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323576" y="5541264"/>
            <a:ext cx="192024" cy="192024"/>
          </a:xfrm>
          <a:prstGeom prst="rect">
            <a:avLst/>
          </a:prstGeom>
          <a:solidFill>
            <a:srgbClr val="333941"/>
          </a:solidFill>
          <a:ln w="12700">
            <a:solidFill>
              <a:srgbClr val="1B1F2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561320" y="5541264"/>
            <a:ext cx="192024" cy="192024"/>
          </a:xfrm>
          <a:prstGeom prst="rect">
            <a:avLst/>
          </a:prstGeom>
          <a:solidFill>
            <a:srgbClr val="E8590C"/>
          </a:solidFill>
          <a:ln w="12700">
            <a:solidFill>
              <a:srgbClr val="1B1F2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036808" y="5541264"/>
            <a:ext cx="192024" cy="192024"/>
          </a:xfrm>
          <a:prstGeom prst="rect">
            <a:avLst/>
          </a:prstGeom>
          <a:solidFill>
            <a:srgbClr val="333941"/>
          </a:solidFill>
          <a:ln w="12700">
            <a:solidFill>
              <a:srgbClr val="1B1F2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72600" y="5779008"/>
            <a:ext cx="192024" cy="192024"/>
          </a:xfrm>
          <a:prstGeom prst="rect">
            <a:avLst/>
          </a:prstGeom>
          <a:solidFill>
            <a:srgbClr val="E8590C"/>
          </a:solidFill>
          <a:ln w="12700">
            <a:solidFill>
              <a:srgbClr val="1B1F2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48088" y="5779008"/>
            <a:ext cx="192024" cy="192024"/>
          </a:xfrm>
          <a:prstGeom prst="rect">
            <a:avLst/>
          </a:prstGeom>
          <a:solidFill>
            <a:srgbClr val="333941"/>
          </a:solidFill>
          <a:ln w="12700">
            <a:solidFill>
              <a:srgbClr val="1B1F2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85832" y="5779008"/>
            <a:ext cx="192024" cy="192024"/>
          </a:xfrm>
          <a:prstGeom prst="rect">
            <a:avLst/>
          </a:prstGeom>
          <a:solidFill>
            <a:srgbClr val="333941"/>
          </a:solidFill>
          <a:ln w="12700">
            <a:solidFill>
              <a:srgbClr val="1B1F2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561320" y="5779008"/>
            <a:ext cx="192024" cy="192024"/>
          </a:xfrm>
          <a:prstGeom prst="rect">
            <a:avLst/>
          </a:prstGeom>
          <a:solidFill>
            <a:srgbClr val="333941"/>
          </a:solidFill>
          <a:ln w="12700">
            <a:solidFill>
              <a:srgbClr val="1B1F2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799064" y="5779008"/>
            <a:ext cx="192024" cy="192024"/>
          </a:xfrm>
          <a:prstGeom prst="rect">
            <a:avLst/>
          </a:prstGeom>
          <a:solidFill>
            <a:srgbClr val="333941"/>
          </a:solidFill>
          <a:ln w="12700">
            <a:solidFill>
              <a:srgbClr val="1B1F2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036808" y="5779008"/>
            <a:ext cx="192024" cy="192024"/>
          </a:xfrm>
          <a:prstGeom prst="rect">
            <a:avLst/>
          </a:prstGeom>
          <a:solidFill>
            <a:srgbClr val="333941"/>
          </a:solidFill>
          <a:ln w="12700">
            <a:solidFill>
              <a:srgbClr val="1B1F2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1481328"/>
            <a:ext cx="9601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SGIT-CCTV</a:t>
            </a:r>
            <a:endParaRPr lang="en-US" sz="68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261518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Gestion de Infraestructura Tecnologica  ·  CCTV y Red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576072" y="3218688"/>
            <a:ext cx="1920240" cy="32004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48640" y="3419856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D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Aceros Arequipa  ·  Planta Pisco  ·  LAMINACION (Trenes 1, 2 y 3)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376732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Cristhian Rondon Amanqui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4956048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C3CA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es un inventario de camaras. Es el sistema que convierte una planta que se entera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C3CA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las cosas por radio en una que las puede demostrar.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69848" y="310896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recorrido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069848" y="85953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Diez bloques, en el orden en que se van a defender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389888"/>
            <a:ext cx="5394960" cy="786384"/>
          </a:xfrm>
          <a:prstGeom prst="roundRect">
            <a:avLst>
              <a:gd name="adj" fmla="val 6977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7512" y="1563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16191D"/>
          </a:solidFill>
          <a:ln w="12700">
            <a:solidFill>
              <a:srgbClr val="16191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7512" y="15636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517904"/>
            <a:ext cx="4498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tecnologias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1819656"/>
            <a:ext cx="4498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que esta hecho, y por que esa torre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63640" y="1389888"/>
            <a:ext cx="5394960" cy="786384"/>
          </a:xfrm>
          <a:prstGeom prst="roundRect">
            <a:avLst>
              <a:gd name="adj" fmla="val 6977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28232" y="1563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16191D"/>
          </a:solidFill>
          <a:ln w="12700">
            <a:solidFill>
              <a:srgbClr val="16191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28232" y="15636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995160" y="1517904"/>
            <a:ext cx="4498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 antiguo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995160" y="1819656"/>
            <a:ext cx="4498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AS-IS: donde se pierde la informacion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2322576"/>
            <a:ext cx="5394960" cy="786384"/>
          </a:xfrm>
          <a:prstGeom prst="roundRect">
            <a:avLst>
              <a:gd name="adj" fmla="val 6977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7512" y="2496312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16191D"/>
          </a:solidFill>
          <a:ln w="12700">
            <a:solidFill>
              <a:srgbClr val="16191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7512" y="24963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2450592"/>
            <a:ext cx="4498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instalacion empirica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2752344"/>
            <a:ext cx="4498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capitulo que mas duele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63640" y="2322576"/>
            <a:ext cx="5394960" cy="786384"/>
          </a:xfrm>
          <a:prstGeom prst="roundRect">
            <a:avLst>
              <a:gd name="adj" fmla="val 6977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28232" y="2496312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16191D"/>
          </a:solidFill>
          <a:ln w="12700">
            <a:solidFill>
              <a:srgbClr val="16191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28232" y="24963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995160" y="2450592"/>
            <a:ext cx="4498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malo sin el software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6995160" y="2752344"/>
            <a:ext cx="4498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Ocho danos concretos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02920" y="3255264"/>
            <a:ext cx="5394960" cy="786384"/>
          </a:xfrm>
          <a:prstGeom prst="roundRect">
            <a:avLst>
              <a:gd name="adj" fmla="val 6977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7512" y="342900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16191D"/>
          </a:solidFill>
          <a:ln w="12700">
            <a:solidFill>
              <a:srgbClr val="16191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7512" y="3429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1234440" y="3383280"/>
            <a:ext cx="4498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 con el software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1234440" y="3685032"/>
            <a:ext cx="4498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TO-BE: cada rojo, resuelto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263640" y="3255264"/>
            <a:ext cx="5394960" cy="786384"/>
          </a:xfrm>
          <a:prstGeom prst="roundRect">
            <a:avLst>
              <a:gd name="adj" fmla="val 6977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28232" y="342900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16191D"/>
          </a:solidFill>
          <a:ln w="12700">
            <a:solidFill>
              <a:srgbClr val="16191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28232" y="3429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6995160" y="3383280"/>
            <a:ext cx="4498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QR</a:t>
            </a:r>
            <a:endParaRPr lang="en-US" sz="1450" dirty="0"/>
          </a:p>
        </p:txBody>
      </p:sp>
      <p:sp>
        <p:nvSpPr>
          <p:cNvPr id="35" name="Text 33"/>
          <p:cNvSpPr txBox="1"/>
          <p:nvPr/>
        </p:nvSpPr>
        <p:spPr>
          <a:xfrm>
            <a:off x="6995160" y="3685032"/>
            <a:ext cx="4498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corazon visible del sistema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02920" y="4187952"/>
            <a:ext cx="5394960" cy="786384"/>
          </a:xfrm>
          <a:prstGeom prst="roundRect">
            <a:avLst>
              <a:gd name="adj" fmla="val 6977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67512" y="436168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16191D"/>
          </a:solidFill>
          <a:ln w="12700">
            <a:solidFill>
              <a:srgbClr val="16191D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67512" y="43616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1234440" y="4315968"/>
            <a:ext cx="4498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mantenimiento</a:t>
            </a:r>
            <a:endParaRPr lang="en-US" sz="1450" dirty="0"/>
          </a:p>
        </p:txBody>
      </p:sp>
      <p:sp>
        <p:nvSpPr>
          <p:cNvPr id="40" name="Text 38"/>
          <p:cNvSpPr txBox="1"/>
          <p:nvPr/>
        </p:nvSpPr>
        <p:spPr>
          <a:xfrm>
            <a:off x="1234440" y="4617720"/>
            <a:ext cx="4498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gana Jefatura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263640" y="4187952"/>
            <a:ext cx="5394960" cy="786384"/>
          </a:xfrm>
          <a:prstGeom prst="roundRect">
            <a:avLst>
              <a:gd name="adj" fmla="val 6977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28232" y="436168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16191D"/>
          </a:solidFill>
          <a:ln w="12700">
            <a:solidFill>
              <a:srgbClr val="16191D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428232" y="43616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6995160" y="4315968"/>
            <a:ext cx="4498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buenas practicas</a:t>
            </a:r>
            <a:endParaRPr lang="en-US" sz="1450" dirty="0"/>
          </a:p>
        </p:txBody>
      </p:sp>
      <p:sp>
        <p:nvSpPr>
          <p:cNvPr id="45" name="Text 43"/>
          <p:cNvSpPr txBox="1"/>
          <p:nvPr/>
        </p:nvSpPr>
        <p:spPr>
          <a:xfrm>
            <a:off x="6995160" y="4617720"/>
            <a:ext cx="4498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las sugiere: las EXIGE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502920" y="5120640"/>
            <a:ext cx="5394960" cy="786384"/>
          </a:xfrm>
          <a:prstGeom prst="roundRect">
            <a:avLst>
              <a:gd name="adj" fmla="val 6977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67512" y="529437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16191D"/>
          </a:solidFill>
          <a:ln w="12700">
            <a:solidFill>
              <a:srgbClr val="16191D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67512" y="5294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49" name="Text 47"/>
          <p:cNvSpPr txBox="1"/>
          <p:nvPr/>
        </p:nvSpPr>
        <p:spPr>
          <a:xfrm>
            <a:off x="1234440" y="5248656"/>
            <a:ext cx="4498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construido</a:t>
            </a:r>
            <a:endParaRPr lang="en-US" sz="1450" dirty="0"/>
          </a:p>
        </p:txBody>
      </p:sp>
      <p:sp>
        <p:nvSpPr>
          <p:cNvPr id="50" name="Text 48"/>
          <p:cNvSpPr txBox="1"/>
          <p:nvPr/>
        </p:nvSpPr>
        <p:spPr>
          <a:xfrm>
            <a:off x="1234440" y="5550408"/>
            <a:ext cx="4498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Numeros medidos, no estimados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6263640" y="5120640"/>
            <a:ext cx="5394960" cy="786384"/>
          </a:xfrm>
          <a:prstGeom prst="roundRect">
            <a:avLst>
              <a:gd name="adj" fmla="val 6977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428232" y="529437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16191D"/>
          </a:solidFill>
          <a:ln w="12700">
            <a:solidFill>
              <a:srgbClr val="16191D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428232" y="5294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54" name="Text 52"/>
          <p:cNvSpPr txBox="1"/>
          <p:nvPr/>
        </p:nvSpPr>
        <p:spPr>
          <a:xfrm>
            <a:off x="6995160" y="5248656"/>
            <a:ext cx="4498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450" dirty="0"/>
          </a:p>
        </p:txBody>
      </p:sp>
      <p:sp>
        <p:nvSpPr>
          <p:cNvPr id="55" name="Text 53"/>
          <p:cNvSpPr txBox="1"/>
          <p:nvPr/>
        </p:nvSpPr>
        <p:spPr>
          <a:xfrm>
            <a:off x="6995160" y="5550408"/>
            <a:ext cx="4498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digitalizar a DEMOSTRAR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69848" y="310896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torre completa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069848" y="85953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Versiones reales del repositorio, no de memoria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1737360" cy="1051560"/>
          </a:xfrm>
          <a:prstGeom prst="roundRect">
            <a:avLst>
              <a:gd name="adj" fmla="val 5217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" y="1618488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30936" y="1883664"/>
            <a:ext cx="148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5.9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386584" y="1463040"/>
            <a:ext cx="1737360" cy="1051560"/>
          </a:xfrm>
          <a:prstGeom prst="roundRect">
            <a:avLst>
              <a:gd name="adj" fmla="val 5217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14600" y="1618488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EJECUCION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1883664"/>
            <a:ext cx="148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24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70248" y="1463040"/>
            <a:ext cx="1737360" cy="1051560"/>
          </a:xfrm>
          <a:prstGeom prst="roundRect">
            <a:avLst>
              <a:gd name="adj" fmla="val 5217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98264" y="1618488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4398264" y="1883664"/>
            <a:ext cx="148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11.2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53912" y="1463040"/>
            <a:ext cx="1737360" cy="1051560"/>
          </a:xfrm>
          <a:prstGeom prst="roundRect">
            <a:avLst>
              <a:gd name="adj" fmla="val 5217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81928" y="1618488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6281928" y="1883664"/>
            <a:ext cx="148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18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37576" y="1463040"/>
            <a:ext cx="1737360" cy="1051560"/>
          </a:xfrm>
          <a:prstGeom prst="roundRect">
            <a:avLst>
              <a:gd name="adj" fmla="val 5217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65592" y="1618488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 DATOS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8165592" y="1883664"/>
            <a:ext cx="148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 7.9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921240" y="1463040"/>
            <a:ext cx="1737360" cy="1051560"/>
          </a:xfrm>
          <a:prstGeom prst="roundRect">
            <a:avLst>
              <a:gd name="adj" fmla="val 5217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049256" y="1618488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10049256" y="1883664"/>
            <a:ext cx="148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19.2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2920" y="2651760"/>
            <a:ext cx="1737360" cy="1051560"/>
          </a:xfrm>
          <a:prstGeom prst="roundRect">
            <a:avLst>
              <a:gd name="adj" fmla="val 5217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0936" y="2807208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EMPAQUETADO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630936" y="3072384"/>
            <a:ext cx="148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8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386584" y="2651760"/>
            <a:ext cx="1737360" cy="1051560"/>
          </a:xfrm>
          <a:prstGeom prst="roundRect">
            <a:avLst>
              <a:gd name="adj" fmla="val 5217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514600" y="2807208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2514600" y="3072384"/>
            <a:ext cx="148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7.18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270248" y="2651760"/>
            <a:ext cx="1737360" cy="1051560"/>
          </a:xfrm>
          <a:prstGeom prst="roundRect">
            <a:avLst>
              <a:gd name="adj" fmla="val 5217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398264" y="2807208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GRAFICOS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4398264" y="3072384"/>
            <a:ext cx="148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3.10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153912" y="2651760"/>
            <a:ext cx="1737360" cy="1051560"/>
          </a:xfrm>
          <a:prstGeom prst="roundRect">
            <a:avLst>
              <a:gd name="adj" fmla="val 5217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281928" y="2807208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INFORMES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6281928" y="3072384"/>
            <a:ext cx="148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PDFKit · ExcelJS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037576" y="2651760"/>
            <a:ext cx="1737360" cy="1051560"/>
          </a:xfrm>
          <a:prstGeom prst="roundRect">
            <a:avLst>
              <a:gd name="adj" fmla="val 5217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165592" y="2807208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Y FOTOS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8165592" y="3072384"/>
            <a:ext cx="148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(S3)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9921240" y="2651760"/>
            <a:ext cx="1737360" cy="1051560"/>
          </a:xfrm>
          <a:prstGeom prst="roundRect">
            <a:avLst>
              <a:gd name="adj" fmla="val 5217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0049256" y="2807208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CONTRASENAS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10049256" y="3072384"/>
            <a:ext cx="148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Argon2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02920" y="3840480"/>
            <a:ext cx="1737360" cy="1051560"/>
          </a:xfrm>
          <a:prstGeom prst="roundRect">
            <a:avLst>
              <a:gd name="adj" fmla="val 5217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30936" y="3995928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</a:t>
            </a:r>
            <a:endParaRPr lang="en-US" sz="850" dirty="0"/>
          </a:p>
        </p:txBody>
      </p:sp>
      <p:sp>
        <p:nvSpPr>
          <p:cNvPr id="44" name="Text 42"/>
          <p:cNvSpPr txBox="1"/>
          <p:nvPr/>
        </p:nvSpPr>
        <p:spPr>
          <a:xfrm>
            <a:off x="630936" y="4261104"/>
            <a:ext cx="148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refresco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2386584" y="3840480"/>
            <a:ext cx="1737360" cy="1051560"/>
          </a:xfrm>
          <a:prstGeom prst="roundRect">
            <a:avLst>
              <a:gd name="adj" fmla="val 5217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2514600" y="3995928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NUBE</a:t>
            </a:r>
            <a:endParaRPr lang="en-US" sz="850" dirty="0"/>
          </a:p>
        </p:txBody>
      </p:sp>
      <p:sp>
        <p:nvSpPr>
          <p:cNvPr id="47" name="Text 45"/>
          <p:cNvSpPr txBox="1"/>
          <p:nvPr/>
        </p:nvSpPr>
        <p:spPr>
          <a:xfrm>
            <a:off x="2514600" y="4261104"/>
            <a:ext cx="148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4270248" y="3840480"/>
            <a:ext cx="1737360" cy="1051560"/>
          </a:xfrm>
          <a:prstGeom prst="roundRect">
            <a:avLst>
              <a:gd name="adj" fmla="val 5217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398264" y="3995928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INTEGRACION CONTINUA</a:t>
            </a:r>
            <a:endParaRPr lang="en-US" sz="850" dirty="0"/>
          </a:p>
        </p:txBody>
      </p:sp>
      <p:sp>
        <p:nvSpPr>
          <p:cNvPr id="50" name="Text 48"/>
          <p:cNvSpPr txBox="1"/>
          <p:nvPr/>
        </p:nvSpPr>
        <p:spPr>
          <a:xfrm>
            <a:off x="4398264" y="4261104"/>
            <a:ext cx="148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153912" y="3840480"/>
            <a:ext cx="1737360" cy="1051560"/>
          </a:xfrm>
          <a:prstGeom prst="roundRect">
            <a:avLst>
              <a:gd name="adj" fmla="val 5217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281928" y="3995928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endParaRPr lang="en-US" sz="850" dirty="0"/>
          </a:p>
        </p:txBody>
      </p:sp>
      <p:sp>
        <p:nvSpPr>
          <p:cNvPr id="53" name="Text 51"/>
          <p:cNvSpPr txBox="1"/>
          <p:nvPr/>
        </p:nvSpPr>
        <p:spPr>
          <a:xfrm>
            <a:off x="6281928" y="4261104"/>
            <a:ext cx="148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· Playwright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8037576" y="3840480"/>
            <a:ext cx="1737360" cy="1051560"/>
          </a:xfrm>
          <a:prstGeom prst="roundRect">
            <a:avLst>
              <a:gd name="adj" fmla="val 5217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8165592" y="3995928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AVISOS</a:t>
            </a:r>
            <a:endParaRPr lang="en-US" sz="850" dirty="0"/>
          </a:p>
        </p:txBody>
      </p:sp>
      <p:sp>
        <p:nvSpPr>
          <p:cNvPr id="56" name="Text 54"/>
          <p:cNvSpPr txBox="1"/>
          <p:nvPr/>
        </p:nvSpPr>
        <p:spPr>
          <a:xfrm>
            <a:off x="8165592" y="4261104"/>
            <a:ext cx="148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Bot API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9921240" y="3840480"/>
            <a:ext cx="1737360" cy="1051560"/>
          </a:xfrm>
          <a:prstGeom prst="roundRect">
            <a:avLst>
              <a:gd name="adj" fmla="val 5217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10049256" y="3995928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CODIGO DE CAMPO</a:t>
            </a:r>
            <a:endParaRPr lang="en-US" sz="850" dirty="0"/>
          </a:p>
        </p:txBody>
      </p:sp>
      <p:sp>
        <p:nvSpPr>
          <p:cNvPr id="59" name="Text 57"/>
          <p:cNvSpPr txBox="1"/>
          <p:nvPr/>
        </p:nvSpPr>
        <p:spPr>
          <a:xfrm>
            <a:off x="10049256" y="4261104"/>
            <a:ext cx="148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por equipo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502920" y="5138928"/>
            <a:ext cx="11155680" cy="960120"/>
          </a:xfrm>
          <a:prstGeom prst="roundRect">
            <a:avLst>
              <a:gd name="adj" fmla="val 5714"/>
            </a:avLst>
          </a:prstGeom>
          <a:solidFill>
            <a:srgbClr val="1B1F25"/>
          </a:solidFill>
          <a:ln w="12700">
            <a:solidFill>
              <a:srgbClr val="1B1F25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868680" y="5230368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tecnico entra desde SU PROPIO TELEFONO, por direccion web. No hay que instalar ninguna aplicacion ni gestionar equipos.</a:t>
            </a:r>
            <a:endParaRPr lang="en-US" sz="1400" dirty="0"/>
          </a:p>
        </p:txBody>
      </p:sp>
      <p:sp>
        <p:nvSpPr>
          <p:cNvPr id="62" name="Text 60"/>
          <p:cNvSpPr txBox="1"/>
          <p:nvPr/>
        </p:nvSpPr>
        <p:spPr>
          <a:xfrm>
            <a:off x="502920" y="6437376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7A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versiones se miden en el repositorio antes de escribirlas. Regla del bloque 100: un documento de estado que miente es peor que no tenerlo.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69848" y="310896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esta torre y no otra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069848" y="85953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eleccion resuelve un problema de planta, no una moda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426464"/>
            <a:ext cx="11155680" cy="841248"/>
          </a:xfrm>
          <a:prstGeom prst="roundRect">
            <a:avLst>
              <a:gd name="adj" fmla="val 6522"/>
            </a:avLst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64592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645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545336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y no una hoja de calculo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303520" y="1545336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hoja no puede decir quien cambio que, ni impedir que dos personas la editen a la vez.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395728"/>
            <a:ext cx="11155680" cy="841248"/>
          </a:xfrm>
          <a:prstGeom prst="roundRect">
            <a:avLst>
              <a:gd name="adj" fmla="val 6522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61518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26151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2514600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en los dos lados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303520" y="2514600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compilador caza el error antes de que llegue a planta. En el bloque 102 encontro en un segundo un fallo que llevaba meses escondido.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364992"/>
            <a:ext cx="11155680" cy="841248"/>
          </a:xfrm>
          <a:prstGeom prst="roundRect">
            <a:avLst>
              <a:gd name="adj" fmla="val 6522"/>
            </a:avLst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358444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3584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3483864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en el navegador, sin instalar nada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303520" y="3483864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tecnico usa su propio telefono: entra por direccion web. Sin aplicacion que instalar ni equipos que gestionar.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4334256"/>
            <a:ext cx="11155680" cy="841248"/>
          </a:xfrm>
          <a:prstGeom prst="roundRect">
            <a:avLst>
              <a:gd name="adj" fmla="val 6522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455371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4553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234440" y="4453128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para las fotos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5303520" y="445312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foto de campo pesa 3 MB; dentro de la base hundiria cada consulta.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" y="5303520"/>
            <a:ext cx="11155680" cy="841248"/>
          </a:xfrm>
          <a:prstGeom prst="roundRect">
            <a:avLst>
              <a:gd name="adj" fmla="val 6522"/>
            </a:avLst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" y="552297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" y="55229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234440" y="5422392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con despliegue continuo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5303520" y="5422392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aprobado esta arriba en minutos. Y si la comprobacion automatica falla, NO SUBE.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69848" y="310896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proceso antiguo  ·  BPMN «AS-IS»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069848" y="85953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piscina, cuatro carriles. En rojo, todo lo que hoy se pierde o se hace a ciegas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310896" cy="4709160"/>
          </a:xfrm>
          <a:prstGeom prst="rect">
            <a:avLst/>
          </a:prstGeom>
          <a:solidFill>
            <a:srgbClr val="1B1F25"/>
          </a:solidFill>
          <a:ln w="12700">
            <a:solidFill>
              <a:srgbClr val="1B1F2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 rot="16200000">
            <a:off x="-1696212" y="3525012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 PISCO  ·  HOY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13816" y="1325880"/>
            <a:ext cx="1298448" cy="960120"/>
          </a:xfrm>
          <a:prstGeom prst="rect">
            <a:avLst/>
          </a:prstGeom>
          <a:solidFill>
            <a:srgbClr val="272C34"/>
          </a:solidFill>
          <a:ln w="9525">
            <a:solidFill>
              <a:srgbClr val="4A525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59536" y="1325880"/>
            <a:ext cx="12070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(pulpito)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112264" y="1325880"/>
            <a:ext cx="9546336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3CAD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13432" y="1531620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8C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130552" y="19933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«no veo la camara</a:t>
            </a:r>
            <a:endParaRPr lang="en-US" sz="650" dirty="0"/>
          </a:p>
          <a:p>
            <a:pPr algn="ctr" indent="0" marL="0">
              <a:buNone/>
            </a:pPr>
            <a:r>
              <a:rPr lang="en-US" sz="650" i="1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foso»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2624328" y="1632204"/>
            <a:ext cx="118872" cy="109728"/>
          </a:xfrm>
          <a:prstGeom prst="rightArrow">
            <a:avLst/>
          </a:prstGeom>
          <a:solidFill>
            <a:srgbClr val="77828E"/>
          </a:solidFill>
          <a:ln w="12700">
            <a:solidFill>
              <a:srgbClr val="77828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98064" y="1453896"/>
            <a:ext cx="1143000" cy="466344"/>
          </a:xfrm>
          <a:prstGeom prst="roundRect">
            <a:avLst>
              <a:gd name="adj" fmla="val 27451"/>
            </a:avLst>
          </a:prstGeom>
          <a:solidFill>
            <a:srgbClr val="FBEAE8"/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843784" y="155448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Avisa POR RADIO</a:t>
            </a:r>
            <a:endParaRPr lang="en-US" sz="700" dirty="0"/>
          </a:p>
        </p:txBody>
      </p:sp>
      <p:sp>
        <p:nvSpPr>
          <p:cNvPr id="16" name="Text 14"/>
          <p:cNvSpPr txBox="1"/>
          <p:nvPr/>
        </p:nvSpPr>
        <p:spPr>
          <a:xfrm>
            <a:off x="2834640" y="1463040"/>
            <a:ext cx="10698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941064" y="1632204"/>
            <a:ext cx="118872" cy="109728"/>
          </a:xfrm>
          <a:prstGeom prst="rightArrow">
            <a:avLst/>
          </a:prstGeom>
          <a:solidFill>
            <a:srgbClr val="77828E"/>
          </a:solidFill>
          <a:ln w="12700">
            <a:solidFill>
              <a:srgbClr val="77828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0" y="1485900"/>
            <a:ext cx="402336" cy="402336"/>
          </a:xfrm>
          <a:prstGeom prst="diamond">
            <a:avLst/>
          </a:prstGeom>
          <a:solidFill>
            <a:srgbClr val="FFF9E8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114800" y="14859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6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3698748" y="19933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6E5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¿contesta alguien?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4517136" y="1632204"/>
            <a:ext cx="118872" cy="109728"/>
          </a:xfrm>
          <a:prstGeom prst="rightArrow">
            <a:avLst/>
          </a:prstGeom>
          <a:solidFill>
            <a:srgbClr val="77828E"/>
          </a:solidFill>
          <a:ln w="12700">
            <a:solidFill>
              <a:srgbClr val="77828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90872" y="1453896"/>
            <a:ext cx="1234440" cy="466344"/>
          </a:xfrm>
          <a:prstGeom prst="roundRect">
            <a:avLst>
              <a:gd name="adj" fmla="val 27451"/>
            </a:avLst>
          </a:prstGeom>
          <a:solidFill>
            <a:srgbClr val="FBEAE8"/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36592" y="15544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Vuelve a avisar manana</a:t>
            </a:r>
            <a:endParaRPr lang="en-US" sz="700" dirty="0"/>
          </a:p>
        </p:txBody>
      </p:sp>
      <p:sp>
        <p:nvSpPr>
          <p:cNvPr id="24" name="Text 22"/>
          <p:cNvSpPr txBox="1"/>
          <p:nvPr/>
        </p:nvSpPr>
        <p:spPr>
          <a:xfrm>
            <a:off x="4727448" y="1463040"/>
            <a:ext cx="1161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813816" y="2286000"/>
            <a:ext cx="1298448" cy="1417320"/>
          </a:xfrm>
          <a:prstGeom prst="rect">
            <a:avLst/>
          </a:prstGeom>
          <a:solidFill>
            <a:srgbClr val="272C34"/>
          </a:solidFill>
          <a:ln w="9525">
            <a:solidFill>
              <a:srgbClr val="4A525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9536" y="2286000"/>
            <a:ext cx="12070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112264" y="2286000"/>
            <a:ext cx="9546336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3CAD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2441448"/>
            <a:ext cx="1097280" cy="868680"/>
          </a:xfrm>
          <a:prstGeom prst="roundRect">
            <a:avLst>
              <a:gd name="adj" fmla="val 14737"/>
            </a:avLst>
          </a:prstGeom>
          <a:solidFill>
            <a:srgbClr val="FBEAE8"/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359152" y="2542032"/>
            <a:ext cx="10058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 en un cuaderno o en WhatsApp</a:t>
            </a:r>
            <a:endParaRPr lang="en-US" sz="700" dirty="0"/>
          </a:p>
        </p:txBody>
      </p:sp>
      <p:sp>
        <p:nvSpPr>
          <p:cNvPr id="30" name="Text 28"/>
          <p:cNvSpPr txBox="1"/>
          <p:nvPr/>
        </p:nvSpPr>
        <p:spPr>
          <a:xfrm>
            <a:off x="2350008" y="2450592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410712" y="2820924"/>
            <a:ext cx="118872" cy="109728"/>
          </a:xfrm>
          <a:prstGeom prst="rightArrow">
            <a:avLst/>
          </a:prstGeom>
          <a:solidFill>
            <a:srgbClr val="77828E"/>
          </a:solidFill>
          <a:ln w="12700">
            <a:solidFill>
              <a:srgbClr val="77828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84448" y="2674620"/>
            <a:ext cx="402336" cy="402336"/>
          </a:xfrm>
          <a:prstGeom prst="diamond">
            <a:avLst/>
          </a:prstGeom>
          <a:solidFill>
            <a:srgbClr val="FFF9E8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584448" y="26746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6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3168396" y="341071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6E5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¿se que camara es?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3986784" y="2820924"/>
            <a:ext cx="118872" cy="109728"/>
          </a:xfrm>
          <a:prstGeom prst="rightArrow">
            <a:avLst/>
          </a:prstGeom>
          <a:solidFill>
            <a:srgbClr val="77828E"/>
          </a:solidFill>
          <a:ln w="12700">
            <a:solidFill>
              <a:srgbClr val="77828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60520" y="2441448"/>
            <a:ext cx="96012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12700">
            <a:solidFill>
              <a:srgbClr val="97A1A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206240" y="2468880"/>
            <a:ext cx="8686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a planta a buscarla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5120640" y="2820924"/>
            <a:ext cx="118872" cy="109728"/>
          </a:xfrm>
          <a:prstGeom prst="rightArrow">
            <a:avLst/>
          </a:prstGeom>
          <a:solidFill>
            <a:srgbClr val="77828E"/>
          </a:solidFill>
          <a:ln w="12700">
            <a:solidFill>
              <a:srgbClr val="77828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294376" y="2441448"/>
            <a:ext cx="1188720" cy="868680"/>
          </a:xfrm>
          <a:prstGeom prst="roundRect">
            <a:avLst>
              <a:gd name="adj" fmla="val 14737"/>
            </a:avLst>
          </a:prstGeom>
          <a:solidFill>
            <a:srgbClr val="FFF3E3"/>
          </a:solidFill>
          <a:ln w="19050">
            <a:solidFill>
              <a:srgbClr val="E8590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340096" y="2542032"/>
            <a:ext cx="10972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 a mirar sin saber si hay que parar el tren</a:t>
            </a:r>
            <a:endParaRPr lang="en-US" sz="700" dirty="0"/>
          </a:p>
        </p:txBody>
      </p:sp>
      <p:sp>
        <p:nvSpPr>
          <p:cNvPr id="41" name="Text 39"/>
          <p:cNvSpPr txBox="1"/>
          <p:nvPr/>
        </p:nvSpPr>
        <p:spPr>
          <a:xfrm>
            <a:off x="5330952" y="2450592"/>
            <a:ext cx="1115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6483096" y="2820924"/>
            <a:ext cx="118872" cy="109728"/>
          </a:xfrm>
          <a:prstGeom prst="rightArrow">
            <a:avLst/>
          </a:prstGeom>
          <a:solidFill>
            <a:srgbClr val="77828E"/>
          </a:solidFill>
          <a:ln w="12700">
            <a:solidFill>
              <a:srgbClr val="77828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656832" y="2674620"/>
            <a:ext cx="402336" cy="402336"/>
          </a:xfrm>
          <a:prstGeom prst="diamond">
            <a:avLst/>
          </a:prstGeom>
          <a:solidFill>
            <a:srgbClr val="FFF9E8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656832" y="26746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6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6240780" y="341071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6E5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¿tengo el repuesto?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7059168" y="2820924"/>
            <a:ext cx="118872" cy="109728"/>
          </a:xfrm>
          <a:prstGeom prst="rightArrow">
            <a:avLst/>
          </a:prstGeom>
          <a:solidFill>
            <a:srgbClr val="77828E"/>
          </a:solidFill>
          <a:ln w="12700">
            <a:solidFill>
              <a:srgbClr val="77828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232904" y="2441448"/>
            <a:ext cx="1005840" cy="868680"/>
          </a:xfrm>
          <a:prstGeom prst="roundRect">
            <a:avLst>
              <a:gd name="adj" fmla="val 14737"/>
            </a:avLst>
          </a:prstGeom>
          <a:solidFill>
            <a:srgbClr val="FBEAE8"/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278624" y="2542032"/>
            <a:ext cx="9144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Esperar compra, sin fecha</a:t>
            </a:r>
            <a:endParaRPr lang="en-US" sz="700" dirty="0"/>
          </a:p>
        </p:txBody>
      </p:sp>
      <p:sp>
        <p:nvSpPr>
          <p:cNvPr id="49" name="Text 47"/>
          <p:cNvSpPr txBox="1"/>
          <p:nvPr/>
        </p:nvSpPr>
        <p:spPr>
          <a:xfrm>
            <a:off x="7269480" y="2450592"/>
            <a:ext cx="932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8238744" y="2820924"/>
            <a:ext cx="118872" cy="109728"/>
          </a:xfrm>
          <a:prstGeom prst="rightArrow">
            <a:avLst/>
          </a:prstGeom>
          <a:solidFill>
            <a:srgbClr val="77828E"/>
          </a:solidFill>
          <a:ln w="12700">
            <a:solidFill>
              <a:srgbClr val="77828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412480" y="2441448"/>
            <a:ext cx="658368" cy="868680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97A1AB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458200" y="2468880"/>
            <a:ext cx="56692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Arregla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9070848" y="2820924"/>
            <a:ext cx="118872" cy="109728"/>
          </a:xfrm>
          <a:prstGeom prst="rightArrow">
            <a:avLst/>
          </a:prstGeom>
          <a:solidFill>
            <a:srgbClr val="77828E"/>
          </a:solidFill>
          <a:ln w="12700">
            <a:solidFill>
              <a:srgbClr val="77828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244584" y="2441448"/>
            <a:ext cx="960120" cy="868680"/>
          </a:xfrm>
          <a:prstGeom prst="roundRect">
            <a:avLst>
              <a:gd name="adj" fmla="val 14737"/>
            </a:avLst>
          </a:prstGeom>
          <a:solidFill>
            <a:srgbClr val="FBEAE8"/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9290304" y="2542032"/>
            <a:ext cx="8686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cuenta de boca</a:t>
            </a:r>
            <a:endParaRPr lang="en-US" sz="700" dirty="0"/>
          </a:p>
        </p:txBody>
      </p:sp>
      <p:sp>
        <p:nvSpPr>
          <p:cNvPr id="56" name="Text 54"/>
          <p:cNvSpPr txBox="1"/>
          <p:nvPr/>
        </p:nvSpPr>
        <p:spPr>
          <a:xfrm>
            <a:off x="9281160" y="2450592"/>
            <a:ext cx="886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10204704" y="2820924"/>
            <a:ext cx="118872" cy="109728"/>
          </a:xfrm>
          <a:prstGeom prst="rightArrow">
            <a:avLst/>
          </a:prstGeom>
          <a:solidFill>
            <a:srgbClr val="77828E"/>
          </a:solidFill>
          <a:ln w="12700">
            <a:solidFill>
              <a:srgbClr val="77828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378440" y="2720340"/>
            <a:ext cx="310896" cy="310896"/>
          </a:xfrm>
          <a:prstGeom prst="ellipse">
            <a:avLst/>
          </a:prstGeom>
          <a:solidFill>
            <a:srgbClr val="FFFFFF"/>
          </a:solidFill>
          <a:ln w="34925">
            <a:solidFill>
              <a:srgbClr val="B3261E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9893808" y="34107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orden, sin causa,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firma</a:t>
            </a:r>
            <a:endParaRPr lang="en-US" sz="650" dirty="0"/>
          </a:p>
        </p:txBody>
      </p:sp>
      <p:sp>
        <p:nvSpPr>
          <p:cNvPr id="60" name="Shape 58"/>
          <p:cNvSpPr/>
          <p:nvPr/>
        </p:nvSpPr>
        <p:spPr>
          <a:xfrm>
            <a:off x="813816" y="3703320"/>
            <a:ext cx="1298448" cy="1325880"/>
          </a:xfrm>
          <a:prstGeom prst="rect">
            <a:avLst/>
          </a:prstGeom>
          <a:solidFill>
            <a:srgbClr val="272C34"/>
          </a:solidFill>
          <a:ln w="9525">
            <a:solidFill>
              <a:srgbClr val="4A525C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859536" y="3703320"/>
            <a:ext cx="120700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TERCERIA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(instalacion)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2112264" y="3703320"/>
            <a:ext cx="9546336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3CAD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313432" y="4091940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8C5A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2130552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«hay que poner una</a:t>
            </a:r>
            <a:endParaRPr lang="en-US" sz="650" dirty="0"/>
          </a:p>
          <a:p>
            <a:pPr algn="ctr" indent="0" marL="0">
              <a:buNone/>
            </a:pPr>
            <a:r>
              <a:rPr lang="en-US" sz="650" i="1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camara en el tren 2»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2624328" y="4192524"/>
            <a:ext cx="118872" cy="109728"/>
          </a:xfrm>
          <a:prstGeom prst="rightArrow">
            <a:avLst/>
          </a:prstGeom>
          <a:solidFill>
            <a:srgbClr val="77828E"/>
          </a:solidFill>
          <a:ln w="12700">
            <a:solidFill>
              <a:srgbClr val="77828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798064" y="3831336"/>
            <a:ext cx="1060704" cy="83210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97A1AB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2843784" y="3858768"/>
            <a:ext cx="969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A OJO donde va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3858768" y="4192524"/>
            <a:ext cx="118872" cy="109728"/>
          </a:xfrm>
          <a:prstGeom prst="rightArrow">
            <a:avLst/>
          </a:prstGeom>
          <a:solidFill>
            <a:srgbClr val="77828E"/>
          </a:solidFill>
          <a:ln w="12700">
            <a:solidFill>
              <a:srgbClr val="77828E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032504" y="3831336"/>
            <a:ext cx="1097280" cy="832104"/>
          </a:xfrm>
          <a:prstGeom prst="roundRect">
            <a:avLst>
              <a:gd name="adj" fmla="val 15385"/>
            </a:avLst>
          </a:prstGeom>
          <a:solidFill>
            <a:srgbClr val="FBEAE8"/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4078224" y="393192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Tira el cable donde se puede</a:t>
            </a:r>
            <a:endParaRPr lang="en-US" sz="700" dirty="0"/>
          </a:p>
        </p:txBody>
      </p:sp>
      <p:sp>
        <p:nvSpPr>
          <p:cNvPr id="71" name="Text 69"/>
          <p:cNvSpPr txBox="1"/>
          <p:nvPr/>
        </p:nvSpPr>
        <p:spPr>
          <a:xfrm>
            <a:off x="4069080" y="3840480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5129784" y="4192524"/>
            <a:ext cx="118872" cy="109728"/>
          </a:xfrm>
          <a:prstGeom prst="rightArrow">
            <a:avLst/>
          </a:prstGeom>
          <a:solidFill>
            <a:srgbClr val="77828E"/>
          </a:solidFill>
          <a:ln w="12700">
            <a:solidFill>
              <a:srgbClr val="77828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303520" y="3831336"/>
            <a:ext cx="1143000" cy="832104"/>
          </a:xfrm>
          <a:prstGeom prst="roundRect">
            <a:avLst>
              <a:gd name="adj" fmla="val 15385"/>
            </a:avLst>
          </a:prstGeom>
          <a:solidFill>
            <a:srgbClr val="FFF3E3"/>
          </a:solidFill>
          <a:ln w="19050">
            <a:solidFill>
              <a:srgbClr val="E8590C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5349240" y="393192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mide caudal, perdida ni alcance</a:t>
            </a:r>
            <a:endParaRPr lang="en-US" sz="700" dirty="0"/>
          </a:p>
        </p:txBody>
      </p:sp>
      <p:sp>
        <p:nvSpPr>
          <p:cNvPr id="75" name="Text 73"/>
          <p:cNvSpPr txBox="1"/>
          <p:nvPr/>
        </p:nvSpPr>
        <p:spPr>
          <a:xfrm>
            <a:off x="5340096" y="3840480"/>
            <a:ext cx="10698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6446520" y="4192524"/>
            <a:ext cx="118872" cy="109728"/>
          </a:xfrm>
          <a:prstGeom prst="rightArrow">
            <a:avLst/>
          </a:prstGeom>
          <a:solidFill>
            <a:srgbClr val="77828E"/>
          </a:solidFill>
          <a:ln w="12700">
            <a:solidFill>
              <a:srgbClr val="77828E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620256" y="3831336"/>
            <a:ext cx="1371600" cy="832104"/>
          </a:xfrm>
          <a:prstGeom prst="roundRect">
            <a:avLst>
              <a:gd name="adj" fmla="val 15385"/>
            </a:avLst>
          </a:prstGeom>
          <a:solidFill>
            <a:srgbClr val="FBEAE8"/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6665976" y="393192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 la antena con SU usuario y SU contrasena</a:t>
            </a:r>
            <a:endParaRPr lang="en-US" sz="700" dirty="0"/>
          </a:p>
        </p:txBody>
      </p:sp>
      <p:sp>
        <p:nvSpPr>
          <p:cNvPr id="79" name="Text 77"/>
          <p:cNvSpPr txBox="1"/>
          <p:nvPr/>
        </p:nvSpPr>
        <p:spPr>
          <a:xfrm>
            <a:off x="6656832" y="3840480"/>
            <a:ext cx="1298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7991856" y="4192524"/>
            <a:ext cx="118872" cy="109728"/>
          </a:xfrm>
          <a:prstGeom prst="rightArrow">
            <a:avLst/>
          </a:prstGeom>
          <a:solidFill>
            <a:srgbClr val="77828E"/>
          </a:solidFill>
          <a:ln w="12700">
            <a:solidFill>
              <a:srgbClr val="77828E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165592" y="3831336"/>
            <a:ext cx="1207008" cy="832104"/>
          </a:xfrm>
          <a:prstGeom prst="roundRect">
            <a:avLst>
              <a:gd name="adj" fmla="val 15385"/>
            </a:avLst>
          </a:prstGeom>
          <a:solidFill>
            <a:srgbClr val="FFF3E3"/>
          </a:solidFill>
          <a:ln w="19050">
            <a:solidFill>
              <a:srgbClr val="E8590C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8211312" y="3931920"/>
            <a:ext cx="1115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Enlaza al grabador que «le queda cerca»</a:t>
            </a:r>
            <a:endParaRPr lang="en-US" sz="700" dirty="0"/>
          </a:p>
        </p:txBody>
      </p:sp>
      <p:sp>
        <p:nvSpPr>
          <p:cNvPr id="83" name="Text 81"/>
          <p:cNvSpPr txBox="1"/>
          <p:nvPr/>
        </p:nvSpPr>
        <p:spPr>
          <a:xfrm>
            <a:off x="8202168" y="3840480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9372600" y="4192524"/>
            <a:ext cx="118872" cy="109728"/>
          </a:xfrm>
          <a:prstGeom prst="rightArrow">
            <a:avLst/>
          </a:prstGeom>
          <a:solidFill>
            <a:srgbClr val="77828E"/>
          </a:solidFill>
          <a:ln w="12700">
            <a:solidFill>
              <a:srgbClr val="77828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546336" y="4091940"/>
            <a:ext cx="310896" cy="310896"/>
          </a:xfrm>
          <a:prstGeom prst="ellipse">
            <a:avLst/>
          </a:prstGeom>
          <a:solidFill>
            <a:srgbClr val="FFFFFF"/>
          </a:solidFill>
          <a:ln w="34925">
            <a:solidFill>
              <a:srgbClr val="B3261E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9061704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plano, sin credenciales,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acta</a:t>
            </a:r>
            <a:endParaRPr lang="en-US" sz="650" dirty="0"/>
          </a:p>
        </p:txBody>
      </p:sp>
      <p:sp>
        <p:nvSpPr>
          <p:cNvPr id="87" name="Shape 85"/>
          <p:cNvSpPr/>
          <p:nvPr/>
        </p:nvSpPr>
        <p:spPr>
          <a:xfrm>
            <a:off x="813816" y="5029200"/>
            <a:ext cx="1298448" cy="1005840"/>
          </a:xfrm>
          <a:prstGeom prst="rect">
            <a:avLst/>
          </a:prstGeom>
          <a:solidFill>
            <a:srgbClr val="272C34"/>
          </a:solidFill>
          <a:ln w="9525">
            <a:solidFill>
              <a:srgbClr val="4A525C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859536" y="5029200"/>
            <a:ext cx="12070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JEFATURA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COMITE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2112264" y="5029200"/>
            <a:ext cx="9546336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3CAD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313432" y="5157216"/>
            <a:ext cx="1371600" cy="512064"/>
          </a:xfrm>
          <a:prstGeom prst="roundRect">
            <a:avLst>
              <a:gd name="adj" fmla="val 25000"/>
            </a:avLst>
          </a:prstGeom>
          <a:solidFill>
            <a:srgbClr val="FBEAE8"/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2359152" y="52578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¿Cuantas camaras hay?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«unas cuatrocientas»</a:t>
            </a:r>
            <a:endParaRPr lang="en-US" sz="700" dirty="0"/>
          </a:p>
        </p:txBody>
      </p:sp>
      <p:sp>
        <p:nvSpPr>
          <p:cNvPr id="92" name="Text 90"/>
          <p:cNvSpPr txBox="1"/>
          <p:nvPr/>
        </p:nvSpPr>
        <p:spPr>
          <a:xfrm>
            <a:off x="2350008" y="5166360"/>
            <a:ext cx="1298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3685032" y="5358384"/>
            <a:ext cx="118872" cy="109728"/>
          </a:xfrm>
          <a:prstGeom prst="rightArrow">
            <a:avLst/>
          </a:prstGeom>
          <a:solidFill>
            <a:srgbClr val="77828E"/>
          </a:solidFill>
          <a:ln w="12700">
            <a:solidFill>
              <a:srgbClr val="77828E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858768" y="5157216"/>
            <a:ext cx="1463040" cy="512064"/>
          </a:xfrm>
          <a:prstGeom prst="roundRect">
            <a:avLst>
              <a:gd name="adj" fmla="val 25000"/>
            </a:avLst>
          </a:prstGeom>
          <a:solidFill>
            <a:srgbClr val="FBEAE8"/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3904488" y="5257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¿Cuanto tardamos en arreglar?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«depende»</a:t>
            </a:r>
            <a:endParaRPr lang="en-US" sz="700" dirty="0"/>
          </a:p>
        </p:txBody>
      </p:sp>
      <p:sp>
        <p:nvSpPr>
          <p:cNvPr id="96" name="Text 94"/>
          <p:cNvSpPr txBox="1"/>
          <p:nvPr/>
        </p:nvSpPr>
        <p:spPr>
          <a:xfrm>
            <a:off x="3895344" y="5166360"/>
            <a:ext cx="1389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5321808" y="5358384"/>
            <a:ext cx="118872" cy="109728"/>
          </a:xfrm>
          <a:prstGeom prst="rightArrow">
            <a:avLst/>
          </a:prstGeom>
          <a:solidFill>
            <a:srgbClr val="77828E"/>
          </a:solidFill>
          <a:ln w="12700">
            <a:solidFill>
              <a:srgbClr val="77828E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5495544" y="5157216"/>
            <a:ext cx="1371600" cy="512064"/>
          </a:xfrm>
          <a:prstGeom prst="roundRect">
            <a:avLst>
              <a:gd name="adj" fmla="val 25000"/>
            </a:avLst>
          </a:prstGeom>
          <a:solidFill>
            <a:srgbClr val="FBEAE8"/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5541264" y="52578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¿Que falla mas?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«las del horno, creo»</a:t>
            </a:r>
            <a:endParaRPr lang="en-US" sz="700" dirty="0"/>
          </a:p>
        </p:txBody>
      </p:sp>
      <p:sp>
        <p:nvSpPr>
          <p:cNvPr id="100" name="Text 98"/>
          <p:cNvSpPr txBox="1"/>
          <p:nvPr/>
        </p:nvSpPr>
        <p:spPr>
          <a:xfrm>
            <a:off x="5532120" y="5166360"/>
            <a:ext cx="1298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6867144" y="5358384"/>
            <a:ext cx="118872" cy="109728"/>
          </a:xfrm>
          <a:prstGeom prst="rightArrow">
            <a:avLst/>
          </a:prstGeom>
          <a:solidFill>
            <a:srgbClr val="77828E"/>
          </a:solidFill>
          <a:ln w="12700">
            <a:solidFill>
              <a:srgbClr val="77828E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7040880" y="5257800"/>
            <a:ext cx="310896" cy="310896"/>
          </a:xfrm>
          <a:prstGeom prst="ellipse">
            <a:avLst/>
          </a:prstGeom>
          <a:solidFill>
            <a:srgbClr val="FFFFFF"/>
          </a:solidFill>
          <a:ln w="34925">
            <a:solidFill>
              <a:srgbClr val="B3261E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6556248" y="57424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presupuesto se decide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intuicion</a:t>
            </a:r>
            <a:endParaRPr lang="en-US" sz="650" dirty="0"/>
          </a:p>
        </p:txBody>
      </p:sp>
      <p:sp>
        <p:nvSpPr>
          <p:cNvPr id="104" name="Text 102"/>
          <p:cNvSpPr txBox="1"/>
          <p:nvPr/>
        </p:nvSpPr>
        <p:spPr>
          <a:xfrm>
            <a:off x="502920" y="618134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</a:t>
            </a:r>
            <a:pPr indent="0" marL="0">
              <a:buNone/>
            </a:pPr>
            <a:r>
              <a:rPr lang="en-US" sz="850" dirty="0">
                <a:solidFill>
                  <a:srgbClr val="5C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seguridad      </a:t>
            </a:r>
            <a:endParaRPr lang="en-US" sz="850" dirty="0"/>
          </a:p>
        </p:txBody>
      </p:sp>
      <p:sp>
        <p:nvSpPr>
          <p:cNvPr id="105" name="Text 103"/>
          <p:cNvSpPr txBox="1"/>
          <p:nvPr/>
        </p:nvSpPr>
        <p:spPr>
          <a:xfrm>
            <a:off x="2286000" y="618134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  </a:t>
            </a:r>
            <a:pPr indent="0" marL="0">
              <a:buNone/>
            </a:pPr>
            <a:r>
              <a:rPr lang="en-US" sz="850" dirty="0">
                <a:solidFill>
                  <a:srgbClr val="5C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critico      </a:t>
            </a:r>
            <a:endParaRPr lang="en-US" sz="850" dirty="0"/>
          </a:p>
        </p:txBody>
      </p:sp>
      <p:sp>
        <p:nvSpPr>
          <p:cNvPr id="106" name="Text 104"/>
          <p:cNvSpPr txBox="1"/>
          <p:nvPr/>
        </p:nvSpPr>
        <p:spPr>
          <a:xfrm>
            <a:off x="4069080" y="618134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pPr indent="0" marL="0">
              <a:buNone/>
            </a:pPr>
            <a:r>
              <a:rPr lang="en-US" sz="850" dirty="0">
                <a:solidFill>
                  <a:srgbClr val="5C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informacion que se pierde para siempre      </a:t>
            </a:r>
            <a:endParaRPr lang="en-US" sz="850" dirty="0"/>
          </a:p>
        </p:txBody>
      </p:sp>
      <p:sp>
        <p:nvSpPr>
          <p:cNvPr id="107" name="Text 105"/>
          <p:cNvSpPr txBox="1"/>
          <p:nvPr/>
        </p:nvSpPr>
        <p:spPr>
          <a:xfrm>
            <a:off x="6903720" y="618134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A6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 </a:t>
            </a:r>
            <a:pPr indent="0" marL="0">
              <a:buNone/>
            </a:pPr>
            <a:r>
              <a:rPr lang="en-US" sz="850" dirty="0">
                <a:solidFill>
                  <a:srgbClr val="5C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     </a:t>
            </a:r>
            <a:endParaRPr lang="en-US" sz="850" dirty="0"/>
          </a:p>
        </p:txBody>
      </p:sp>
      <p:sp>
        <p:nvSpPr>
          <p:cNvPr id="108" name="Text 106"/>
          <p:cNvSpPr txBox="1"/>
          <p:nvPr/>
        </p:nvSpPr>
        <p:spPr>
          <a:xfrm>
            <a:off x="8686800" y="618134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850" dirty="0">
                <a:solidFill>
                  <a:srgbClr val="5C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sin registro      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69848" y="310896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proceso con el software  ·  BPMN «TO-BE»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069848" y="85953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piscina y los mismos cuatro carriles. Cada rojo del anterior, cerrado en verde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310896" cy="4709160"/>
          </a:xfrm>
          <a:prstGeom prst="rect">
            <a:avLst/>
          </a:prstGeom>
          <a:solidFill>
            <a:srgbClr val="1E6B33"/>
          </a:solidFill>
          <a:ln w="12700">
            <a:solidFill>
              <a:srgbClr val="1E6B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 rot="16200000">
            <a:off x="-1696212" y="3525012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 PISCO  ·  CON SGIT-CCTV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13816" y="1325880"/>
            <a:ext cx="1298448" cy="960120"/>
          </a:xfrm>
          <a:prstGeom prst="rect">
            <a:avLst/>
          </a:prstGeom>
          <a:solidFill>
            <a:srgbClr val="272C34"/>
          </a:solidFill>
          <a:ln w="9525">
            <a:solidFill>
              <a:srgbClr val="4A525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59536" y="1325880"/>
            <a:ext cx="12070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(pulpito)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112264" y="1325880"/>
            <a:ext cx="9546336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3CAD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13432" y="1531620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8C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130552" y="19933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«no veo la camara</a:t>
            </a:r>
            <a:endParaRPr lang="en-US" sz="650" dirty="0"/>
          </a:p>
          <a:p>
            <a:pPr algn="ctr" indent="0" marL="0">
              <a:buNone/>
            </a:pPr>
            <a:r>
              <a:rPr lang="en-US" sz="650" i="1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foso»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2624328" y="1632204"/>
            <a:ext cx="118872" cy="109728"/>
          </a:xfrm>
          <a:prstGeom prst="rightArrow">
            <a:avLst/>
          </a:prstGeom>
          <a:solidFill>
            <a:srgbClr val="77828E"/>
          </a:solidFill>
          <a:ln w="12700">
            <a:solidFill>
              <a:srgbClr val="77828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98064" y="1453896"/>
            <a:ext cx="1325880" cy="466344"/>
          </a:xfrm>
          <a:prstGeom prst="roundRect">
            <a:avLst>
              <a:gd name="adj" fmla="val 27451"/>
            </a:avLst>
          </a:prstGeom>
          <a:solidFill>
            <a:srgbClr val="E8F3EB"/>
          </a:solidFill>
          <a:ln w="19050">
            <a:solidFill>
              <a:srgbClr val="1E6B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843784" y="155448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BOTON: «Reportar camara caida»</a:t>
            </a:r>
            <a:endParaRPr lang="en-US" sz="700" dirty="0"/>
          </a:p>
        </p:txBody>
      </p:sp>
      <p:sp>
        <p:nvSpPr>
          <p:cNvPr id="16" name="Text 14"/>
          <p:cNvSpPr txBox="1"/>
          <p:nvPr/>
        </p:nvSpPr>
        <p:spPr>
          <a:xfrm>
            <a:off x="2834640" y="1463040"/>
            <a:ext cx="1252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E6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123944" y="1632204"/>
            <a:ext cx="118872" cy="109728"/>
          </a:xfrm>
          <a:prstGeom prst="rightArrow">
            <a:avLst/>
          </a:prstGeom>
          <a:solidFill>
            <a:srgbClr val="77828E"/>
          </a:solidFill>
          <a:ln w="12700">
            <a:solidFill>
              <a:srgbClr val="77828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97680" y="1453896"/>
            <a:ext cx="1143000" cy="466344"/>
          </a:xfrm>
          <a:prstGeom prst="roundRect">
            <a:avLst>
              <a:gd name="adj" fmla="val 27451"/>
            </a:avLst>
          </a:prstGeom>
          <a:solidFill>
            <a:srgbClr val="E8F3EB"/>
          </a:solidFill>
          <a:ln w="19050">
            <a:solidFill>
              <a:srgbClr val="1E6B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343400" y="155448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con su nombre y la hora</a:t>
            </a:r>
            <a:endParaRPr lang="en-US" sz="700" dirty="0"/>
          </a:p>
        </p:txBody>
      </p:sp>
      <p:sp>
        <p:nvSpPr>
          <p:cNvPr id="20" name="Text 18"/>
          <p:cNvSpPr txBox="1"/>
          <p:nvPr/>
        </p:nvSpPr>
        <p:spPr>
          <a:xfrm>
            <a:off x="4334256" y="1463040"/>
            <a:ext cx="10698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E6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440680" y="1632204"/>
            <a:ext cx="118872" cy="109728"/>
          </a:xfrm>
          <a:prstGeom prst="rightArrow">
            <a:avLst/>
          </a:prstGeom>
          <a:solidFill>
            <a:srgbClr val="77828E"/>
          </a:solidFill>
          <a:ln w="12700">
            <a:solidFill>
              <a:srgbClr val="77828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14416" y="1453896"/>
            <a:ext cx="1143000" cy="466344"/>
          </a:xfrm>
          <a:prstGeom prst="roundRect">
            <a:avLst>
              <a:gd name="adj" fmla="val 27451"/>
            </a:avLst>
          </a:prstGeom>
          <a:solidFill>
            <a:srgbClr val="EEF3F8"/>
          </a:solidFill>
          <a:ln w="19050">
            <a:solidFill>
              <a:srgbClr val="6B8CA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660136" y="155448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avisa por Telegram</a:t>
            </a:r>
            <a:endParaRPr lang="en-US" sz="700" dirty="0"/>
          </a:p>
        </p:txBody>
      </p:sp>
      <p:sp>
        <p:nvSpPr>
          <p:cNvPr id="24" name="Text 22"/>
          <p:cNvSpPr txBox="1"/>
          <p:nvPr/>
        </p:nvSpPr>
        <p:spPr>
          <a:xfrm>
            <a:off x="5650992" y="1463040"/>
            <a:ext cx="10698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446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⊙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813816" y="2286000"/>
            <a:ext cx="1298448" cy="1417320"/>
          </a:xfrm>
          <a:prstGeom prst="rect">
            <a:avLst/>
          </a:prstGeom>
          <a:solidFill>
            <a:srgbClr val="272C34"/>
          </a:solidFill>
          <a:ln w="9525">
            <a:solidFill>
              <a:srgbClr val="4A525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9536" y="2286000"/>
            <a:ext cx="12070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112264" y="2286000"/>
            <a:ext cx="9546336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3CAD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2441448"/>
            <a:ext cx="932688" cy="868680"/>
          </a:xfrm>
          <a:prstGeom prst="roundRect">
            <a:avLst>
              <a:gd name="adj" fmla="val 14737"/>
            </a:avLst>
          </a:prstGeom>
          <a:solidFill>
            <a:srgbClr val="E8F3EB"/>
          </a:solidFill>
          <a:ln w="19050">
            <a:solidFill>
              <a:srgbClr val="1E6B3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359152" y="2542032"/>
            <a:ext cx="84124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en MI BANDEJA, por prioridad</a:t>
            </a:r>
            <a:endParaRPr lang="en-US" sz="700" dirty="0"/>
          </a:p>
        </p:txBody>
      </p:sp>
      <p:sp>
        <p:nvSpPr>
          <p:cNvPr id="30" name="Text 28"/>
          <p:cNvSpPr txBox="1"/>
          <p:nvPr/>
        </p:nvSpPr>
        <p:spPr>
          <a:xfrm>
            <a:off x="2350008" y="2450592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E6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246120" y="2820924"/>
            <a:ext cx="118872" cy="109728"/>
          </a:xfrm>
          <a:prstGeom prst="rightArrow">
            <a:avLst/>
          </a:prstGeom>
          <a:solidFill>
            <a:srgbClr val="77828E"/>
          </a:solidFill>
          <a:ln w="12700">
            <a:solidFill>
              <a:srgbClr val="77828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19856" y="2441448"/>
            <a:ext cx="1024128" cy="868680"/>
          </a:xfrm>
          <a:prstGeom prst="roundRect">
            <a:avLst>
              <a:gd name="adj" fmla="val 14737"/>
            </a:avLst>
          </a:prstGeom>
          <a:solidFill>
            <a:srgbClr val="E8F3EB"/>
          </a:solidFill>
          <a:ln w="19050">
            <a:solidFill>
              <a:srgbClr val="1E6B3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465576" y="2542032"/>
            <a:ext cx="93268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convierte en ORDEN, con fecha y solicitante</a:t>
            </a:r>
            <a:endParaRPr lang="en-US" sz="700" dirty="0"/>
          </a:p>
        </p:txBody>
      </p:sp>
      <p:sp>
        <p:nvSpPr>
          <p:cNvPr id="34" name="Text 32"/>
          <p:cNvSpPr txBox="1"/>
          <p:nvPr/>
        </p:nvSpPr>
        <p:spPr>
          <a:xfrm>
            <a:off x="3456432" y="2450592"/>
            <a:ext cx="950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E6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443984" y="2820924"/>
            <a:ext cx="118872" cy="109728"/>
          </a:xfrm>
          <a:prstGeom prst="rightArrow">
            <a:avLst/>
          </a:prstGeom>
          <a:solidFill>
            <a:srgbClr val="77828E"/>
          </a:solidFill>
          <a:ln w="12700">
            <a:solidFill>
              <a:srgbClr val="77828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17720" y="2441448"/>
            <a:ext cx="91440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12700">
            <a:solidFill>
              <a:srgbClr val="97A1A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663440" y="2468880"/>
            <a:ext cx="8229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tecnico ESCANEA EL QR del equipo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5532120" y="2820924"/>
            <a:ext cx="118872" cy="109728"/>
          </a:xfrm>
          <a:prstGeom prst="rightArrow">
            <a:avLst/>
          </a:prstGeom>
          <a:solidFill>
            <a:srgbClr val="77828E"/>
          </a:solidFill>
          <a:ln w="12700">
            <a:solidFill>
              <a:srgbClr val="77828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705856" y="2441448"/>
            <a:ext cx="1005840" cy="868680"/>
          </a:xfrm>
          <a:prstGeom prst="roundRect">
            <a:avLst>
              <a:gd name="adj" fmla="val 14737"/>
            </a:avLst>
          </a:prstGeom>
          <a:solidFill>
            <a:srgbClr val="3A2320"/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751576" y="2542032"/>
            <a:ext cx="9144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 PARADA DE TREN — arriba del todo</a:t>
            </a:r>
            <a:endParaRPr lang="en-US" sz="700" dirty="0"/>
          </a:p>
        </p:txBody>
      </p:sp>
      <p:sp>
        <p:nvSpPr>
          <p:cNvPr id="41" name="Text 39"/>
          <p:cNvSpPr txBox="1"/>
          <p:nvPr/>
        </p:nvSpPr>
        <p:spPr>
          <a:xfrm>
            <a:off x="5742432" y="2450592"/>
            <a:ext cx="932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6711696" y="2820924"/>
            <a:ext cx="118872" cy="109728"/>
          </a:xfrm>
          <a:prstGeom prst="rightArrow">
            <a:avLst/>
          </a:prstGeom>
          <a:solidFill>
            <a:srgbClr val="77828E"/>
          </a:solidFill>
          <a:ln w="12700">
            <a:solidFill>
              <a:srgbClr val="77828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885432" y="2441448"/>
            <a:ext cx="1005840" cy="868680"/>
          </a:xfrm>
          <a:prstGeom prst="roundRect">
            <a:avLst>
              <a:gd name="adj" fmla="val 14737"/>
            </a:avLst>
          </a:prstGeom>
          <a:solidFill>
            <a:srgbClr val="E8F3EB"/>
          </a:solidFill>
          <a:ln w="19050">
            <a:solidFill>
              <a:srgbClr val="1E6B33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931152" y="2542032"/>
            <a:ext cx="9144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ruta: pasos, EPP y bloqueo de energia</a:t>
            </a:r>
            <a:endParaRPr lang="en-US" sz="700" dirty="0"/>
          </a:p>
        </p:txBody>
      </p:sp>
      <p:sp>
        <p:nvSpPr>
          <p:cNvPr id="45" name="Text 43"/>
          <p:cNvSpPr txBox="1"/>
          <p:nvPr/>
        </p:nvSpPr>
        <p:spPr>
          <a:xfrm>
            <a:off x="6922008" y="2450592"/>
            <a:ext cx="932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E6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7891272" y="2820924"/>
            <a:ext cx="118872" cy="109728"/>
          </a:xfrm>
          <a:prstGeom prst="rightArrow">
            <a:avLst/>
          </a:prstGeom>
          <a:solidFill>
            <a:srgbClr val="77828E"/>
          </a:solidFill>
          <a:ln w="12700">
            <a:solidFill>
              <a:srgbClr val="77828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065008" y="2674620"/>
            <a:ext cx="402336" cy="402336"/>
          </a:xfrm>
          <a:prstGeom prst="diamond">
            <a:avLst/>
          </a:prstGeom>
          <a:solidFill>
            <a:srgbClr val="FFF9E8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065008" y="26746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6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7648956" y="341071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6E5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¿hay repuesto? se sabe ANTES de subir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8467344" y="2820924"/>
            <a:ext cx="118872" cy="109728"/>
          </a:xfrm>
          <a:prstGeom prst="rightArrow">
            <a:avLst/>
          </a:prstGeom>
          <a:solidFill>
            <a:srgbClr val="77828E"/>
          </a:solidFill>
          <a:ln w="12700">
            <a:solidFill>
              <a:srgbClr val="77828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641080" y="2441448"/>
            <a:ext cx="914400" cy="868680"/>
          </a:xfrm>
          <a:prstGeom prst="roundRect">
            <a:avLst>
              <a:gd name="adj" fmla="val 14737"/>
            </a:avLst>
          </a:prstGeom>
          <a:solidFill>
            <a:srgbClr val="E8F3EB"/>
          </a:solidFill>
          <a:ln w="19050">
            <a:solidFill>
              <a:srgbClr val="1E6B33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686800" y="2542032"/>
            <a:ext cx="8229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 el avance desde el telefono</a:t>
            </a:r>
            <a:endParaRPr lang="en-US" sz="700" dirty="0"/>
          </a:p>
        </p:txBody>
      </p:sp>
      <p:sp>
        <p:nvSpPr>
          <p:cNvPr id="53" name="Text 51"/>
          <p:cNvSpPr txBox="1"/>
          <p:nvPr/>
        </p:nvSpPr>
        <p:spPr>
          <a:xfrm>
            <a:off x="8677656" y="2450592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E6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9555480" y="2820924"/>
            <a:ext cx="118872" cy="109728"/>
          </a:xfrm>
          <a:prstGeom prst="rightArrow">
            <a:avLst/>
          </a:prstGeom>
          <a:solidFill>
            <a:srgbClr val="77828E"/>
          </a:solidFill>
          <a:ln w="12700">
            <a:solidFill>
              <a:srgbClr val="77828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729216" y="2441448"/>
            <a:ext cx="868680" cy="868680"/>
          </a:xfrm>
          <a:prstGeom prst="roundRect">
            <a:avLst>
              <a:gd name="adj" fmla="val 14737"/>
            </a:avLst>
          </a:prstGeom>
          <a:solidFill>
            <a:srgbClr val="E8F3EB"/>
          </a:solidFill>
          <a:ln w="19050">
            <a:solidFill>
              <a:srgbClr val="1E6B33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9774936" y="2542032"/>
            <a:ext cx="7772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JEFE cierra y FIRMA</a:t>
            </a:r>
            <a:endParaRPr lang="en-US" sz="700" dirty="0"/>
          </a:p>
        </p:txBody>
      </p:sp>
      <p:sp>
        <p:nvSpPr>
          <p:cNvPr id="57" name="Text 55"/>
          <p:cNvSpPr txBox="1"/>
          <p:nvPr/>
        </p:nvSpPr>
        <p:spPr>
          <a:xfrm>
            <a:off x="9765792" y="2450592"/>
            <a:ext cx="7955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E6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10597896" y="2820924"/>
            <a:ext cx="118872" cy="109728"/>
          </a:xfrm>
          <a:prstGeom prst="rightArrow">
            <a:avLst/>
          </a:prstGeom>
          <a:solidFill>
            <a:srgbClr val="77828E"/>
          </a:solidFill>
          <a:ln w="12700">
            <a:solidFill>
              <a:srgbClr val="77828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771632" y="2720340"/>
            <a:ext cx="310896" cy="310896"/>
          </a:xfrm>
          <a:prstGeom prst="ellipse">
            <a:avLst/>
          </a:prstGeom>
          <a:solidFill>
            <a:srgbClr val="FFFFFF"/>
          </a:solidFill>
          <a:ln w="34925">
            <a:solidFill>
              <a:srgbClr val="B3261E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10287000" y="34107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 de catalogo,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e informe PDF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813816" y="3703320"/>
            <a:ext cx="1298448" cy="1325880"/>
          </a:xfrm>
          <a:prstGeom prst="rect">
            <a:avLst/>
          </a:prstGeom>
          <a:solidFill>
            <a:srgbClr val="272C34"/>
          </a:solidFill>
          <a:ln w="9525">
            <a:solidFill>
              <a:srgbClr val="4A525C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859536" y="3703320"/>
            <a:ext cx="120700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TERCERIA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(instalacion)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2112264" y="3703320"/>
            <a:ext cx="9546336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3CAD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313432" y="4091940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8C5A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2130552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«hay que poner una</a:t>
            </a:r>
            <a:endParaRPr lang="en-US" sz="650" dirty="0"/>
          </a:p>
          <a:p>
            <a:pPr algn="ctr" indent="0" marL="0">
              <a:buNone/>
            </a:pPr>
            <a:r>
              <a:rPr lang="en-US" sz="650" i="1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camara en el tren 2»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2624328" y="4192524"/>
            <a:ext cx="118872" cy="109728"/>
          </a:xfrm>
          <a:prstGeom prst="rightArrow">
            <a:avLst/>
          </a:prstGeom>
          <a:solidFill>
            <a:srgbClr val="77828E"/>
          </a:solidFill>
          <a:ln w="12700">
            <a:solidFill>
              <a:srgbClr val="77828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98064" y="3831336"/>
            <a:ext cx="1115568" cy="832104"/>
          </a:xfrm>
          <a:prstGeom prst="roundRect">
            <a:avLst>
              <a:gd name="adj" fmla="val 15385"/>
            </a:avLst>
          </a:prstGeom>
          <a:solidFill>
            <a:srgbClr val="E8F3EB"/>
          </a:solidFill>
          <a:ln w="19050">
            <a:solidFill>
              <a:srgbClr val="1E6B33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2843784" y="3931920"/>
            <a:ext cx="1024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EXIGE visita tecnica</a:t>
            </a:r>
            <a:endParaRPr lang="en-US" sz="700" dirty="0"/>
          </a:p>
        </p:txBody>
      </p:sp>
      <p:sp>
        <p:nvSpPr>
          <p:cNvPr id="69" name="Text 67"/>
          <p:cNvSpPr txBox="1"/>
          <p:nvPr/>
        </p:nvSpPr>
        <p:spPr>
          <a:xfrm>
            <a:off x="2834640" y="3840480"/>
            <a:ext cx="1042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E6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3913632" y="4192524"/>
            <a:ext cx="118872" cy="109728"/>
          </a:xfrm>
          <a:prstGeom prst="rightArrow">
            <a:avLst/>
          </a:prstGeom>
          <a:solidFill>
            <a:srgbClr val="77828E"/>
          </a:solidFill>
          <a:ln w="12700">
            <a:solidFill>
              <a:srgbClr val="77828E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087368" y="3831336"/>
            <a:ext cx="1133856" cy="832104"/>
          </a:xfrm>
          <a:prstGeom prst="roundRect">
            <a:avLst>
              <a:gd name="adj" fmla="val 15385"/>
            </a:avLst>
          </a:prstGeom>
          <a:solidFill>
            <a:srgbClr val="E8F3EB"/>
          </a:solidFill>
          <a:ln w="19050">
            <a:solidFill>
              <a:srgbClr val="1E6B33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4133088" y="3931920"/>
            <a:ext cx="1042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formulario cambia segun el sitio</a:t>
            </a:r>
            <a:endParaRPr lang="en-US" sz="700" dirty="0"/>
          </a:p>
        </p:txBody>
      </p:sp>
      <p:sp>
        <p:nvSpPr>
          <p:cNvPr id="73" name="Text 71"/>
          <p:cNvSpPr txBox="1"/>
          <p:nvPr/>
        </p:nvSpPr>
        <p:spPr>
          <a:xfrm>
            <a:off x="4123944" y="3840480"/>
            <a:ext cx="1060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E6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5221224" y="4192524"/>
            <a:ext cx="118872" cy="109728"/>
          </a:xfrm>
          <a:prstGeom prst="rightArrow">
            <a:avLst/>
          </a:prstGeom>
          <a:solidFill>
            <a:srgbClr val="77828E"/>
          </a:solidFill>
          <a:ln w="12700">
            <a:solidFill>
              <a:srgbClr val="77828E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394960" y="3831336"/>
            <a:ext cx="1170432" cy="832104"/>
          </a:xfrm>
          <a:prstGeom prst="roundRect">
            <a:avLst>
              <a:gd name="adj" fmla="val 15385"/>
            </a:avLst>
          </a:prstGeom>
          <a:solidFill>
            <a:srgbClr val="E8F3EB"/>
          </a:solidFill>
          <a:ln w="19050">
            <a:solidFill>
              <a:srgbClr val="1E6B33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5440680" y="3931920"/>
            <a:ext cx="1078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los campos obligatorios NO se cierra</a:t>
            </a:r>
            <a:endParaRPr lang="en-US" sz="700" dirty="0"/>
          </a:p>
        </p:txBody>
      </p:sp>
      <p:sp>
        <p:nvSpPr>
          <p:cNvPr id="77" name="Text 75"/>
          <p:cNvSpPr txBox="1"/>
          <p:nvPr/>
        </p:nvSpPr>
        <p:spPr>
          <a:xfrm>
            <a:off x="5431536" y="384048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E6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6565392" y="4192524"/>
            <a:ext cx="118872" cy="109728"/>
          </a:xfrm>
          <a:prstGeom prst="rightArrow">
            <a:avLst/>
          </a:prstGeom>
          <a:solidFill>
            <a:srgbClr val="77828E"/>
          </a:solidFill>
          <a:ln w="12700">
            <a:solidFill>
              <a:srgbClr val="77828E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739128" y="3831336"/>
            <a:ext cx="1243584" cy="832104"/>
          </a:xfrm>
          <a:prstGeom prst="roundRect">
            <a:avLst>
              <a:gd name="adj" fmla="val 15385"/>
            </a:avLst>
          </a:prstGeom>
          <a:solidFill>
            <a:srgbClr val="E8F3EB"/>
          </a:solidFill>
          <a:ln w="19050">
            <a:solidFill>
              <a:srgbClr val="1E6B33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6784848" y="3931920"/>
            <a:ext cx="1152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 guardadas CIFRADAS en el sistema</a:t>
            </a:r>
            <a:endParaRPr lang="en-US" sz="700" dirty="0"/>
          </a:p>
        </p:txBody>
      </p:sp>
      <p:sp>
        <p:nvSpPr>
          <p:cNvPr id="81" name="Text 79"/>
          <p:cNvSpPr txBox="1"/>
          <p:nvPr/>
        </p:nvSpPr>
        <p:spPr>
          <a:xfrm>
            <a:off x="6775704" y="3840480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E6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7982712" y="4192524"/>
            <a:ext cx="118872" cy="109728"/>
          </a:xfrm>
          <a:prstGeom prst="rightArrow">
            <a:avLst/>
          </a:prstGeom>
          <a:solidFill>
            <a:srgbClr val="77828E"/>
          </a:solidFill>
          <a:ln w="12700">
            <a:solidFill>
              <a:srgbClr val="77828E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156448" y="3831336"/>
            <a:ext cx="1115568" cy="832104"/>
          </a:xfrm>
          <a:prstGeom prst="roundRect">
            <a:avLst>
              <a:gd name="adj" fmla="val 15385"/>
            </a:avLst>
          </a:prstGeom>
          <a:solidFill>
            <a:srgbClr val="E8F3EB"/>
          </a:solidFill>
          <a:ln w="19050">
            <a:solidFill>
              <a:srgbClr val="1E6B33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8202168" y="3931920"/>
            <a:ext cx="1024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cerrar NACE EL ACTIVO, con su QR</a:t>
            </a:r>
            <a:endParaRPr lang="en-US" sz="700" dirty="0"/>
          </a:p>
        </p:txBody>
      </p:sp>
      <p:sp>
        <p:nvSpPr>
          <p:cNvPr id="85" name="Text 83"/>
          <p:cNvSpPr txBox="1"/>
          <p:nvPr/>
        </p:nvSpPr>
        <p:spPr>
          <a:xfrm>
            <a:off x="8193024" y="3840480"/>
            <a:ext cx="1042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E6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9272016" y="4192524"/>
            <a:ext cx="118872" cy="109728"/>
          </a:xfrm>
          <a:prstGeom prst="rightArrow">
            <a:avLst/>
          </a:prstGeom>
          <a:solidFill>
            <a:srgbClr val="77828E"/>
          </a:solidFill>
          <a:ln w="12700">
            <a:solidFill>
              <a:srgbClr val="77828E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445752" y="4091940"/>
            <a:ext cx="310896" cy="310896"/>
          </a:xfrm>
          <a:prstGeom prst="ellipse">
            <a:avLst/>
          </a:prstGeom>
          <a:solidFill>
            <a:srgbClr val="FFFFFF"/>
          </a:solidFill>
          <a:ln w="34925">
            <a:solidFill>
              <a:srgbClr val="B3261E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896112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plano, medidas,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 y acta</a:t>
            </a:r>
            <a:endParaRPr lang="en-US" sz="650" dirty="0"/>
          </a:p>
        </p:txBody>
      </p:sp>
      <p:sp>
        <p:nvSpPr>
          <p:cNvPr id="89" name="Shape 87"/>
          <p:cNvSpPr/>
          <p:nvPr/>
        </p:nvSpPr>
        <p:spPr>
          <a:xfrm>
            <a:off x="813816" y="5029200"/>
            <a:ext cx="1298448" cy="1005840"/>
          </a:xfrm>
          <a:prstGeom prst="rect">
            <a:avLst/>
          </a:prstGeom>
          <a:solidFill>
            <a:srgbClr val="272C34"/>
          </a:solidFill>
          <a:ln w="9525">
            <a:solidFill>
              <a:srgbClr val="4A525C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859536" y="5029200"/>
            <a:ext cx="12070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JEFATURA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COMITE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2112264" y="5029200"/>
            <a:ext cx="9546336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3CAD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2313432" y="5157216"/>
            <a:ext cx="1600200" cy="512064"/>
          </a:xfrm>
          <a:prstGeom prst="roundRect">
            <a:avLst>
              <a:gd name="adj" fmla="val 25000"/>
            </a:avLst>
          </a:prstGeom>
          <a:solidFill>
            <a:srgbClr val="E8F3EB"/>
          </a:solidFill>
          <a:ln w="19050">
            <a:solidFill>
              <a:srgbClr val="1E6B33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2359152" y="52578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INDICADORES: MTTR, MTBF, backlog, SLA</a:t>
            </a:r>
            <a:endParaRPr lang="en-US" sz="700" dirty="0"/>
          </a:p>
        </p:txBody>
      </p:sp>
      <p:sp>
        <p:nvSpPr>
          <p:cNvPr id="94" name="Text 92"/>
          <p:cNvSpPr txBox="1"/>
          <p:nvPr/>
        </p:nvSpPr>
        <p:spPr>
          <a:xfrm>
            <a:off x="2350008" y="5166360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E6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3913632" y="5358384"/>
            <a:ext cx="118872" cy="109728"/>
          </a:xfrm>
          <a:prstGeom prst="rightArrow">
            <a:avLst/>
          </a:prstGeom>
          <a:solidFill>
            <a:srgbClr val="77828E"/>
          </a:solidFill>
          <a:ln w="12700">
            <a:solidFill>
              <a:srgbClr val="77828E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087368" y="5157216"/>
            <a:ext cx="1463040" cy="512064"/>
          </a:xfrm>
          <a:prstGeom prst="roundRect">
            <a:avLst>
              <a:gd name="adj" fmla="val 25000"/>
            </a:avLst>
          </a:prstGeom>
          <a:solidFill>
            <a:srgbClr val="E8F3EB"/>
          </a:solidFill>
          <a:ln w="19050">
            <a:solidFill>
              <a:srgbClr val="1E6B33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4133088" y="5257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del preventivo y normativo</a:t>
            </a:r>
            <a:endParaRPr lang="en-US" sz="700" dirty="0"/>
          </a:p>
        </p:txBody>
      </p:sp>
      <p:sp>
        <p:nvSpPr>
          <p:cNvPr id="98" name="Text 96"/>
          <p:cNvSpPr txBox="1"/>
          <p:nvPr/>
        </p:nvSpPr>
        <p:spPr>
          <a:xfrm>
            <a:off x="4123944" y="5166360"/>
            <a:ext cx="1389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E6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5550408" y="5358384"/>
            <a:ext cx="118872" cy="109728"/>
          </a:xfrm>
          <a:prstGeom prst="rightArrow">
            <a:avLst/>
          </a:prstGeom>
          <a:solidFill>
            <a:srgbClr val="77828E"/>
          </a:solidFill>
          <a:ln w="12700">
            <a:solidFill>
              <a:srgbClr val="77828E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5724144" y="5157216"/>
            <a:ext cx="1463040" cy="512064"/>
          </a:xfrm>
          <a:prstGeom prst="roundRect">
            <a:avLst>
              <a:gd name="adj" fmla="val 25000"/>
            </a:avLst>
          </a:prstGeom>
          <a:solidFill>
            <a:srgbClr val="E8F3EB"/>
          </a:solidFill>
          <a:ln w="19050">
            <a:solidFill>
              <a:srgbClr val="1E6B33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5769864" y="5257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 el EXCEL con los MISMOS numeros</a:t>
            </a:r>
            <a:endParaRPr lang="en-US" sz="700" dirty="0"/>
          </a:p>
        </p:txBody>
      </p:sp>
      <p:sp>
        <p:nvSpPr>
          <p:cNvPr id="102" name="Text 100"/>
          <p:cNvSpPr txBox="1"/>
          <p:nvPr/>
        </p:nvSpPr>
        <p:spPr>
          <a:xfrm>
            <a:off x="5760720" y="5166360"/>
            <a:ext cx="1389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E6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50" dirty="0"/>
          </a:p>
        </p:txBody>
      </p:sp>
      <p:sp>
        <p:nvSpPr>
          <p:cNvPr id="103" name="Shape 101"/>
          <p:cNvSpPr/>
          <p:nvPr/>
        </p:nvSpPr>
        <p:spPr>
          <a:xfrm>
            <a:off x="7187184" y="5358384"/>
            <a:ext cx="118872" cy="109728"/>
          </a:xfrm>
          <a:prstGeom prst="rightArrow">
            <a:avLst/>
          </a:prstGeom>
          <a:solidFill>
            <a:srgbClr val="77828E"/>
          </a:solidFill>
          <a:ln w="12700">
            <a:solidFill>
              <a:srgbClr val="77828E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7360920" y="5257800"/>
            <a:ext cx="310896" cy="310896"/>
          </a:xfrm>
          <a:prstGeom prst="ellipse">
            <a:avLst/>
          </a:prstGeom>
          <a:solidFill>
            <a:srgbClr val="FFFFFF"/>
          </a:solidFill>
          <a:ln w="34925">
            <a:solidFill>
              <a:srgbClr val="B3261E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6876288" y="57424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presupuesto se pide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cifras medidas</a:t>
            </a:r>
            <a:endParaRPr lang="en-US" sz="650" dirty="0"/>
          </a:p>
        </p:txBody>
      </p:sp>
      <p:sp>
        <p:nvSpPr>
          <p:cNvPr id="106" name="Text 104"/>
          <p:cNvSpPr txBox="1"/>
          <p:nvPr/>
        </p:nvSpPr>
        <p:spPr>
          <a:xfrm>
            <a:off x="502920" y="618134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6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5C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punto rojo del AS-IS, resuelto      </a:t>
            </a:r>
            <a:endParaRPr lang="en-US" sz="850" dirty="0"/>
          </a:p>
        </p:txBody>
      </p:sp>
      <p:sp>
        <p:nvSpPr>
          <p:cNvPr id="107" name="Text 105"/>
          <p:cNvSpPr txBox="1"/>
          <p:nvPr/>
        </p:nvSpPr>
        <p:spPr>
          <a:xfrm>
            <a:off x="3337560" y="618134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pPr indent="0" marL="0">
              <a:buNone/>
            </a:pPr>
            <a:r>
              <a:rPr lang="en-US" sz="850" dirty="0">
                <a:solidFill>
                  <a:srgbClr val="5C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 de seguridad en pantalla      </a:t>
            </a:r>
            <a:endParaRPr lang="en-US" sz="850" dirty="0"/>
          </a:p>
        </p:txBody>
      </p:sp>
      <p:sp>
        <p:nvSpPr>
          <p:cNvPr id="108" name="Text 106"/>
          <p:cNvSpPr txBox="1"/>
          <p:nvPr/>
        </p:nvSpPr>
        <p:spPr>
          <a:xfrm>
            <a:off x="5623560" y="618134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46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⊙  </a:t>
            </a:r>
            <a:pPr indent="0" marL="0">
              <a:buNone/>
            </a:pPr>
            <a:r>
              <a:rPr lang="en-US" sz="850" dirty="0">
                <a:solidFill>
                  <a:srgbClr val="5C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hace el sistema solo      </a:t>
            </a:r>
            <a:endParaRPr lang="en-US" sz="850" dirty="0"/>
          </a:p>
        </p:txBody>
      </p:sp>
      <p:sp>
        <p:nvSpPr>
          <p:cNvPr id="109" name="Text 107"/>
          <p:cNvSpPr txBox="1"/>
          <p:nvPr/>
        </p:nvSpPr>
        <p:spPr>
          <a:xfrm>
            <a:off x="7909560" y="618134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A6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 </a:t>
            </a:r>
            <a:pPr indent="0" marL="0">
              <a:buNone/>
            </a:pPr>
            <a:r>
              <a:rPr lang="en-US" sz="850" dirty="0">
                <a:solidFill>
                  <a:srgbClr val="5C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decision, ya con el dato delante      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2·5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69848" y="310896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dos procesos, punto por punto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069848" y="85953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contraste de los dos BPMN, leido carril a carril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298448"/>
            <a:ext cx="1691640" cy="841248"/>
          </a:xfrm>
          <a:prstGeom prst="roundRect">
            <a:avLst>
              <a:gd name="adj" fmla="val 5435"/>
            </a:avLst>
          </a:prstGeom>
          <a:solidFill>
            <a:srgbClr val="272C34"/>
          </a:solidFill>
          <a:ln w="12700">
            <a:solidFill>
              <a:srgbClr val="272C3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57784" y="1298448"/>
            <a:ext cx="15819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(pulpito)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304288" y="1298448"/>
            <a:ext cx="9354312" cy="384048"/>
          </a:xfrm>
          <a:prstGeom prst="roundRect">
            <a:avLst>
              <a:gd name="adj" fmla="val 14286"/>
            </a:avLst>
          </a:prstGeom>
          <a:solidFill>
            <a:srgbClr val="FBEAE8"/>
          </a:solidFill>
          <a:ln w="12700">
            <a:solidFill>
              <a:srgbClr val="F0CFC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14016" y="1335024"/>
            <a:ext cx="9134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Avisa POR RADIO — sin registro.  Si nadie contesta, vuelve a avisar manana.   ◆ se pierde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304288" y="1755648"/>
            <a:ext cx="9354312" cy="384048"/>
          </a:xfrm>
          <a:prstGeom prst="roundRect">
            <a:avLst>
              <a:gd name="adj" fmla="val 14286"/>
            </a:avLst>
          </a:prstGeom>
          <a:solidFill>
            <a:srgbClr val="E8F3EB"/>
          </a:solidFill>
          <a:ln w="12700">
            <a:solidFill>
              <a:srgbClr val="C9E2D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414016" y="1792224"/>
            <a:ext cx="9134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BOTON: «Reportar camara caida» — queda con nombre y hora.  El sistema avisa solo por Telegram.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02920" y="2249424"/>
            <a:ext cx="1691640" cy="1536192"/>
          </a:xfrm>
          <a:prstGeom prst="roundRect">
            <a:avLst>
              <a:gd name="adj" fmla="val 2976"/>
            </a:avLst>
          </a:prstGeom>
          <a:solidFill>
            <a:srgbClr val="272C34"/>
          </a:solidFill>
          <a:ln w="12700">
            <a:solidFill>
              <a:srgbClr val="272C3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7784" y="2249424"/>
            <a:ext cx="1581912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304288" y="2249424"/>
            <a:ext cx="9354312" cy="731520"/>
          </a:xfrm>
          <a:prstGeom prst="roundRect">
            <a:avLst>
              <a:gd name="adj" fmla="val 7500"/>
            </a:avLst>
          </a:prstGeom>
          <a:solidFill>
            <a:srgbClr val="FBEAE8"/>
          </a:solidFill>
          <a:ln w="12700">
            <a:solidFill>
              <a:srgbClr val="F0CFC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414016" y="2286000"/>
            <a:ext cx="91348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Cuaderno o WhatsApp.  ¿Se que camara es? — ir a planta a buscarla.  Sube sin saber si hay que parar el tren  ★.  ¿Hay repuesto? — esperar compra, sin fecha.  Lo cuenta de boca.   ✕ sin orden, sin causa, sin firma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304288" y="3054096"/>
            <a:ext cx="9354312" cy="731520"/>
          </a:xfrm>
          <a:prstGeom prst="roundRect">
            <a:avLst>
              <a:gd name="adj" fmla="val 7500"/>
            </a:avLst>
          </a:prstGeom>
          <a:solidFill>
            <a:srgbClr val="E8F3EB"/>
          </a:solidFill>
          <a:ln w="12700">
            <a:solidFill>
              <a:srgbClr val="C9E2D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414016" y="3090672"/>
            <a:ext cx="91348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en MI BANDEJA por prioridad → ORDEN con fecha y solicitante.  Escanea el QR: «EXIGE PARADA DE TREN» ANTES de subir.  Hoja de ruta con EPP y bloqueo de energia.  El sistema dice si hay repuesto.   ✓ el Jefe cierra y FIRMA, con causa de catalogo, fotos e informe PDF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02920" y="3895344"/>
            <a:ext cx="1691640" cy="1389888"/>
          </a:xfrm>
          <a:prstGeom prst="roundRect">
            <a:avLst>
              <a:gd name="adj" fmla="val 3289"/>
            </a:avLst>
          </a:prstGeom>
          <a:solidFill>
            <a:srgbClr val="272C34"/>
          </a:solidFill>
          <a:ln w="12700">
            <a:solidFill>
              <a:srgbClr val="272C3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57784" y="3895344"/>
            <a:ext cx="1581912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TERCERIA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(instalacion)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304288" y="3895344"/>
            <a:ext cx="9354312" cy="658368"/>
          </a:xfrm>
          <a:prstGeom prst="roundRect">
            <a:avLst>
              <a:gd name="adj" fmla="val 8333"/>
            </a:avLst>
          </a:prstGeom>
          <a:solidFill>
            <a:srgbClr val="FBEAE8"/>
          </a:solidFill>
          <a:ln w="12700">
            <a:solidFill>
              <a:srgbClr val="F0CFC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414016" y="3931920"/>
            <a:ext cx="91348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A OJO donde.  Tira el cable sin medir.  NO mide la red  ★.  Configura la antena con SU usuario y SU contrasena  ★★.  Enlaza al grabador que «le queda cerca».   ✕ sin plano, sin credenciales, sin acta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304288" y="4626864"/>
            <a:ext cx="9354312" cy="658368"/>
          </a:xfrm>
          <a:prstGeom prst="roundRect">
            <a:avLst>
              <a:gd name="adj" fmla="val 8333"/>
            </a:avLst>
          </a:prstGeom>
          <a:solidFill>
            <a:srgbClr val="E8F3EB"/>
          </a:solidFill>
          <a:ln w="12700">
            <a:solidFill>
              <a:srgbClr val="C9E2D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414016" y="4663440"/>
            <a:ext cx="91348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 TECNICA obligatoria antes de aprobar.  El formulario cambia segun el sitio y exige lo que hay que medir.  Credenciales CIFRADAS en el sistema — no se las lleva.  Al cerrar NACE EL ACTIVO con su QR.   ✓ con plano, medidas y acta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02920" y="5394960"/>
            <a:ext cx="1691640" cy="877824"/>
          </a:xfrm>
          <a:prstGeom prst="roundRect">
            <a:avLst>
              <a:gd name="adj" fmla="val 5208"/>
            </a:avLst>
          </a:prstGeom>
          <a:solidFill>
            <a:srgbClr val="272C34"/>
          </a:solidFill>
          <a:ln w="12700">
            <a:solidFill>
              <a:srgbClr val="272C3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57784" y="5394960"/>
            <a:ext cx="158191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JEFATURA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COMITE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304288" y="5394960"/>
            <a:ext cx="9354312" cy="402336"/>
          </a:xfrm>
          <a:prstGeom prst="roundRect">
            <a:avLst>
              <a:gd name="adj" fmla="val 13636"/>
            </a:avLst>
          </a:prstGeom>
          <a:solidFill>
            <a:srgbClr val="FBEAE8"/>
          </a:solidFill>
          <a:ln w="12700">
            <a:solidFill>
              <a:srgbClr val="F0CFC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414016" y="5431536"/>
            <a:ext cx="9134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¿Cuantas camaras hay? «unas cuatrocientas».  ¿Cuanto tardamos? «depende».  ¿Que falla mas? «las del horno, creo».   ✕ el presupuesto se decide por intuicion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304288" y="5870448"/>
            <a:ext cx="9354312" cy="402336"/>
          </a:xfrm>
          <a:prstGeom prst="roundRect">
            <a:avLst>
              <a:gd name="adj" fmla="val 13636"/>
            </a:avLst>
          </a:prstGeom>
          <a:solidFill>
            <a:srgbClr val="E8F3EB"/>
          </a:solidFill>
          <a:ln w="12700">
            <a:solidFill>
              <a:srgbClr val="C9E2D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414016" y="5907024"/>
            <a:ext cx="9134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INDICADORES: MTTR, MTBF, backlog, cumplimiento, SLA.  Excel con los MISMOS numeros.   ✓ el presupuesto se pide con cifras medidas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502920" y="640080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pPr indent="0" marL="0">
              <a:buNone/>
            </a:pPr>
            <a:r>
              <a:rPr lang="en-US" sz="1000" dirty="0">
                <a:solidFill>
                  <a:srgbClr val="5C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(fila superior)     </a:t>
            </a:r>
            <a:pPr indent="0" marL="0">
              <a:buNone/>
            </a:pPr>
            <a:r>
              <a:rPr lang="en-US" sz="1000" b="1" dirty="0">
                <a:solidFill>
                  <a:srgbClr val="1E6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SGIT-CCTV</a:t>
            </a:r>
            <a:pPr indent="0" marL="0">
              <a:buNone/>
            </a:pPr>
            <a:r>
              <a:rPr lang="en-US" sz="1000" dirty="0">
                <a:solidFill>
                  <a:srgbClr val="5C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(fila inferior)          ★ riesgo de seguridad     ★★ riesgo critico     ◆ informacion que se pierde para siempre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69848" y="310896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instalacion empirica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069848" y="85953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terceria llega, instala, cobra y se va. Y con ella se va TODO lo que sabia de esa instalacion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572768"/>
            <a:ext cx="11155680" cy="877824"/>
          </a:xfrm>
          <a:prstGeom prst="roundRect">
            <a:avLst>
              <a:gd name="adj" fmla="val 6250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77393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17739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89304" y="171907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elige el sitio a ojo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983480" y="1719072"/>
            <a:ext cx="6446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E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deja escrito por que esa camara mira ahi. Seis meses despues nadie sabe si ese angulo fue una decision o una casualidad.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2615184"/>
            <a:ext cx="11155680" cy="1481328"/>
          </a:xfrm>
          <a:prstGeom prst="roundRect">
            <a:avLst>
              <a:gd name="adj" fmla="val 3704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4088" y="2816352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04088" y="28163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89304" y="276148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mide la red. Nunca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983480" y="2761488"/>
            <a:ext cx="6446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E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caudal disponible, ni perdida en el tramo, ni alcance real del enlace, ni cuantos canales le quedan libres al grabador.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289304" y="3419856"/>
            <a:ext cx="10149840" cy="548640"/>
          </a:xfrm>
          <a:prstGeom prst="roundRect">
            <a:avLst>
              <a:gd name="adj" fmla="val 8333"/>
            </a:avLst>
          </a:prstGeom>
          <a:solidFill>
            <a:srgbClr val="FBEAE8"/>
          </a:solidFill>
          <a:ln w="12700">
            <a:solidFill>
              <a:srgbClr val="F0CFC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399032" y="3456432"/>
            <a:ext cx="99303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CONSECUENCIA REAL   </a:t>
            </a:r>
            <a:pPr indent="0" marL="0">
              <a:buNone/>
            </a:pPr>
            <a:r>
              <a:rPr lang="en-US" sz="1050" dirty="0">
                <a:solidFill>
                  <a:srgbClr val="6E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cuelgan camaras de un enlace que ya iba justo. Todo funciona el dia de la entrega —con una camara— y falla en marzo, cuando ya hay seis. Y entonces nadie relaciona el fallo con la instalacion.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2920" y="4261104"/>
            <a:ext cx="11155680" cy="1481328"/>
          </a:xfrm>
          <a:prstGeom prst="roundRect">
            <a:avLst>
              <a:gd name="adj" fmla="val 3704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4088" y="4462272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4088" y="44622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289304" y="440740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credenciales se las lleva el contratista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983480" y="4407408"/>
            <a:ext cx="6446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E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antena se configura con el usuario y la contrasena del instalador. Al terminar el contrato, esa contrasena no esta en ningun sitio de la planta.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289304" y="5065776"/>
            <a:ext cx="10149840" cy="548640"/>
          </a:xfrm>
          <a:prstGeom prst="roundRect">
            <a:avLst>
              <a:gd name="adj" fmla="val 8333"/>
            </a:avLst>
          </a:prstGeom>
          <a:solidFill>
            <a:srgbClr val="FBEAE8"/>
          </a:solidFill>
          <a:ln w="12700">
            <a:solidFill>
              <a:srgbClr val="F0CFC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399032" y="5102352"/>
            <a:ext cx="99303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CONSECUENCIA REAL   </a:t>
            </a:r>
            <a:pPr indent="0" marL="0">
              <a:buNone/>
            </a:pPr>
            <a:r>
              <a:rPr lang="en-US" sz="1050" dirty="0">
                <a:solidFill>
                  <a:srgbClr val="6E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tocar esa antena hay que resetearla de fabrica y volver a configurarla entera, subiendo al poste, con el tren parado. Un trabajo de diez minutos se convierte en una ventana de parada.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69848" y="310896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instalacion empirica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069848" y="85953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lo unico que queda al final es una factura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11155680" cy="1481328"/>
          </a:xfrm>
          <a:prstGeom prst="roundRect">
            <a:avLst>
              <a:gd name="adj" fmla="val 3704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75564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17556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89304" y="1700784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enlace al grabador se hace «por el que queda cerca»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983480" y="1700784"/>
            <a:ext cx="6446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E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criterio de tren. Una camara del Tren 1 acaba grabando en el NVR del Tren 3 porque estaba a mano.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289304" y="2359152"/>
            <a:ext cx="10149840" cy="548640"/>
          </a:xfrm>
          <a:prstGeom prst="roundRect">
            <a:avLst>
              <a:gd name="adj" fmla="val 8333"/>
            </a:avLst>
          </a:prstGeom>
          <a:solidFill>
            <a:srgbClr val="FBEAE8"/>
          </a:solidFill>
          <a:ln w="12700">
            <a:solidFill>
              <a:srgbClr val="F0CFC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399032" y="2395728"/>
            <a:ext cx="99303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CONSECUENCIA REAL   </a:t>
            </a:r>
            <a:pPr indent="0" marL="0">
              <a:buNone/>
            </a:pPr>
            <a:r>
              <a:rPr lang="en-US" sz="1050" dirty="0">
                <a:solidFill>
                  <a:srgbClr val="6E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cae ese grabador se pierden camaras de tres trenes distintos, y NADIE SABE CUALES hasta que alguien las echa en falta.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3200400"/>
            <a:ext cx="11155680" cy="1481328"/>
          </a:xfrm>
          <a:prstGeom prst="roundRect">
            <a:avLst>
              <a:gd name="adj" fmla="val 3704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" y="340156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04088" y="34015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289304" y="3346704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acta, ni plano, ni fotos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983480" y="3346704"/>
            <a:ext cx="6446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E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conocimiento de esa instalacion no queda en ningun documento de la planta.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289304" y="4005072"/>
            <a:ext cx="10149840" cy="548640"/>
          </a:xfrm>
          <a:prstGeom prst="roundRect">
            <a:avLst>
              <a:gd name="adj" fmla="val 8333"/>
            </a:avLst>
          </a:prstGeom>
          <a:solidFill>
            <a:srgbClr val="FBEAE8"/>
          </a:solidFill>
          <a:ln w="12700">
            <a:solidFill>
              <a:srgbClr val="F0CFC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399032" y="4041648"/>
            <a:ext cx="99303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CONSECUENCIA REAL   </a:t>
            </a:r>
            <a:pPr indent="0" marL="0">
              <a:buNone/>
            </a:pPr>
            <a:r>
              <a:rPr lang="en-US" sz="1050" dirty="0">
                <a:solidFill>
                  <a:srgbClr val="6E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unico que queda es una factura. Seis meses despues, la instalacion es una caja negra que hay que volver a levantar desde cero.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" y="4937760"/>
            <a:ext cx="11155680" cy="1207008"/>
          </a:xfrm>
          <a:prstGeom prst="roundRect">
            <a:avLst>
              <a:gd name="adj" fmla="val 4545"/>
            </a:avLst>
          </a:prstGeom>
          <a:solidFill>
            <a:srgbClr val="1B1F25"/>
          </a:solidFill>
          <a:ln w="12700">
            <a:solidFill>
              <a:srgbClr val="1B1F2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0120" y="5029200"/>
            <a:ext cx="102412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instalacion empirica es una deuda que la planta paga despues,</a:t>
            </a:r>
            <a:endParaRPr lang="en-US" sz="2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paradas de tren.</a:t>
            </a:r>
            <a:endParaRPr lang="en-US" sz="2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69848" y="310896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NO se puede responder hoy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069848" y="85953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de un jefe, y la respuesta que se da sin el software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5413248" cy="914400"/>
          </a:xfrm>
          <a:prstGeom prst="roundRect">
            <a:avLst>
              <a:gd name="adj" fmla="val 6000"/>
            </a:avLst>
          </a:prstGeom>
          <a:solidFill>
            <a:srgbClr val="272C34"/>
          </a:solidFill>
          <a:ln w="12700">
            <a:solidFill>
              <a:srgbClr val="33394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591056"/>
            <a:ext cx="5047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¿Cuantas camaras hay en el Tren 2?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956816"/>
            <a:ext cx="5047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«Unas cuantas»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45352" y="1481328"/>
            <a:ext cx="5413248" cy="914400"/>
          </a:xfrm>
          <a:prstGeom prst="roundRect">
            <a:avLst>
              <a:gd name="adj" fmla="val 6000"/>
            </a:avLst>
          </a:prstGeom>
          <a:solidFill>
            <a:srgbClr val="272C34"/>
          </a:solidFill>
          <a:ln w="12700">
            <a:solidFill>
              <a:srgbClr val="33394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28232" y="1591056"/>
            <a:ext cx="5047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¿Cual falla mas?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428232" y="1956816"/>
            <a:ext cx="5047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«Creo que las del horno»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2542032"/>
            <a:ext cx="5413248" cy="914400"/>
          </a:xfrm>
          <a:prstGeom prst="roundRect">
            <a:avLst>
              <a:gd name="adj" fmla="val 6000"/>
            </a:avLst>
          </a:prstGeom>
          <a:solidFill>
            <a:srgbClr val="272C34"/>
          </a:solidFill>
          <a:ln w="12700">
            <a:solidFill>
              <a:srgbClr val="33394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2651760"/>
            <a:ext cx="5047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¿Cuanto tardamos en reponer una?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017520"/>
            <a:ext cx="5047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«Depende»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45352" y="2542032"/>
            <a:ext cx="5413248" cy="914400"/>
          </a:xfrm>
          <a:prstGeom prst="roundRect">
            <a:avLst>
              <a:gd name="adj" fmla="val 6000"/>
            </a:avLst>
          </a:prstGeom>
          <a:solidFill>
            <a:srgbClr val="272C34"/>
          </a:solidFill>
          <a:ln w="12700">
            <a:solidFill>
              <a:srgbClr val="33394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28232" y="2651760"/>
            <a:ext cx="5047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¿Esta camara se puede tocar en marcha?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428232" y="3017520"/>
            <a:ext cx="5047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«Preguntale a Fulano»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3602736"/>
            <a:ext cx="5413248" cy="914400"/>
          </a:xfrm>
          <a:prstGeom prst="roundRect">
            <a:avLst>
              <a:gd name="adj" fmla="val 6000"/>
            </a:avLst>
          </a:prstGeom>
          <a:solidFill>
            <a:srgbClr val="272C34"/>
          </a:solidFill>
          <a:ln w="12700">
            <a:solidFill>
              <a:srgbClr val="33394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3712464"/>
            <a:ext cx="5047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¿Cuando se reviso esta camara por ultima vez?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4078224"/>
            <a:ext cx="5047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F8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SILENCIO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245352" y="3602736"/>
            <a:ext cx="5413248" cy="914400"/>
          </a:xfrm>
          <a:prstGeom prst="roundRect">
            <a:avLst>
              <a:gd name="adj" fmla="val 6000"/>
            </a:avLst>
          </a:prstGeom>
          <a:solidFill>
            <a:srgbClr val="272C34"/>
          </a:solidFill>
          <a:ln w="12700">
            <a:solidFill>
              <a:srgbClr val="33394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28232" y="3712464"/>
            <a:ext cx="5047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¿Quien pidio este trabajo?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428232" y="4078224"/>
            <a:ext cx="5047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F8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SILENCIO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02920" y="4663440"/>
            <a:ext cx="5413248" cy="914400"/>
          </a:xfrm>
          <a:prstGeom prst="roundRect">
            <a:avLst>
              <a:gd name="adj" fmla="val 6000"/>
            </a:avLst>
          </a:prstGeom>
          <a:solidFill>
            <a:srgbClr val="272C34"/>
          </a:solidFill>
          <a:ln w="12700">
            <a:solidFill>
              <a:srgbClr val="33394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4773168"/>
            <a:ext cx="5047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¿Que repuestos tengo?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85800" y="5138928"/>
            <a:ext cx="5047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«Voy a mirar al almacen»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245352" y="4663440"/>
            <a:ext cx="5413248" cy="914400"/>
          </a:xfrm>
          <a:prstGeom prst="roundRect">
            <a:avLst>
              <a:gd name="adj" fmla="val 6000"/>
            </a:avLst>
          </a:prstGeom>
          <a:solidFill>
            <a:srgbClr val="272C34"/>
          </a:solidFill>
          <a:ln w="12700">
            <a:solidFill>
              <a:srgbClr val="33394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28232" y="4773168"/>
            <a:ext cx="5047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¿Cual es la contrasena de esta antena?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428232" y="5138928"/>
            <a:ext cx="5047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la llevo el contratista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02920" y="6437376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F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de estas preguntas es dificil. Todas son imposibles sin un sitio donde el dato quede.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1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69848" y="310896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ocho danos concretos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069848" y="85953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son molestias: son coste, riesgo y decisiones tomadas a ciegas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5413248" cy="1042416"/>
          </a:xfrm>
          <a:prstGeom prst="roundRect">
            <a:avLst>
              <a:gd name="adj" fmla="val 5263"/>
            </a:avLst>
          </a:prstGeom>
          <a:solidFill>
            <a:srgbClr val="3A2320"/>
          </a:solidFill>
          <a:ln w="12700">
            <a:solidFill>
              <a:srgbClr val="6E3B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7512" y="1627632"/>
            <a:ext cx="365760" cy="365760"/>
          </a:xfrm>
          <a:prstGeom prst="roundRect">
            <a:avLst>
              <a:gd name="adj" fmla="val 17500"/>
            </a:avLst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7512" y="1627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1581912"/>
            <a:ext cx="4590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TRABAJA SIN SABER SI HAY QUE PARAR LA LINEA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011680"/>
            <a:ext cx="4590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B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tecnico sube a una camara sin saber que ahi abajo pasa barra caliente. No es un problema de datos: es de integridad fisica.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45352" y="1463040"/>
            <a:ext cx="5413248" cy="1042416"/>
          </a:xfrm>
          <a:prstGeom prst="roundRect">
            <a:avLst>
              <a:gd name="adj" fmla="val 5263"/>
            </a:avLst>
          </a:prstGeom>
          <a:solidFill>
            <a:srgbClr val="272C34"/>
          </a:solidFill>
          <a:ln w="12700">
            <a:solidFill>
              <a:srgbClr val="33394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9944" y="1627632"/>
            <a:ext cx="365760" cy="365760"/>
          </a:xfrm>
          <a:prstGeom prst="roundRect">
            <a:avLst>
              <a:gd name="adj" fmla="val 17500"/>
            </a:avLst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9944" y="1627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885432" y="1581912"/>
            <a:ext cx="4590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CAMARA CAIDA A LAS 3 SE DESCUBRE A LAS 8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885432" y="2011680"/>
            <a:ext cx="4590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B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horas ciegas que nadie contabiliza. Y si pasa algo en ese turno, no hay imagen.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2633472"/>
            <a:ext cx="5413248" cy="1042416"/>
          </a:xfrm>
          <a:prstGeom prst="roundRect">
            <a:avLst>
              <a:gd name="adj" fmla="val 5263"/>
            </a:avLst>
          </a:prstGeom>
          <a:solidFill>
            <a:srgbClr val="272C34"/>
          </a:solidFill>
          <a:ln w="12700">
            <a:solidFill>
              <a:srgbClr val="33394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7512" y="2798064"/>
            <a:ext cx="365760" cy="365760"/>
          </a:xfrm>
          <a:prstGeom prst="roundRect">
            <a:avLst>
              <a:gd name="adj" fmla="val 17500"/>
            </a:avLst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7512" y="2798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2752344"/>
            <a:ext cx="4590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PIDE UN TRABAJO Y NADIE SABE SI ALGUIEN LO COGIO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3182112"/>
            <a:ext cx="4590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B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 tercera vez que pasa, la gente vuelve a la radio y el sistema muere.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45352" y="2633472"/>
            <a:ext cx="5413248" cy="1042416"/>
          </a:xfrm>
          <a:prstGeom prst="roundRect">
            <a:avLst>
              <a:gd name="adj" fmla="val 5263"/>
            </a:avLst>
          </a:prstGeom>
          <a:solidFill>
            <a:srgbClr val="272C34"/>
          </a:solidFill>
          <a:ln w="12700">
            <a:solidFill>
              <a:srgbClr val="33394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9944" y="2798064"/>
            <a:ext cx="365760" cy="365760"/>
          </a:xfrm>
          <a:prstGeom prst="roundRect">
            <a:avLst>
              <a:gd name="adj" fmla="val 17500"/>
            </a:avLst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9944" y="2798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885432" y="2752344"/>
            <a:ext cx="4590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COMPRA DOS VECES Y SE OLVIDA LO CRITICO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885432" y="3182112"/>
            <a:ext cx="4590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B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inventario ligado a las ordenes, la reposicion va por memoria.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" y="3803904"/>
            <a:ext cx="5413248" cy="1042416"/>
          </a:xfrm>
          <a:prstGeom prst="roundRect">
            <a:avLst>
              <a:gd name="adj" fmla="val 5263"/>
            </a:avLst>
          </a:prstGeom>
          <a:solidFill>
            <a:srgbClr val="272C34"/>
          </a:solidFill>
          <a:ln w="12700">
            <a:solidFill>
              <a:srgbClr val="33394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7512" y="3968496"/>
            <a:ext cx="365760" cy="365760"/>
          </a:xfrm>
          <a:prstGeom prst="roundRect">
            <a:avLst>
              <a:gd name="adj" fmla="val 17500"/>
            </a:avLst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7512" y="3968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143000" y="3922776"/>
            <a:ext cx="4590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PREVENTIVO NO EXISTE: SOLO SE APAGAN INCENDIOS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1143000" y="4352544"/>
            <a:ext cx="4590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B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sabe cuando toca revisar cada equipo, asi que se revisa lo que se rompe.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45352" y="3803904"/>
            <a:ext cx="5413248" cy="1042416"/>
          </a:xfrm>
          <a:prstGeom prst="roundRect">
            <a:avLst>
              <a:gd name="adj" fmla="val 5263"/>
            </a:avLst>
          </a:prstGeom>
          <a:solidFill>
            <a:srgbClr val="272C34"/>
          </a:solidFill>
          <a:ln w="12700">
            <a:solidFill>
              <a:srgbClr val="33394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9944" y="3968496"/>
            <a:ext cx="365760" cy="365760"/>
          </a:xfrm>
          <a:prstGeom prst="roundRect">
            <a:avLst>
              <a:gd name="adj" fmla="val 17500"/>
            </a:avLst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09944" y="3968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885432" y="3922776"/>
            <a:ext cx="4590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NADA QUE ENSENAR EN UNA AUDITORIA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6885432" y="4352544"/>
            <a:ext cx="4590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B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firmas, ni fechas, ni evidencias. Lo que no esta documentado, no ocurrio.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2920" y="4974336"/>
            <a:ext cx="5413248" cy="1042416"/>
          </a:xfrm>
          <a:prstGeom prst="roundRect">
            <a:avLst>
              <a:gd name="adj" fmla="val 5263"/>
            </a:avLst>
          </a:prstGeom>
          <a:solidFill>
            <a:srgbClr val="272C34"/>
          </a:solidFill>
          <a:ln w="12700">
            <a:solidFill>
              <a:srgbClr val="33394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67512" y="5138928"/>
            <a:ext cx="365760" cy="365760"/>
          </a:xfrm>
          <a:prstGeom prst="roundRect">
            <a:avLst>
              <a:gd name="adj" fmla="val 17500"/>
            </a:avLst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67512" y="5138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1143000" y="5093208"/>
            <a:ext cx="4590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CONOCIMIENTO SE VA CON LA PERSONA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1143000" y="5522976"/>
            <a:ext cx="4590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B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tecnico que sabe que camara depende de que switch cambia de turno, y ese mapa desaparece.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45352" y="4974336"/>
            <a:ext cx="5413248" cy="1042416"/>
          </a:xfrm>
          <a:prstGeom prst="roundRect">
            <a:avLst>
              <a:gd name="adj" fmla="val 5263"/>
            </a:avLst>
          </a:prstGeom>
          <a:solidFill>
            <a:srgbClr val="272C34"/>
          </a:solidFill>
          <a:ln w="12700">
            <a:solidFill>
              <a:srgbClr val="33394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09944" y="5138928"/>
            <a:ext cx="365760" cy="365760"/>
          </a:xfrm>
          <a:prstGeom prst="roundRect">
            <a:avLst>
              <a:gd name="adj" fmla="val 17500"/>
            </a:avLst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409944" y="5138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6885432" y="5093208"/>
            <a:ext cx="4590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PRESUPUESTO SE PIDE SIN ARGUMENTOS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6885432" y="5522976"/>
            <a:ext cx="4590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B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«Necesitamos mas gente» sin una cifra detras no se aprueba en ningun comite.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828800"/>
            <a:ext cx="10332720" cy="3108960"/>
          </a:xfrm>
          <a:prstGeom prst="roundRect">
            <a:avLst>
              <a:gd name="adj" fmla="val 2941"/>
            </a:avLst>
          </a:prstGeom>
          <a:solidFill>
            <a:srgbClr val="272C34"/>
          </a:solidFill>
          <a:ln w="12700">
            <a:solidFill>
              <a:srgbClr val="33394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371600" y="2148840"/>
            <a:ext cx="9418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200" dirty="0">
                <a:solidFill>
                  <a:srgbClr val="D8D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este software, la planta no tiene</a:t>
            </a:r>
            <a:endParaRPr lang="en-US" sz="3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3200" dirty="0">
                <a:solidFill>
                  <a:srgbClr val="D8D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problema de camaras.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566160"/>
            <a:ext cx="9418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8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Tiene un problema de MEMORIA.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69848" y="310896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QR: que sale al escanear, y en este orden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069848" y="85953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equipo lleva pegada su etiqueta. El tecnico la escanea con su propio telefono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4663440" cy="1371600"/>
          </a:xfrm>
          <a:prstGeom prst="roundRect">
            <a:avLst>
              <a:gd name="adj" fmla="val 4667"/>
            </a:avLst>
          </a:prstGeom>
          <a:solidFill>
            <a:srgbClr val="3A2320"/>
          </a:solidFill>
          <a:ln w="25400">
            <a:solidFill>
              <a:srgbClr val="B326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62763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 PARADA DE TREN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029968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9C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de barra caliente.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9C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Firmado por: Ing. …  ·  12/08/2026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440680" y="148132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TRES REGLAS DE ESTE AVISO, Y NO SE AFLOJAN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5440680" y="1792224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▪"/>
            </a:pPr>
            <a:r>
              <a:rPr lang="en-US" sz="1100" dirty="0">
                <a:solidFill>
                  <a:srgbClr val="3E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 PRIMERO, por encima de todo lo demas. Si el tecnico lee una sola linea de la pantalla, tiene que ser esta.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40680" y="217627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▪"/>
            </a:pPr>
            <a:r>
              <a:rPr lang="en-US" sz="1100" dirty="0">
                <a:solidFill>
                  <a:srgbClr val="3E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ficha no trae el dato, se pinta el caso MAS RESTRICTIVO: falla hacia el lado seguro.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440680" y="25603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▪"/>
            </a:pPr>
            <a:r>
              <a:rPr lang="en-US" sz="1100" dirty="0">
                <a:solidFill>
                  <a:srgbClr val="3E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variante verde. Un «todo correcto» en una pantalla de seguridad se aprende a ignorar en una semana, y entonces ya no protege.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163824"/>
            <a:ext cx="2562606" cy="1572768"/>
          </a:xfrm>
          <a:prstGeom prst="roundRect">
            <a:avLst>
              <a:gd name="adj" fmla="val 3488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7512" y="3310128"/>
            <a:ext cx="365760" cy="365760"/>
          </a:xfrm>
          <a:prstGeom prst="roundRect">
            <a:avLst>
              <a:gd name="adj" fmla="val 17500"/>
            </a:avLst>
          </a:prstGeom>
          <a:solidFill>
            <a:srgbClr val="16191D"/>
          </a:solidFill>
          <a:ln w="12700">
            <a:solidFill>
              <a:srgbClr val="16191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7512" y="3310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" y="3749040"/>
            <a:ext cx="223342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ES ESTE EQUIPO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67512" y="4242816"/>
            <a:ext cx="22334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Codigo, marca, modelo, tren, etapa, zona, gabinete y a que apunta, con foto.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367278" y="3163824"/>
            <a:ext cx="2562606" cy="1572768"/>
          </a:xfrm>
          <a:prstGeom prst="roundRect">
            <a:avLst>
              <a:gd name="adj" fmla="val 3488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31870" y="3310128"/>
            <a:ext cx="365760" cy="365760"/>
          </a:xfrm>
          <a:prstGeom prst="roundRect">
            <a:avLst>
              <a:gd name="adj" fmla="val 17500"/>
            </a:avLst>
          </a:prstGeom>
          <a:solidFill>
            <a:srgbClr val="16191D"/>
          </a:solidFill>
          <a:ln w="12700">
            <a:solidFill>
              <a:srgbClr val="16191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531870" y="3310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531870" y="3749040"/>
            <a:ext cx="223342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CRITICIDAD A / B / C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3531870" y="4242816"/>
            <a:ext cx="22334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cada cuantos dias toca revisarlo. La letra sale del metodo CTR.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31636" y="3163824"/>
            <a:ext cx="2562606" cy="1572768"/>
          </a:xfrm>
          <a:prstGeom prst="roundRect">
            <a:avLst>
              <a:gd name="adj" fmla="val 3488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96228" y="3310128"/>
            <a:ext cx="365760" cy="365760"/>
          </a:xfrm>
          <a:prstGeom prst="roundRect">
            <a:avLst>
              <a:gd name="adj" fmla="val 17500"/>
            </a:avLst>
          </a:prstGeom>
          <a:solidFill>
            <a:srgbClr val="16191D"/>
          </a:solidFill>
          <a:ln w="12700">
            <a:solidFill>
              <a:srgbClr val="16191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96228" y="3310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396228" y="3749040"/>
            <a:ext cx="223342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YA HAY TRABAJO ABIERTO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396228" y="4242816"/>
            <a:ext cx="22334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ese equipo, y quien lo tiene.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095994" y="3163824"/>
            <a:ext cx="2562606" cy="1572768"/>
          </a:xfrm>
          <a:prstGeom prst="roundRect">
            <a:avLst>
              <a:gd name="adj" fmla="val 3488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260586" y="3310128"/>
            <a:ext cx="365760" cy="365760"/>
          </a:xfrm>
          <a:prstGeom prst="roundRect">
            <a:avLst>
              <a:gd name="adj" fmla="val 17500"/>
            </a:avLst>
          </a:prstGeom>
          <a:solidFill>
            <a:srgbClr val="16191D"/>
          </a:solidFill>
          <a:ln w="12700">
            <a:solidFill>
              <a:srgbClr val="16191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260586" y="3310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260586" y="3749040"/>
            <a:ext cx="223342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BOTONES PARA ACTUAR AHI MISMO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9260586" y="4242816"/>
            <a:ext cx="22334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Anotar avance  ·  Reportar averia  ·  Abrir una OM, de un toque.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02920" y="4974336"/>
            <a:ext cx="11155680" cy="969264"/>
          </a:xfrm>
          <a:prstGeom prst="roundRect">
            <a:avLst>
              <a:gd name="adj" fmla="val 5660"/>
            </a:avLst>
          </a:prstGeom>
          <a:solidFill>
            <a:srgbClr val="1B1F25"/>
          </a:solidFill>
          <a:ln w="12700">
            <a:solidFill>
              <a:srgbClr val="1B1F2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68680" y="5065776"/>
            <a:ext cx="10424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E3E8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QR es lo que hace que el sistema SE USE. Un software de mantenimiento que obliga a volver a la oficina para registrar algo no se rellena — y un sistema que no se rellena no existe.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69848" y="310896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el QR lo cambia todo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069848" y="85953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tarea, con y sin la etiqueta pegada al equipo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463040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QR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263640" y="1463040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6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QR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883664"/>
            <a:ext cx="5394960" cy="731520"/>
          </a:xfrm>
          <a:prstGeom prst="roundRect">
            <a:avLst>
              <a:gd name="adj" fmla="val 7500"/>
            </a:avLst>
          </a:prstGeom>
          <a:solidFill>
            <a:srgbClr val="FBEAE8"/>
          </a:solidFill>
          <a:ln w="12700">
            <a:solidFill>
              <a:srgbClr val="F0CFC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2376" y="1883664"/>
            <a:ext cx="4956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el equipo entre cientos en una lista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52744" y="2148840"/>
            <a:ext cx="256032" cy="201168"/>
          </a:xfrm>
          <a:prstGeom prst="rightArrow">
            <a:avLst/>
          </a:prstGeom>
          <a:solidFill>
            <a:srgbClr val="5C6874"/>
          </a:solidFill>
          <a:ln w="12700">
            <a:solidFill>
              <a:srgbClr val="5C687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883664"/>
            <a:ext cx="5394960" cy="731520"/>
          </a:xfrm>
          <a:prstGeom prst="roundRect">
            <a:avLst>
              <a:gd name="adj" fmla="val 7500"/>
            </a:avLst>
          </a:prstGeom>
          <a:solidFill>
            <a:srgbClr val="E8F3EB"/>
          </a:solidFill>
          <a:ln w="12700">
            <a:solidFill>
              <a:srgbClr val="C9E2D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83096" y="1883664"/>
            <a:ext cx="4956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5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Escanear, y estas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2743200"/>
            <a:ext cx="5394960" cy="731520"/>
          </a:xfrm>
          <a:prstGeom prst="roundRect">
            <a:avLst>
              <a:gd name="adj" fmla="val 7500"/>
            </a:avLst>
          </a:prstGeom>
          <a:solidFill>
            <a:srgbClr val="FBEAE8"/>
          </a:solidFill>
          <a:ln w="12700">
            <a:solidFill>
              <a:srgbClr val="F0CFC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2376" y="2743200"/>
            <a:ext cx="4956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Apuntar el avance en un papel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952744" y="3008376"/>
            <a:ext cx="256032" cy="201168"/>
          </a:xfrm>
          <a:prstGeom prst="rightArrow">
            <a:avLst/>
          </a:prstGeom>
          <a:solidFill>
            <a:srgbClr val="5C6874"/>
          </a:solidFill>
          <a:ln w="12700">
            <a:solidFill>
              <a:srgbClr val="5C687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63640" y="2743200"/>
            <a:ext cx="5394960" cy="731520"/>
          </a:xfrm>
          <a:prstGeom prst="roundRect">
            <a:avLst>
              <a:gd name="adj" fmla="val 7500"/>
            </a:avLst>
          </a:prstGeom>
          <a:solidFill>
            <a:srgbClr val="E8F3EB"/>
          </a:solidFill>
          <a:ln w="12700">
            <a:solidFill>
              <a:srgbClr val="C9E2D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83096" y="2743200"/>
            <a:ext cx="4956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5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registrado con tu nombre y la hora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2920" y="3602736"/>
            <a:ext cx="5394960" cy="731520"/>
          </a:xfrm>
          <a:prstGeom prst="roundRect">
            <a:avLst>
              <a:gd name="adj" fmla="val 7500"/>
            </a:avLst>
          </a:prstGeom>
          <a:solidFill>
            <a:srgbClr val="FBEAE8"/>
          </a:solidFill>
          <a:ln w="12700">
            <a:solidFill>
              <a:srgbClr val="F0CFC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2376" y="3602736"/>
            <a:ext cx="4956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papel se pierde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52744" y="3867912"/>
            <a:ext cx="256032" cy="201168"/>
          </a:xfrm>
          <a:prstGeom prst="rightArrow">
            <a:avLst/>
          </a:prstGeom>
          <a:solidFill>
            <a:srgbClr val="5C6874"/>
          </a:solidFill>
          <a:ln w="12700">
            <a:solidFill>
              <a:srgbClr val="5C687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63640" y="3602736"/>
            <a:ext cx="5394960" cy="731520"/>
          </a:xfrm>
          <a:prstGeom prst="roundRect">
            <a:avLst>
              <a:gd name="adj" fmla="val 7500"/>
            </a:avLst>
          </a:prstGeom>
          <a:solidFill>
            <a:srgbClr val="E8F3EB"/>
          </a:solidFill>
          <a:ln w="12700">
            <a:solidFill>
              <a:srgbClr val="C9E2D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83096" y="3602736"/>
            <a:ext cx="4956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5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papel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02920" y="4462272"/>
            <a:ext cx="5394960" cy="731520"/>
          </a:xfrm>
          <a:prstGeom prst="roundRect">
            <a:avLst>
              <a:gd name="adj" fmla="val 7500"/>
            </a:avLst>
          </a:prstGeom>
          <a:solidFill>
            <a:srgbClr val="FBEAE8"/>
          </a:solidFill>
          <a:ln w="12700">
            <a:solidFill>
              <a:srgbClr val="F0CFC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22376" y="4462272"/>
            <a:ext cx="4956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sabes si hay que parar el tren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952744" y="4727448"/>
            <a:ext cx="256032" cy="201168"/>
          </a:xfrm>
          <a:prstGeom prst="rightArrow">
            <a:avLst/>
          </a:prstGeom>
          <a:solidFill>
            <a:srgbClr val="5C6874"/>
          </a:solidFill>
          <a:ln w="12700">
            <a:solidFill>
              <a:srgbClr val="5C687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63640" y="4462272"/>
            <a:ext cx="5394960" cy="731520"/>
          </a:xfrm>
          <a:prstGeom prst="roundRect">
            <a:avLst>
              <a:gd name="adj" fmla="val 7500"/>
            </a:avLst>
          </a:prstGeom>
          <a:solidFill>
            <a:srgbClr val="E8F3EB"/>
          </a:solidFill>
          <a:ln w="12700">
            <a:solidFill>
              <a:srgbClr val="C9E2D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83096" y="4462272"/>
            <a:ext cx="4956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5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lo dice ANTES de subir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02920" y="5321808"/>
            <a:ext cx="5394960" cy="731520"/>
          </a:xfrm>
          <a:prstGeom prst="roundRect">
            <a:avLst>
              <a:gd name="adj" fmla="val 7500"/>
            </a:avLst>
          </a:prstGeom>
          <a:solidFill>
            <a:srgbClr val="FBEAE8"/>
          </a:solidFill>
          <a:ln w="12700">
            <a:solidFill>
              <a:srgbClr val="F0CFC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22376" y="5321808"/>
            <a:ext cx="4956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Bajar a la oficina para abrir la orden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952744" y="5586984"/>
            <a:ext cx="256032" cy="201168"/>
          </a:xfrm>
          <a:prstGeom prst="rightArrow">
            <a:avLst/>
          </a:prstGeom>
          <a:solidFill>
            <a:srgbClr val="5C6874"/>
          </a:solidFill>
          <a:ln w="12700">
            <a:solidFill>
              <a:srgbClr val="5C687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63640" y="5321808"/>
            <a:ext cx="5394960" cy="731520"/>
          </a:xfrm>
          <a:prstGeom prst="roundRect">
            <a:avLst>
              <a:gd name="adj" fmla="val 7500"/>
            </a:avLst>
          </a:prstGeom>
          <a:solidFill>
            <a:srgbClr val="E8F3EB"/>
          </a:solidFill>
          <a:ln w="12700">
            <a:solidFill>
              <a:srgbClr val="C9E2D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83096" y="5321808"/>
            <a:ext cx="4956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5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abre desde el poste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502920" y="6437376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7A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tecnico no instala nada: escanea con la camara de su propio telefono y entra por direccion web.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69848" y="310896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ciclo del ingeniero, implementado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069848" y="85953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cinco pasos de su hoja escrita a mano, uno por uno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2026310" cy="2889504"/>
          </a:xfrm>
          <a:prstGeom prst="roundRect">
            <a:avLst>
              <a:gd name="adj" fmla="val 2708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32611" y="173736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32611" y="1737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49224" y="2432304"/>
            <a:ext cx="173370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activos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9224" y="3035808"/>
            <a:ext cx="173370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E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arbol de planta: cada equipo cuelga de su zona, etapa y tren. El tren, la criticidad y el intervalo se DEDUCEN de donde cuelga.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56662" y="1920240"/>
            <a:ext cx="201168" cy="201168"/>
          </a:xfrm>
          <a:prstGeom prst="rightArrow">
            <a:avLst/>
          </a:prstGeom>
          <a:solidFill>
            <a:srgbClr val="5C6874"/>
          </a:solidFill>
          <a:ln w="12700">
            <a:solidFill>
              <a:srgbClr val="5C687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85262" y="1517904"/>
            <a:ext cx="2026310" cy="2889504"/>
          </a:xfrm>
          <a:prstGeom prst="roundRect">
            <a:avLst>
              <a:gd name="adj" fmla="val 2708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14954" y="173736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14954" y="1737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2931566" y="2432304"/>
            <a:ext cx="173370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Criticidad A / B / C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931566" y="3035808"/>
            <a:ext cx="173370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E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 CTR (Criticidad Total por Riesgo). La letra decide cada cuanto se revisa: A→30, B→60, C→90 dias.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39005" y="1920240"/>
            <a:ext cx="201168" cy="201168"/>
          </a:xfrm>
          <a:prstGeom prst="rightArrow">
            <a:avLst/>
          </a:prstGeom>
          <a:solidFill>
            <a:srgbClr val="5C6874"/>
          </a:solidFill>
          <a:ln w="12700">
            <a:solidFill>
              <a:srgbClr val="5C687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67605" y="1517904"/>
            <a:ext cx="2026310" cy="2889504"/>
          </a:xfrm>
          <a:prstGeom prst="roundRect">
            <a:avLst>
              <a:gd name="adj" fmla="val 2708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97296" y="173736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97296" y="1737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5213909" y="2432304"/>
            <a:ext cx="173370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Planeamiento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213909" y="3035808"/>
            <a:ext cx="173370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E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Hojas de ruta por tipo de equipo, en formato SAP, con sus pasos, tiempos y materiales. Una hoja nueva NACE con los pasos de seguridad puestos.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121347" y="1920240"/>
            <a:ext cx="201168" cy="201168"/>
          </a:xfrm>
          <a:prstGeom prst="rightArrow">
            <a:avLst/>
          </a:prstGeom>
          <a:solidFill>
            <a:srgbClr val="5C6874"/>
          </a:solidFill>
          <a:ln w="12700">
            <a:solidFill>
              <a:srgbClr val="5C687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49947" y="1517904"/>
            <a:ext cx="2026310" cy="2889504"/>
          </a:xfrm>
          <a:prstGeom prst="roundRect">
            <a:avLst>
              <a:gd name="adj" fmla="val 2708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79638" y="173736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079638" y="1737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7496251" y="2432304"/>
            <a:ext cx="173370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Ejecucion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496251" y="3035808"/>
            <a:ext cx="173370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E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· % de cumplimiento del preventivo · Nivel de servicio (SLA) · Cumplimiento normativo.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403690" y="1920240"/>
            <a:ext cx="201168" cy="201168"/>
          </a:xfrm>
          <a:prstGeom prst="rightArrow">
            <a:avLst/>
          </a:prstGeom>
          <a:solidFill>
            <a:srgbClr val="5C6874"/>
          </a:solidFill>
          <a:ln w="12700">
            <a:solidFill>
              <a:srgbClr val="5C687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32290" y="1517904"/>
            <a:ext cx="2026310" cy="2889504"/>
          </a:xfrm>
          <a:prstGeom prst="roundRect">
            <a:avLst>
              <a:gd name="adj" fmla="val 2708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361981" y="173736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361981" y="1737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3" name="Text 31"/>
          <p:cNvSpPr txBox="1"/>
          <p:nvPr/>
        </p:nvSpPr>
        <p:spPr>
          <a:xfrm>
            <a:off x="9778594" y="2432304"/>
            <a:ext cx="173370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Reunion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778594" y="3035808"/>
            <a:ext cx="173370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E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meta del reparto correctivo / preventivo, EDITABLE desde la pantalla. Una meta que exige un despliegue para cambiarse no se cambia: se ignora.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" y="4681728"/>
            <a:ext cx="11155680" cy="1005840"/>
          </a:xfrm>
          <a:prstGeom prst="roundRect">
            <a:avLst>
              <a:gd name="adj" fmla="val 5455"/>
            </a:avLst>
          </a:prstGeom>
          <a:solidFill>
            <a:srgbClr val="F1F3F5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22960" y="47731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Nombres ISA-95, FailureEvent aparte de la orden y programacion automatica  </a:t>
            </a:r>
            <a:pPr indent="0" marL="0">
              <a:buNone/>
            </a:pPr>
            <a:r>
              <a:rPr lang="en-US" sz="120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quedan como pendientes declarados</a:t>
            </a:r>
            <a:pPr indent="0" marL="0">
              <a:buNone/>
            </a:pPr>
            <a:r>
              <a:rPr lang="en-US" sz="1200" dirty="0">
                <a:solidFill>
                  <a:srgbClr val="3E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Se dicen, no se esconden: prometer en pantalla algo que no se puede hacer es peor que no tenerlo.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69848" y="310896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indicadores que antes no existian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069848" y="85953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el MTTR, partido en tres tramos con tres duenos distintos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11155680" cy="2121408"/>
          </a:xfrm>
          <a:prstGeom prst="roundRect">
            <a:avLst>
              <a:gd name="adj" fmla="val 2586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58952" y="1609344"/>
            <a:ext cx="78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03:00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691640" y="1728216"/>
            <a:ext cx="137160" cy="137160"/>
          </a:xfrm>
          <a:prstGeom prst="ellipse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984248" y="160934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camara se apaga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58952" y="2084832"/>
            <a:ext cx="78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08:00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691640" y="2203704"/>
            <a:ext cx="137160" cy="13716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984248" y="20848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pulpito lo ve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208483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 de DETECCION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635240" y="20848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produccion / monitoreo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58952" y="2560320"/>
            <a:ext cx="78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10:00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691640" y="2679192"/>
            <a:ext cx="137160" cy="13716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984248" y="2560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tecnico sube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2560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 de ORGANIZACION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635240" y="2560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58952" y="3035808"/>
            <a:ext cx="78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11:00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691640" y="3154680"/>
            <a:ext cx="137160" cy="13716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984248" y="30358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vuelve a funcionar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892040" y="30358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 de REPARACION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7635240" y="30358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3712464"/>
            <a:ext cx="11155680" cy="749808"/>
          </a:xfrm>
          <a:prstGeom prst="roundRect">
            <a:avLst>
              <a:gd name="adj" fmla="val 7317"/>
            </a:avLst>
          </a:prstGeom>
          <a:solidFill>
            <a:srgbClr val="1B1F25"/>
          </a:solidFill>
          <a:ln w="12700">
            <a:solidFill>
              <a:srgbClr val="1B1F2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2960" y="3785616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MTTR de toda la vida decia 8 HORAS y le cargaba a mantenimiento siete que no son suyas. Separarlas es lo que permite mejorar de verdad.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02920" y="4663440"/>
            <a:ext cx="2070202" cy="1243584"/>
          </a:xfrm>
          <a:prstGeom prst="roundRect">
            <a:avLst>
              <a:gd name="adj" fmla="val 4412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9224" y="4791456"/>
            <a:ext cx="177759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MTBF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49224" y="5230368"/>
            <a:ext cx="17775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E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cuanto falla cada equipo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74290" y="4663440"/>
            <a:ext cx="2070202" cy="1243584"/>
          </a:xfrm>
          <a:prstGeom prst="roundRect">
            <a:avLst>
              <a:gd name="adj" fmla="val 4412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920594" y="4791456"/>
            <a:ext cx="177759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2920594" y="5230368"/>
            <a:ext cx="17775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E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Cuanto trabajo pendiente hay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45659" y="4663440"/>
            <a:ext cx="2070202" cy="1243584"/>
          </a:xfrm>
          <a:prstGeom prst="roundRect">
            <a:avLst>
              <a:gd name="adj" fmla="val 4412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191963" y="4791456"/>
            <a:ext cx="177759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PREVENTIVO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5191963" y="5230368"/>
            <a:ext cx="17775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E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Cuanto de lo planificado se hizo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317029" y="4663440"/>
            <a:ext cx="2070202" cy="1243584"/>
          </a:xfrm>
          <a:prstGeom prst="roundRect">
            <a:avLst>
              <a:gd name="adj" fmla="val 4412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463333" y="4791456"/>
            <a:ext cx="177759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DE SERVICIO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7463333" y="5230368"/>
            <a:ext cx="17775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E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Incidencias resueltas DENTRO del plazo prometido, por prioridad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588398" y="4663440"/>
            <a:ext cx="2070202" cy="1243584"/>
          </a:xfrm>
          <a:prstGeom prst="roundRect">
            <a:avLst>
              <a:gd name="adj" fmla="val 4412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734702" y="4791456"/>
            <a:ext cx="177759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NORMATIVO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9734702" y="5230368"/>
            <a:ext cx="17775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E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NO se podria ensenar en una auditoria manana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1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69848" y="310896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regla de honestidad que atraviesa todo el sistema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8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datos, NUNCA un numero inventado.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02920" y="2286000"/>
            <a:ext cx="11155680" cy="676656"/>
          </a:xfrm>
          <a:prstGeom prst="roundRect">
            <a:avLst>
              <a:gd name="adj" fmla="val 8108"/>
            </a:avLst>
          </a:prstGeom>
          <a:solidFill>
            <a:srgbClr val="272C34"/>
          </a:solidFill>
          <a:ln w="12700">
            <a:solidFill>
              <a:srgbClr val="33394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286000"/>
            <a:ext cx="5669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grabador no declara cuantos canales tiene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37960" y="2542032"/>
            <a:ext cx="256032" cy="182880"/>
          </a:xfrm>
          <a:prstGeom prst="rightArrow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995160" y="2286000"/>
            <a:ext cx="4389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dice «quedan 9 libres»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3072384"/>
            <a:ext cx="11155680" cy="676656"/>
          </a:xfrm>
          <a:prstGeom prst="roundRect">
            <a:avLst>
              <a:gd name="adj" fmla="val 8108"/>
            </a:avLst>
          </a:prstGeom>
          <a:solidFill>
            <a:srgbClr val="272C34"/>
          </a:solidFill>
          <a:ln w="12700">
            <a:solidFill>
              <a:srgbClr val="33394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072384"/>
            <a:ext cx="5669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hay ordenes en el periodo anterior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37960" y="3328416"/>
            <a:ext cx="256032" cy="182880"/>
          </a:xfrm>
          <a:prstGeom prst="rightArrow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95160" y="3072384"/>
            <a:ext cx="4389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flecha de tendencia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02920" y="3858768"/>
            <a:ext cx="11155680" cy="676656"/>
          </a:xfrm>
          <a:prstGeom prst="roundRect">
            <a:avLst>
              <a:gd name="adj" fmla="val 8108"/>
            </a:avLst>
          </a:prstGeom>
          <a:solidFill>
            <a:srgbClr val="272C34"/>
          </a:solidFill>
          <a:ln w="12700">
            <a:solidFill>
              <a:srgbClr val="33394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858768"/>
            <a:ext cx="5669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Excel sale recortado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37960" y="4114800"/>
            <a:ext cx="256032" cy="182880"/>
          </a:xfrm>
          <a:prstGeom prst="rightArrow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95160" y="3858768"/>
            <a:ext cx="4389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propio archivo lo dice, con los dos numeros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02920" y="4645152"/>
            <a:ext cx="11155680" cy="676656"/>
          </a:xfrm>
          <a:prstGeom prst="roundRect">
            <a:avLst>
              <a:gd name="adj" fmla="val 8108"/>
            </a:avLst>
          </a:prstGeom>
          <a:solidFill>
            <a:srgbClr val="272C34"/>
          </a:solidFill>
          <a:ln w="12700">
            <a:solidFill>
              <a:srgbClr val="33394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4645152"/>
            <a:ext cx="5669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sistema no sabe algo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37960" y="4901184"/>
            <a:ext cx="256032" cy="182880"/>
          </a:xfrm>
          <a:prstGeom prst="rightArrow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95160" y="4645152"/>
            <a:ext cx="4389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que NO LO SABE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565099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3CA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indicador que se inventa un cero destruye la confianza en todos los demas.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69848" y="310896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software no las sugiere: las EXIGE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069848" y="85953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practicas que el sistema hace imposibles de saltar  ·  1 a 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11155680" cy="649224"/>
          </a:xfrm>
          <a:prstGeom prst="roundRect">
            <a:avLst>
              <a:gd name="adj" fmla="val 8451"/>
            </a:avLst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627632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1E6B33"/>
          </a:solidFill>
          <a:ln w="12700">
            <a:solidFill>
              <a:srgbClr val="1E6B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627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61288" y="1481328"/>
            <a:ext cx="41148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instalar sin medir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394960" y="1481328"/>
            <a:ext cx="60350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aprueba una instalacion sin visita tecnica. El formulario cambia segun el sitio y exige lo que hay que medir.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240280"/>
            <a:ext cx="11155680" cy="649224"/>
          </a:xfrm>
          <a:prstGeom prst="roundRect">
            <a:avLst>
              <a:gd name="adj" fmla="val 8451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386584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1E6B33"/>
          </a:solidFill>
          <a:ln w="12700">
            <a:solidFill>
              <a:srgbClr val="1E6B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2386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61288" y="2240280"/>
            <a:ext cx="41148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credenciales son de la planta, no del contratista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394960" y="2240280"/>
            <a:ext cx="60350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guardan CIFRADAS en el sistema. La terceria no se las lleva.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999232"/>
            <a:ext cx="11155680" cy="649224"/>
          </a:xfrm>
          <a:prstGeom prst="roundRect">
            <a:avLst>
              <a:gd name="adj" fmla="val 8451"/>
            </a:avLst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3145536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1E6B33"/>
          </a:solidFill>
          <a:ln w="12700">
            <a:solidFill>
              <a:srgbClr val="1E6B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3145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61288" y="2999232"/>
            <a:ext cx="41148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cable NO es un activo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394960" y="2999232"/>
            <a:ext cx="60350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no deja dar de alta cableado como equipo. Va en «Conexiones», que es lo que 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758184"/>
            <a:ext cx="11155680" cy="649224"/>
          </a:xfrm>
          <a:prstGeom prst="roundRect">
            <a:avLst>
              <a:gd name="adj" fmla="val 8451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3904488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1E6B33"/>
          </a:solidFill>
          <a:ln w="12700">
            <a:solidFill>
              <a:srgbClr val="1E6B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39044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61288" y="3758184"/>
            <a:ext cx="41148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gabinete es estructura, no activo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394960" y="3758184"/>
            <a:ext cx="60350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Igual. Y se comprueba EN EL SERVIDOR, no solo en el desplegable.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4517136"/>
            <a:ext cx="11155680" cy="649224"/>
          </a:xfrm>
          <a:prstGeom prst="roundRect">
            <a:avLst>
              <a:gd name="adj" fmla="val 8451"/>
            </a:avLst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" y="4663440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1E6B33"/>
          </a:solidFill>
          <a:ln w="12700">
            <a:solidFill>
              <a:srgbClr val="1E6B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" y="4663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161288" y="4517136"/>
            <a:ext cx="41148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interviene sin saber como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5394960" y="4517136"/>
            <a:ext cx="60350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QR avisa del nivel de intervencion ANTES de subir.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2920" y="5276088"/>
            <a:ext cx="11155680" cy="649224"/>
          </a:xfrm>
          <a:prstGeom prst="roundRect">
            <a:avLst>
              <a:gd name="adj" fmla="val 8451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5800" y="5422392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1E6B33"/>
          </a:solidFill>
          <a:ln w="12700">
            <a:solidFill>
              <a:srgbClr val="1E6B3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5800" y="5422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1161288" y="5276088"/>
            <a:ext cx="41148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hoja de ruta nace con los pasos de seguridad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5394960" y="5276088"/>
            <a:ext cx="60350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EPP, bloqueo de energia y ausencia de tension vienen puestos. Quien la crea NO PUEDE olvidarlos.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02920" y="6437376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7A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de estas doce es una recomendacion. Son comprobaciones del servidor: no se pueden saltar desde la pantalla.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69848" y="310896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software no las sugiere: las EXIGE  (2)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069848" y="85953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practicas que el sistema hace imposibles de saltar  ·  7 a 12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11155680" cy="649224"/>
          </a:xfrm>
          <a:prstGeom prst="roundRect">
            <a:avLst>
              <a:gd name="adj" fmla="val 8451"/>
            </a:avLst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627632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1E6B33"/>
          </a:solidFill>
          <a:ln w="12700">
            <a:solidFill>
              <a:srgbClr val="1E6B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627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61288" y="1481328"/>
            <a:ext cx="41148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orden no se interviene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394960" y="1481328"/>
            <a:ext cx="60350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se dice en pantalla, con el texto adaptado a lo que cada uno puede hacer.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240280"/>
            <a:ext cx="11155680" cy="649224"/>
          </a:xfrm>
          <a:prstGeom prst="roundRect">
            <a:avLst>
              <a:gd name="adj" fmla="val 8451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386584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1E6B33"/>
          </a:solidFill>
          <a:ln w="12700">
            <a:solidFill>
              <a:srgbClr val="1E6B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2386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61288" y="2240280"/>
            <a:ext cx="41148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una orden es un acto firmado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394960" y="2240280"/>
            <a:ext cx="60350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el Jefe de Mantenimiento. Un tecnico NO PUEDE cerrar.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999232"/>
            <a:ext cx="11155680" cy="649224"/>
          </a:xfrm>
          <a:prstGeom prst="roundRect">
            <a:avLst>
              <a:gd name="adj" fmla="val 8451"/>
            </a:avLst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3145536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1E6B33"/>
          </a:solidFill>
          <a:ln w="12700">
            <a:solidFill>
              <a:srgbClr val="1E6B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3145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61288" y="2999232"/>
            <a:ext cx="41148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causa sale de catalogo, no de texto libre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394960" y="2999232"/>
            <a:ext cx="60350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texto libre no se puede contar despues que falla mas.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758184"/>
            <a:ext cx="11155680" cy="649224"/>
          </a:xfrm>
          <a:prstGeom prst="roundRect">
            <a:avLst>
              <a:gd name="adj" fmla="val 8451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3904488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1E6B33"/>
          </a:solidFill>
          <a:ln w="12700">
            <a:solidFill>
              <a:srgbClr val="1E6B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39044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61288" y="3758184"/>
            <a:ext cx="41148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borra lo que tiene historia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394960" y="3758184"/>
            <a:ext cx="60350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orden con material retirado no se purga. Quien firmo algo se desactiva, nunca se borra.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4517136"/>
            <a:ext cx="11155680" cy="649224"/>
          </a:xfrm>
          <a:prstGeom prst="roundRect">
            <a:avLst>
              <a:gd name="adj" fmla="val 8451"/>
            </a:avLst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" y="4663440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1E6B33"/>
          </a:solidFill>
          <a:ln w="12700">
            <a:solidFill>
              <a:srgbClr val="1E6B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" y="4663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161288" y="4517136"/>
            <a:ext cx="41148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accion queda auditada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5394960" y="4517136"/>
            <a:ext cx="60350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Quien, cuando y desde que equipo. En TODAS las escrituras.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2920" y="5276088"/>
            <a:ext cx="11155680" cy="649224"/>
          </a:xfrm>
          <a:prstGeom prst="roundRect">
            <a:avLst>
              <a:gd name="adj" fmla="val 8451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5800" y="5422392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1E6B33"/>
          </a:solidFill>
          <a:ln w="12700">
            <a:solidFill>
              <a:srgbClr val="1E6B3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5800" y="5422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1161288" y="5276088"/>
            <a:ext cx="41148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uno ve lo suyo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5394960" y="5276088"/>
            <a:ext cx="60350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jefe del Tren 2 no ve el Tren 1 — y se comprueba en el servidor, no en la pantalla.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02920" y="6035040"/>
            <a:ext cx="11155680" cy="9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02920" y="6437376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7A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es la diapositiva que ningun competidor puede copiar sin rehacer su producto.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1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920240"/>
            <a:ext cx="10332720" cy="2926080"/>
          </a:xfrm>
          <a:prstGeom prst="roundRect">
            <a:avLst>
              <a:gd name="adj" fmla="val 3125"/>
            </a:avLst>
          </a:prstGeom>
          <a:solidFill>
            <a:srgbClr val="272C34"/>
          </a:solidFill>
          <a:ln w="12700">
            <a:solidFill>
              <a:srgbClr val="33394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371600" y="228600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8D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software no es un cuaderno digital.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291840"/>
            <a:ext cx="9418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8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 el que impide que se salte el procedimiento.</a:t>
            </a:r>
            <a:endParaRPr lang="en-US" sz="3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69848" y="310896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hay construido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069848" y="85953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numeros MEDIDOS sobre el repositorio. Ninguno estimado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2040941" cy="1371600"/>
          </a:xfrm>
          <a:prstGeom prst="roundRect">
            <a:avLst>
              <a:gd name="adj" fmla="val 4000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591056"/>
            <a:ext cx="1858061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619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377440"/>
            <a:ext cx="185806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81605" y="1481328"/>
            <a:ext cx="2040941" cy="1371600"/>
          </a:xfrm>
          <a:prstGeom prst="roundRect">
            <a:avLst>
              <a:gd name="adj" fmla="val 4000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73045" y="1591056"/>
            <a:ext cx="1858061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619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</a:t>
            </a:r>
            <a:endParaRPr lang="en-US" sz="4600" dirty="0"/>
          </a:p>
        </p:txBody>
      </p:sp>
      <p:sp>
        <p:nvSpPr>
          <p:cNvPr id="11" name="Text 9"/>
          <p:cNvSpPr txBox="1"/>
          <p:nvPr/>
        </p:nvSpPr>
        <p:spPr>
          <a:xfrm>
            <a:off x="2873045" y="2377440"/>
            <a:ext cx="185806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60290" y="1481328"/>
            <a:ext cx="2040941" cy="1371600"/>
          </a:xfrm>
          <a:prstGeom prst="roundRect">
            <a:avLst>
              <a:gd name="adj" fmla="val 4000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51730" y="1591056"/>
            <a:ext cx="1858061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619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</a:t>
            </a:r>
            <a:endParaRPr lang="en-US" sz="4600" dirty="0"/>
          </a:p>
        </p:txBody>
      </p:sp>
      <p:sp>
        <p:nvSpPr>
          <p:cNvPr id="14" name="Text 12"/>
          <p:cNvSpPr txBox="1"/>
          <p:nvPr/>
        </p:nvSpPr>
        <p:spPr>
          <a:xfrm>
            <a:off x="5151730" y="2377440"/>
            <a:ext cx="185806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datos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338974" y="1481328"/>
            <a:ext cx="2040941" cy="1371600"/>
          </a:xfrm>
          <a:prstGeom prst="roundRect">
            <a:avLst>
              <a:gd name="adj" fmla="val 4000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30414" y="1591056"/>
            <a:ext cx="1858061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619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</a:t>
            </a:r>
            <a:endParaRPr lang="en-US" sz="4600" dirty="0"/>
          </a:p>
        </p:txBody>
      </p:sp>
      <p:sp>
        <p:nvSpPr>
          <p:cNvPr id="17" name="Text 15"/>
          <p:cNvSpPr txBox="1"/>
          <p:nvPr/>
        </p:nvSpPr>
        <p:spPr>
          <a:xfrm>
            <a:off x="7430414" y="2377440"/>
            <a:ext cx="185806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migraciones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617659" y="1481328"/>
            <a:ext cx="2040941" cy="1371600"/>
          </a:xfrm>
          <a:prstGeom prst="roundRect">
            <a:avLst>
              <a:gd name="adj" fmla="val 4000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709099" y="1591056"/>
            <a:ext cx="1858061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619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353</a:t>
            </a:r>
            <a:endParaRPr lang="en-US" sz="4600" dirty="0"/>
          </a:p>
        </p:txBody>
      </p:sp>
      <p:sp>
        <p:nvSpPr>
          <p:cNvPr id="20" name="Text 18"/>
          <p:cNvSpPr txBox="1"/>
          <p:nvPr/>
        </p:nvSpPr>
        <p:spPr>
          <a:xfrm>
            <a:off x="9709099" y="2377440"/>
            <a:ext cx="185806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 de API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2926080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44.237 lineas de backend  +  31.077 de frontend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338328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CALIDAD, QUE ES LO QUE LO HACE DEFENDIBLE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730752"/>
            <a:ext cx="2583180" cy="1298448"/>
          </a:xfrm>
          <a:prstGeom prst="roundRect">
            <a:avLst>
              <a:gd name="adj" fmla="val 4225"/>
            </a:avLst>
          </a:prstGeom>
          <a:solidFill>
            <a:srgbClr val="1B1F25"/>
          </a:solidFill>
          <a:ln w="12700">
            <a:solidFill>
              <a:srgbClr val="1B1F2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4360" y="3840480"/>
            <a:ext cx="24003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8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1.270</a:t>
            </a:r>
            <a:endParaRPr lang="en-US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630936" y="4553712"/>
            <a:ext cx="23271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3C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automaticas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60420" y="3730752"/>
            <a:ext cx="2583180" cy="1298448"/>
          </a:xfrm>
          <a:prstGeom prst="roundRect">
            <a:avLst>
              <a:gd name="adj" fmla="val 4225"/>
            </a:avLst>
          </a:prstGeom>
          <a:solidFill>
            <a:srgbClr val="1B1F25"/>
          </a:solidFill>
          <a:ln w="12700">
            <a:solidFill>
              <a:srgbClr val="1B1F2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451860" y="3840480"/>
            <a:ext cx="24003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8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4000" dirty="0"/>
          </a:p>
        </p:txBody>
      </p:sp>
      <p:sp>
        <p:nvSpPr>
          <p:cNvPr id="28" name="Text 26"/>
          <p:cNvSpPr txBox="1"/>
          <p:nvPr/>
        </p:nvSpPr>
        <p:spPr>
          <a:xfrm>
            <a:off x="3488436" y="4553712"/>
            <a:ext cx="23271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3C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verificadores propios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3730752"/>
            <a:ext cx="2583180" cy="1298448"/>
          </a:xfrm>
          <a:prstGeom prst="roundRect">
            <a:avLst>
              <a:gd name="adj" fmla="val 4225"/>
            </a:avLst>
          </a:prstGeom>
          <a:solidFill>
            <a:srgbClr val="1B1F25"/>
          </a:solidFill>
          <a:ln w="12700">
            <a:solidFill>
              <a:srgbClr val="1B1F2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309360" y="3840480"/>
            <a:ext cx="24003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8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000" dirty="0"/>
          </a:p>
        </p:txBody>
      </p:sp>
      <p:sp>
        <p:nvSpPr>
          <p:cNvPr id="31" name="Text 29"/>
          <p:cNvSpPr txBox="1"/>
          <p:nvPr/>
        </p:nvSpPr>
        <p:spPr>
          <a:xfrm>
            <a:off x="6345936" y="4553712"/>
            <a:ext cx="23271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3C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recorridos que ABREN el software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075420" y="3730752"/>
            <a:ext cx="2583180" cy="1298448"/>
          </a:xfrm>
          <a:prstGeom prst="roundRect">
            <a:avLst>
              <a:gd name="adj" fmla="val 4225"/>
            </a:avLst>
          </a:prstGeom>
          <a:solidFill>
            <a:srgbClr val="1B1F25"/>
          </a:solidFill>
          <a:ln w="12700">
            <a:solidFill>
              <a:srgbClr val="1B1F2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166860" y="3840480"/>
            <a:ext cx="24003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8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34" name="Text 32"/>
          <p:cNvSpPr txBox="1"/>
          <p:nvPr/>
        </p:nvSpPr>
        <p:spPr>
          <a:xfrm>
            <a:off x="9203436" y="4553712"/>
            <a:ext cx="23271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3C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de seguridad en cadena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02920" y="5175504"/>
            <a:ext cx="11155680" cy="914400"/>
          </a:xfrm>
          <a:prstGeom prst="roundRect">
            <a:avLst>
              <a:gd name="adj" fmla="val 6000"/>
            </a:avLst>
          </a:prstGeom>
          <a:solidFill>
            <a:srgbClr val="F1F3F5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22960" y="5266944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uno de los 38 verificadores nacio de un fallo real que ya costo tiempo. </a:t>
            </a:r>
            <a:pPr indent="0" marL="0">
              <a:buNone/>
            </a:pPr>
            <a:r>
              <a:rPr lang="en-US" sz="1250" dirty="0">
                <a:solidFill>
                  <a:srgbClr val="3E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son adorno: son reglas que el propio sistema se obliga a cumplir, y la integracion continua NO DEJA SUBIR codigo que las rompa.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69848" y="310896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069848" y="85953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de los 20 puntos de la lista de seguridad de referencia, cumplidos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11155680" cy="585216"/>
          </a:xfrm>
          <a:prstGeom prst="roundRect">
            <a:avLst>
              <a:gd name="adj" fmla="val 9375"/>
            </a:avLst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581912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16191D"/>
          </a:solidFill>
          <a:ln w="12700">
            <a:solidFill>
              <a:srgbClr val="16191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581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61288" y="1463040"/>
            <a:ext cx="4114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Contrasenas con Argon2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394960" y="1463040"/>
            <a:ext cx="6035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 con JWT y token de refresco con rotacion y deteccion de reuso.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148840"/>
            <a:ext cx="11155680" cy="585216"/>
          </a:xfrm>
          <a:prstGeom prst="roundRect">
            <a:avLst>
              <a:gd name="adj" fmla="val 9375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267712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16191D"/>
          </a:solidFill>
          <a:ln w="12700">
            <a:solidFill>
              <a:srgbClr val="16191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2267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61288" y="2148840"/>
            <a:ext cx="4114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de peticiones GLOBAL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394960" y="2148840"/>
            <a:ext cx="6035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las 353 rutas, cero exentas. 600/min por usuario; 5/min en las 9 rutas que arman un Excel.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834640"/>
            <a:ext cx="11155680" cy="585216"/>
          </a:xfrm>
          <a:prstGeom prst="roundRect">
            <a:avLst>
              <a:gd name="adj" fmla="val 9375"/>
            </a:avLst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2953512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16191D"/>
          </a:solidFill>
          <a:ln w="12700">
            <a:solidFill>
              <a:srgbClr val="16191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2953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161288" y="2834640"/>
            <a:ext cx="4114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Freno de fuerza bruta en el login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394960" y="2834640"/>
            <a:ext cx="6035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no se afloja para que pase una prueba.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520440"/>
            <a:ext cx="11155680" cy="585216"/>
          </a:xfrm>
          <a:prstGeom prst="roundRect">
            <a:avLst>
              <a:gd name="adj" fmla="val 9375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3639312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16191D"/>
          </a:solidFill>
          <a:ln w="12700">
            <a:solidFill>
              <a:srgbClr val="16191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36393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161288" y="3520440"/>
            <a:ext cx="4114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 de acceso INMEDIATO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394960" y="3520440"/>
            <a:ext cx="6035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puede echar a alguien del sistema al instante, no en quince minutos.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4206240"/>
            <a:ext cx="11155680" cy="585216"/>
          </a:xfrm>
          <a:prstGeom prst="roundRect">
            <a:avLst>
              <a:gd name="adj" fmla="val 9375"/>
            </a:avLst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" y="4325112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16191D"/>
          </a:solidFill>
          <a:ln w="12700">
            <a:solidFill>
              <a:srgbClr val="16191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" y="4325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161288" y="4206240"/>
            <a:ext cx="4114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Permisos por CAPACIDAD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5394960" y="4206240"/>
            <a:ext cx="6035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por nombre de rol. Y el ambito por tren se comprueba en el servidor.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2920" y="4892040"/>
            <a:ext cx="11155680" cy="585216"/>
          </a:xfrm>
          <a:prstGeom prst="roundRect">
            <a:avLst>
              <a:gd name="adj" fmla="val 9375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5800" y="5010912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16191D"/>
          </a:solidFill>
          <a:ln w="12700">
            <a:solidFill>
              <a:srgbClr val="16191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5800" y="5010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1161288" y="4892040"/>
            <a:ext cx="4114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 de los equipos CIFRADAS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5394960" y="4892040"/>
            <a:ext cx="6035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auditoria de quien, cuando y desde que equipo, en todas las escrituras.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02920" y="5577840"/>
            <a:ext cx="11155680" cy="585216"/>
          </a:xfrm>
          <a:prstGeom prst="roundRect">
            <a:avLst>
              <a:gd name="adj" fmla="val 9375"/>
            </a:avLst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5800" y="5696712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16191D"/>
          </a:solidFill>
          <a:ln w="12700">
            <a:solidFill>
              <a:srgbClr val="16191D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85800" y="5696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1161288" y="5577840"/>
            <a:ext cx="4114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Cabeceras de seguridad y CSP completa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5394960" y="5577840"/>
            <a:ext cx="6035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mano, sin dependencias, en main.ts.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502920" y="6437376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7A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queda abierto se declara en docs/PENDIENTE.md con su motivo. Un hallazgo que no se dice es un hallazgo que nadie cierra.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69848" y="310896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antes y el despues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069848" y="85953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Ocho preguntas, dos respuestas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081528" y="14264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031736" y="1426464"/>
            <a:ext cx="4626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E6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SGIT-CCTV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1773936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avisa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081528" y="1773936"/>
            <a:ext cx="3840480" cy="493776"/>
          </a:xfrm>
          <a:prstGeom prst="roundRect">
            <a:avLst>
              <a:gd name="adj" fmla="val 11111"/>
            </a:avLst>
          </a:prstGeom>
          <a:solidFill>
            <a:srgbClr val="FBEAE8"/>
          </a:solidFill>
          <a:ln w="12700">
            <a:solidFill>
              <a:srgbClr val="F0CFC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27832" y="1773936"/>
            <a:ext cx="35478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radio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031736" y="1773936"/>
            <a:ext cx="4626864" cy="493776"/>
          </a:xfrm>
          <a:prstGeom prst="roundRect">
            <a:avLst>
              <a:gd name="adj" fmla="val 11111"/>
            </a:avLst>
          </a:prstGeom>
          <a:solidFill>
            <a:srgbClr val="E8F3EB"/>
          </a:solidFill>
          <a:ln w="12700">
            <a:solidFill>
              <a:srgbClr val="C9E2D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78040" y="1773936"/>
            <a:ext cx="43342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un boton, y queda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2340864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sabe que falla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081528" y="2340864"/>
            <a:ext cx="3840480" cy="493776"/>
          </a:xfrm>
          <a:prstGeom prst="roundRect">
            <a:avLst>
              <a:gd name="adj" fmla="val 11111"/>
            </a:avLst>
          </a:prstGeom>
          <a:solidFill>
            <a:srgbClr val="FBEAE8"/>
          </a:solidFill>
          <a:ln w="12700">
            <a:solidFill>
              <a:srgbClr val="F0CFC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227832" y="2340864"/>
            <a:ext cx="35478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intuicion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031736" y="2340864"/>
            <a:ext cx="4626864" cy="493776"/>
          </a:xfrm>
          <a:prstGeom prst="roundRect">
            <a:avLst>
              <a:gd name="adj" fmla="val 11111"/>
            </a:avLst>
          </a:prstGeom>
          <a:solidFill>
            <a:srgbClr val="E8F3EB"/>
          </a:solidFill>
          <a:ln w="12700">
            <a:solidFill>
              <a:srgbClr val="C9E2D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78040" y="2340864"/>
            <a:ext cx="43342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catalogo y estadistica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2907792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sube al equipo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081528" y="2907792"/>
            <a:ext cx="3840480" cy="493776"/>
          </a:xfrm>
          <a:prstGeom prst="roundRect">
            <a:avLst>
              <a:gd name="adj" fmla="val 11111"/>
            </a:avLst>
          </a:prstGeom>
          <a:solidFill>
            <a:srgbClr val="FBEAE8"/>
          </a:solidFill>
          <a:ln w="12700">
            <a:solidFill>
              <a:srgbClr val="F0CFC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227832" y="2907792"/>
            <a:ext cx="35478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saber el riesgo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031736" y="2907792"/>
            <a:ext cx="4626864" cy="493776"/>
          </a:xfrm>
          <a:prstGeom prst="roundRect">
            <a:avLst>
              <a:gd name="adj" fmla="val 11111"/>
            </a:avLst>
          </a:prstGeom>
          <a:solidFill>
            <a:srgbClr val="E8F3EB"/>
          </a:solidFill>
          <a:ln w="12700">
            <a:solidFill>
              <a:srgbClr val="C9E2D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78040" y="2907792"/>
            <a:ext cx="43342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aviso delante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3474720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instala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081528" y="3474720"/>
            <a:ext cx="3840480" cy="493776"/>
          </a:xfrm>
          <a:prstGeom prst="roundRect">
            <a:avLst>
              <a:gd name="adj" fmla="val 11111"/>
            </a:avLst>
          </a:prstGeom>
          <a:solidFill>
            <a:srgbClr val="FBEAE8"/>
          </a:solidFill>
          <a:ln w="12700">
            <a:solidFill>
              <a:srgbClr val="F0CFC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227832" y="3474720"/>
            <a:ext cx="35478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ojo, sin medir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031736" y="3474720"/>
            <a:ext cx="4626864" cy="493776"/>
          </a:xfrm>
          <a:prstGeom prst="roundRect">
            <a:avLst>
              <a:gd name="adj" fmla="val 11111"/>
            </a:avLst>
          </a:prstGeom>
          <a:solidFill>
            <a:srgbClr val="E8F3EB"/>
          </a:solidFill>
          <a:ln w="12700">
            <a:solidFill>
              <a:srgbClr val="C9E2D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178040" y="3474720"/>
            <a:ext cx="43342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visita tecnica obligatoria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02920" y="4041648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credenciales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3081528" y="4041648"/>
            <a:ext cx="3840480" cy="493776"/>
          </a:xfrm>
          <a:prstGeom prst="roundRect">
            <a:avLst>
              <a:gd name="adj" fmla="val 11111"/>
            </a:avLst>
          </a:prstGeom>
          <a:solidFill>
            <a:srgbClr val="FBEAE8"/>
          </a:solidFill>
          <a:ln w="12700">
            <a:solidFill>
              <a:srgbClr val="F0CFC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227832" y="4041648"/>
            <a:ext cx="35478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las lleva el contratista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031736" y="4041648"/>
            <a:ext cx="4626864" cy="493776"/>
          </a:xfrm>
          <a:prstGeom prst="roundRect">
            <a:avLst>
              <a:gd name="adj" fmla="val 11111"/>
            </a:avLst>
          </a:prstGeom>
          <a:solidFill>
            <a:srgbClr val="E8F3EB"/>
          </a:solidFill>
          <a:ln w="12700">
            <a:solidFill>
              <a:srgbClr val="C9E2D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178040" y="4041648"/>
            <a:ext cx="43342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cifradas, en la planta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02920" y="4608576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conocimiento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3081528" y="4608576"/>
            <a:ext cx="3840480" cy="493776"/>
          </a:xfrm>
          <a:prstGeom prst="roundRect">
            <a:avLst>
              <a:gd name="adj" fmla="val 11111"/>
            </a:avLst>
          </a:prstGeom>
          <a:solidFill>
            <a:srgbClr val="FBEAE8"/>
          </a:solidFill>
          <a:ln w="12700">
            <a:solidFill>
              <a:srgbClr val="F0CFC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227832" y="4608576"/>
            <a:ext cx="35478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 en una persona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031736" y="4608576"/>
            <a:ext cx="4626864" cy="493776"/>
          </a:xfrm>
          <a:prstGeom prst="roundRect">
            <a:avLst>
              <a:gd name="adj" fmla="val 11111"/>
            </a:avLst>
          </a:prstGeom>
          <a:solidFill>
            <a:srgbClr val="E8F3EB"/>
          </a:solidFill>
          <a:ln w="12700">
            <a:solidFill>
              <a:srgbClr val="C9E2D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178040" y="4608576"/>
            <a:ext cx="43342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 en el sistema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502920" y="5175504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presupuesto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3081528" y="5175504"/>
            <a:ext cx="3840480" cy="493776"/>
          </a:xfrm>
          <a:prstGeom prst="roundRect">
            <a:avLst>
              <a:gd name="adj" fmla="val 11111"/>
            </a:avLst>
          </a:prstGeom>
          <a:solidFill>
            <a:srgbClr val="FBEAE8"/>
          </a:solidFill>
          <a:ln w="12700">
            <a:solidFill>
              <a:srgbClr val="F0CFC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227832" y="5175504"/>
            <a:ext cx="35478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pide con adjetivos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031736" y="5175504"/>
            <a:ext cx="4626864" cy="493776"/>
          </a:xfrm>
          <a:prstGeom prst="roundRect">
            <a:avLst>
              <a:gd name="adj" fmla="val 11111"/>
            </a:avLst>
          </a:prstGeom>
          <a:solidFill>
            <a:srgbClr val="E8F3EB"/>
          </a:solidFill>
          <a:ln w="12700">
            <a:solidFill>
              <a:srgbClr val="C9E2D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178040" y="5175504"/>
            <a:ext cx="43342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pide con cifras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502920" y="5742432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auditoria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3081528" y="5742432"/>
            <a:ext cx="3840480" cy="493776"/>
          </a:xfrm>
          <a:prstGeom prst="roundRect">
            <a:avLst>
              <a:gd name="adj" fmla="val 11111"/>
            </a:avLst>
          </a:prstGeom>
          <a:solidFill>
            <a:srgbClr val="FBEAE8"/>
          </a:solidFill>
          <a:ln w="12700">
            <a:solidFill>
              <a:srgbClr val="F0CFC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3227832" y="5742432"/>
            <a:ext cx="35478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que ensenar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031736" y="5742432"/>
            <a:ext cx="4626864" cy="493776"/>
          </a:xfrm>
          <a:prstGeom prst="roundRect">
            <a:avLst>
              <a:gd name="adj" fmla="val 11111"/>
            </a:avLst>
          </a:prstGeom>
          <a:solidFill>
            <a:srgbClr val="E8F3EB"/>
          </a:solidFill>
          <a:ln w="12700">
            <a:solidFill>
              <a:srgbClr val="C9E2D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178040" y="5742432"/>
            <a:ext cx="43342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firmado, con evidencias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1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73736" cy="173736"/>
          </a:xfrm>
          <a:prstGeom prst="rect">
            <a:avLst/>
          </a:prstGeom>
          <a:solidFill>
            <a:srgbClr val="E8590C"/>
          </a:solidFill>
          <a:ln w="12700">
            <a:solidFill>
              <a:srgbClr val="1B1F2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" y="457200"/>
            <a:ext cx="173736" cy="173736"/>
          </a:xfrm>
          <a:prstGeom prst="rect">
            <a:avLst/>
          </a:prstGeom>
          <a:solidFill>
            <a:srgbClr val="333941"/>
          </a:solidFill>
          <a:ln w="12700">
            <a:solidFill>
              <a:srgbClr val="1B1F2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1288" y="457200"/>
            <a:ext cx="173736" cy="173736"/>
          </a:xfrm>
          <a:prstGeom prst="rect">
            <a:avLst/>
          </a:prstGeom>
          <a:solidFill>
            <a:srgbClr val="333941"/>
          </a:solidFill>
          <a:ln w="12700">
            <a:solidFill>
              <a:srgbClr val="1B1F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0200" y="457200"/>
            <a:ext cx="173736" cy="173736"/>
          </a:xfrm>
          <a:prstGeom prst="rect">
            <a:avLst/>
          </a:prstGeom>
          <a:solidFill>
            <a:srgbClr val="333941"/>
          </a:solidFill>
          <a:ln w="12700">
            <a:solidFill>
              <a:srgbClr val="1B1F2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" y="676656"/>
            <a:ext cx="173736" cy="173736"/>
          </a:xfrm>
          <a:prstGeom prst="rect">
            <a:avLst/>
          </a:prstGeom>
          <a:solidFill>
            <a:srgbClr val="333941"/>
          </a:solidFill>
          <a:ln w="12700">
            <a:solidFill>
              <a:srgbClr val="1B1F2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1832" y="676656"/>
            <a:ext cx="173736" cy="173736"/>
          </a:xfrm>
          <a:prstGeom prst="rect">
            <a:avLst/>
          </a:prstGeom>
          <a:solidFill>
            <a:srgbClr val="333941"/>
          </a:solidFill>
          <a:ln w="12700">
            <a:solidFill>
              <a:srgbClr val="1B1F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80744" y="676656"/>
            <a:ext cx="173736" cy="173736"/>
          </a:xfrm>
          <a:prstGeom prst="rect">
            <a:avLst/>
          </a:prstGeom>
          <a:solidFill>
            <a:srgbClr val="333941"/>
          </a:solidFill>
          <a:ln w="12700">
            <a:solidFill>
              <a:srgbClr val="1B1F2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00200" y="676656"/>
            <a:ext cx="173736" cy="173736"/>
          </a:xfrm>
          <a:prstGeom prst="rect">
            <a:avLst/>
          </a:prstGeom>
          <a:solidFill>
            <a:srgbClr val="333941"/>
          </a:solidFill>
          <a:ln w="12700">
            <a:solidFill>
              <a:srgbClr val="1B1F2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896112"/>
            <a:ext cx="173736" cy="173736"/>
          </a:xfrm>
          <a:prstGeom prst="rect">
            <a:avLst/>
          </a:prstGeom>
          <a:solidFill>
            <a:srgbClr val="333941"/>
          </a:solidFill>
          <a:ln w="12700">
            <a:solidFill>
              <a:srgbClr val="1B1F2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376" y="896112"/>
            <a:ext cx="173736" cy="173736"/>
          </a:xfrm>
          <a:prstGeom prst="rect">
            <a:avLst/>
          </a:prstGeom>
          <a:solidFill>
            <a:srgbClr val="333941"/>
          </a:solidFill>
          <a:ln w="12700">
            <a:solidFill>
              <a:srgbClr val="1B1F2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1288" y="896112"/>
            <a:ext cx="173736" cy="173736"/>
          </a:xfrm>
          <a:prstGeom prst="rect">
            <a:avLst/>
          </a:prstGeom>
          <a:solidFill>
            <a:srgbClr val="333941"/>
          </a:solidFill>
          <a:ln w="12700">
            <a:solidFill>
              <a:srgbClr val="1B1F2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80744" y="896112"/>
            <a:ext cx="173736" cy="173736"/>
          </a:xfrm>
          <a:prstGeom prst="rect">
            <a:avLst/>
          </a:prstGeom>
          <a:solidFill>
            <a:srgbClr val="333941"/>
          </a:solidFill>
          <a:ln w="12700">
            <a:solidFill>
              <a:srgbClr val="1B1F2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1115568"/>
            <a:ext cx="173736" cy="173736"/>
          </a:xfrm>
          <a:prstGeom prst="rect">
            <a:avLst/>
          </a:prstGeom>
          <a:solidFill>
            <a:srgbClr val="333941"/>
          </a:solidFill>
          <a:ln w="12700">
            <a:solidFill>
              <a:srgbClr val="1B1F2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1832" y="1115568"/>
            <a:ext cx="173736" cy="173736"/>
          </a:xfrm>
          <a:prstGeom prst="rect">
            <a:avLst/>
          </a:prstGeom>
          <a:solidFill>
            <a:srgbClr val="333941"/>
          </a:solidFill>
          <a:ln w="12700">
            <a:solidFill>
              <a:srgbClr val="1B1F2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61288" y="1115568"/>
            <a:ext cx="173736" cy="173736"/>
          </a:xfrm>
          <a:prstGeom prst="rect">
            <a:avLst/>
          </a:prstGeom>
          <a:solidFill>
            <a:srgbClr val="333941"/>
          </a:solidFill>
          <a:ln w="12700">
            <a:solidFill>
              <a:srgbClr val="1B1F2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00200" y="1115568"/>
            <a:ext cx="173736" cy="173736"/>
          </a:xfrm>
          <a:prstGeom prst="rect">
            <a:avLst/>
          </a:prstGeom>
          <a:solidFill>
            <a:srgbClr val="E8590C"/>
          </a:solidFill>
          <a:ln w="12700">
            <a:solidFill>
              <a:srgbClr val="1B1F2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" y="2048256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C3CA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Este software no digitaliza el mantenimiento.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2962656"/>
            <a:ext cx="1033272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8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hace DEMOSTRABLE.</a:t>
            </a:r>
            <a:endParaRPr lang="en-US" sz="50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4261104"/>
            <a:ext cx="9235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9A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lo que se puede demostrar, se puede defender, se puede presupuestar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9A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se puede mejorar.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6291072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C7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SGIT-CCTV  ·  Aceros Arequipa, Planta Pisco  ·  Cristhian Rondon Amanqui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Aceros Arequipa - Planta Pisco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SGIT-CCTV - Por que este software tiene que existir</dc:title>
  <dc:subject>PptxGenJS Presentation</dc:subject>
  <dc:creator>Cristhian Rondon Amanqui</dc:creator>
  <cp:lastModifiedBy>Cristhian Rondon Amanqui</cp:lastModifiedBy>
  <cp:revision>1</cp:revision>
  <dcterms:created xsi:type="dcterms:W3CDTF">2026-09-10T13:35:25Z</dcterms:created>
  <dcterms:modified xsi:type="dcterms:W3CDTF">2026-09-10T13:35:25Z</dcterms:modified>
</cp:coreProperties>
</file>