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0"/>
            <a:ext cx="12191695" cy="5486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A8BAD6"/>
                </a:solidFill>
                <a:latin typeface="Calibri"/>
              </a:rPr>
              <a:t>ACEROS AREQUIPA  ·  PLANTA PISCO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SGIT-CCTV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D8E2F2"/>
                </a:solidFill>
                <a:latin typeface="Calibri"/>
              </a:rPr>
              <a:t>Gestión de la infraestructura de videovigilancia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D8E2F2"/>
                </a:solidFill>
                <a:latin typeface="Calibri"/>
              </a:rPr>
              <a:t>y red de LAMINACIÓN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A8BAD6"/>
                </a:solidFill>
                <a:latin typeface="Calibri"/>
              </a:rPr>
              <a:t>Presentación para Producción  ·  Trenes 1, 2 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7F93B5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problema,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Lo que hoy pasa cuando una cámara deja de 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FDF1F1"/>
          </a:solidFill>
          <a:ln w="203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B91C1C"/>
                </a:solidFill>
                <a:latin typeface="Calibri"/>
              </a:rPr>
              <a:t>«Se avisa por radio, se apunta en un cuaderno, y el informe del mes</a:t>
            </a:r>
          </a:p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B91C1C"/>
                </a:solidFill>
                <a:latin typeface="Calibri"/>
              </a:rPr>
              <a:t>se teclea a mano en un Excel.»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121408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CUÁNDO se cayó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No se registra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3108960"/>
            <a:ext cx="2121408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333756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QUÉ cámara 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4251960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Sin inventario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3108960"/>
            <a:ext cx="2121408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333756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CUÁNTO se tardó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4251960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No se mide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108960"/>
            <a:ext cx="2121408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333756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QUÉ falla más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4251960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Texto libre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3108960"/>
            <a:ext cx="2121408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333756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QUÉ se cae si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apago un 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4251960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Nadie lo sabe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637A"/>
                </a:solidFill>
                <a:latin typeface="Calibri"/>
              </a:rPr>
              <a:t>No es que se mida mal: es que no se mide. Esos indicadores hoy no existen en ninguna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Cómo se trabaja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Proceso AS-IS · los recuadros rojos son los puntos de dolor</a:t>
            </a:r>
          </a:p>
        </p:txBody>
      </p:sp>
      <p:pic>
        <p:nvPicPr>
          <p:cNvPr id="5" name="Picture 4" descr="06_bpmn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75367"/>
            <a:ext cx="11430000" cy="4164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Cómo se trabaja con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Proceso TO-BE · los recuadros verdes son lo que resuelve cada paso</a:t>
            </a:r>
          </a:p>
        </p:txBody>
      </p:sp>
      <p:pic>
        <p:nvPicPr>
          <p:cNvPr id="5" name="Picture 4" descr="07_bpmn_desp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772536"/>
            <a:ext cx="11430000" cy="3770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código QR: de leer a trabajar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El técnico escanea la etiqueta del equipo y hace todo desde ahí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11880" cy="4754880"/>
          </a:xfrm>
          <a:prstGeom prst="roundRect">
            <a:avLst/>
          </a:prstGeom>
          <a:solidFill>
            <a:srgbClr val="FDF1F1"/>
          </a:solidFill>
          <a:ln w="203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61188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· SEGURIDAD PRIMERO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54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Lo primero de la pantalla: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cómo se interviene esa zona.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En marcha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Con bloqueo eléctrico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Con permiso de altura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CON EL TREN PARADO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Si nadie lo firmó, pide parada.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Nunca dice «adelante».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234440"/>
            <a:ext cx="3611880" cy="4754880"/>
          </a:xfrm>
          <a:prstGeom prst="roundRect">
            <a:avLst/>
          </a:prstGeom>
          <a:solidFill>
            <a:srgbClr val="E8F0FE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234440"/>
            <a:ext cx="3611880" cy="50292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53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· ANOTAR EL TRABAJO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54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Cuatro botones grandes: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Empecé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Voy a medias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Ya está terminado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No pude, me falta algo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Queda con su nombre y la hora.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La orden la CIERRA EL JEFE.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234440"/>
            <a:ext cx="3611880" cy="4754880"/>
          </a:xfrm>
          <a:prstGeom prst="roundRect">
            <a:avLst/>
          </a:prstGeom>
          <a:solidFill>
            <a:srgbClr val="EEF8F0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4" y="1234440"/>
            <a:ext cx="3611880" cy="50292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353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· REPORTAR AVERÍA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920240"/>
            <a:ext cx="3154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Sin salir de la pantalla,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con el equipo ya puesto: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No da imagen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Sucia o empañada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Golpeada o cable cortado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No responde en red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· Sin alimentación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6233B"/>
                </a:solidFill>
                <a:latin typeface="Calibri"/>
              </a:rPr>
              <a:t>La urgencia la pone el sistema.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637A"/>
                </a:solidFill>
                <a:latin typeface="Calibri"/>
              </a:rPr>
              <a:t>Antes: escaneabas y sólo leías la marca, el modelo y la IP. Para hacer cualquier cosa había que bajar a la oficina.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sistema deduce por dónde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Y eso ahorra viajes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12080" cy="2103120"/>
          </a:xfrm>
          <a:prstGeom prst="roundRect">
            <a:avLst/>
          </a:prstGeom>
          <a:solidFill>
            <a:srgbClr val="FFF8ED"/>
          </a:solidFill>
          <a:ln w="203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7706"/>
                </a:solidFill>
                <a:latin typeface="Calibri"/>
              </a:rPr>
              <a:t>Se cayó UNA cámara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Los vecinos siguen viendo.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→ «Empieza por la CORRIENTE de este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equipo, y luego su tramo de cable.»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03120"/>
          </a:xfrm>
          <a:prstGeom prst="roundRect">
            <a:avLst/>
          </a:prstGeom>
          <a:solidFill>
            <a:srgbClr val="FDF1F1"/>
          </a:solidFill>
          <a:ln w="203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91C1C"/>
                </a:solidFill>
                <a:latin typeface="Calibri"/>
              </a:rPr>
              <a:t>Se cayeron TODAS de golpe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Todo lo que cuelga del mismo sitio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está caído.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→ «NO SUBAS. El problema está en el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switch o en su alimentación.»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10881360" cy="2011680"/>
          </a:xfrm>
          <a:prstGeom prst="roundRect">
            <a:avLst/>
          </a:prstGeom>
          <a:solidFill>
            <a:srgbClr val="EEF8F0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149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6233B"/>
                </a:solidFill>
                <a:latin typeface="Calibri"/>
              </a:rPr>
              <a:t>Además, ANTES de salir el técnico ya sabe: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6233B"/>
                </a:solidFill>
                <a:latin typeface="Calibri"/>
              </a:rPr>
              <a:t>·  Si hay repuesto en almacén        ·  Cómo se llega (escalera, plataforma, altura)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6233B"/>
                </a:solidFill>
                <a:latin typeface="Calibri"/>
              </a:rPr>
              <a:t>·  Si la zona exige parada de tren   ·  Qué otras cámaras se caen si toca ese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637A"/>
                </a:solidFill>
                <a:latin typeface="Calibri"/>
              </a:rPr>
              <a:t>Un viaje en vez de tres. Y ninguna subida a una zona caliente sin saberlo.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Cada uno ve exactamente lo suyo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Y nada más</a:t>
            </a:r>
          </a:p>
        </p:txBody>
      </p:sp>
      <p:pic>
        <p:nvPicPr>
          <p:cNvPr id="5" name="Picture 4" descr="12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80160"/>
            <a:ext cx="777239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Seguridad: la red de cámaras es una sola red plana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Norma IEC 62443 — zonas y conductos</a:t>
            </a:r>
          </a:p>
        </p:txBody>
      </p:sp>
      <p:pic>
        <p:nvPicPr>
          <p:cNvPr id="5" name="Picture 4" descr="08_segm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46" y="1097280"/>
            <a:ext cx="10523627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486400"/>
            <a:ext cx="10881360" cy="777240"/>
          </a:xfrm>
          <a:prstGeom prst="roundRect">
            <a:avLst/>
          </a:prstGeom>
          <a:solidFill>
            <a:srgbClr val="EEF8F0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Separar por tren no cuesta hardware nuevo: es configuración. Y de paso resuelve que un /24 son sólo 254 direcciones.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Por qué la clave de una antena NO es un dato menor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CVE-2026-0709 · Hikvision · severidad 7,2 / 10</a:t>
            </a:r>
          </a:p>
        </p:txBody>
      </p:sp>
      <p:pic>
        <p:nvPicPr>
          <p:cNvPr id="5" name="Picture 4" descr="09_credenci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9187"/>
            <a:ext cx="11247120" cy="4645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 que falta de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No es software: es planta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728" cy="56692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8074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Segmentar la red por tren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389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TI / Redes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92808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92808"/>
            <a:ext cx="109728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3911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Rotulado físico normalizado en los equipos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482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Mantenimiento CCTV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51176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51176"/>
            <a:ext cx="109728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QR pegados en gabinetes y tableros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066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Mantenimiento CCTV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9544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09544"/>
            <a:ext cx="109728" cy="56692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558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Firmar cómo se interviene cada zona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3649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Producción + SSOMA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67912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867912"/>
            <a:ext cx="109728" cy="56692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1421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Declarar qué zonas son vitales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23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Producción (Jefe de Tren)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26280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109728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7258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Capacidad real de los grabadores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817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TI / Redes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84648"/>
            <a:ext cx="10881360" cy="566928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184648"/>
            <a:ext cx="109728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3095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233B"/>
                </a:solidFill>
                <a:latin typeface="Calibri"/>
              </a:rPr>
              <a:t>Declarar los enlaces de 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3400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37A"/>
                </a:solidFill>
                <a:latin typeface="Calibri"/>
              </a:rPr>
              <a:t>TI / Redes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637A"/>
                </a:solidFill>
                <a:latin typeface="Calibri"/>
              </a:rPr>
              <a:t>Mientras la zona no esté firmada, el sistema pide parada de tren. Es lo seguro, pero frena trabajo que podría hacerse en marcha.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 que le pedimos a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Tres cosas que Mantenimiento no puede saber solo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657600" cy="32004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051560"/>
            <a:ext cx="731520" cy="73152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170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Qué zonas NO pueden</a:t>
            </a: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quedarse a ciegas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No es una opinión sobre cámaras: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es una afirmación sobre el proceso.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Si esa zona se queda sin vista,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¿qué pasa con la producción?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657600" cy="32004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1051560"/>
            <a:ext cx="731520" cy="73152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170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Cómo se interviene</a:t>
            </a: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cada zona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En marcha, con bloqueo eléctrico,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con permiso de altura, o con el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tren parado. Queda firmado con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nombre y fecha.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80160"/>
            <a:ext cx="3657600" cy="32004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1051560"/>
            <a:ext cx="731520" cy="73152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170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Corregirnos cuando</a:t>
            </a: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6233B"/>
                </a:solidFill>
                <a:latin typeface="Calibri"/>
              </a:rPr>
              <a:t>nos equivoquemos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2608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Si el sistema clasifica mal una zona,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se cambia desde la pantalla.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Sin tocar código y sin esperar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5637A"/>
                </a:solidFill>
                <a:latin typeface="Calibri"/>
              </a:rPr>
              <a:t>a nadie.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1234440"/>
          </a:xfrm>
          <a:prstGeom prst="roundRect">
            <a:avLst/>
          </a:prstGeom>
          <a:solidFill>
            <a:srgbClr val="EEF8F0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ESTAMOS ABIERTOS A SUGERENCIAS SOBRE LOS PROCESOS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Todo lo de planta —causas, síntomas, rutinas, criticidad— se edita desde la interfaz.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Si hay que tocar código para cambiar una causa de fallo, está mal hecho.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 próximo en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Dos medidas ya decididas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E8F0FE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5496"/>
                </a:solidFill>
                <a:latin typeface="Calibri"/>
              </a:rPr>
              <a:t>CÓDIGO POR CORREO AL ENTRAR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Además de la contraseña, un código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de un solo uso al correo corporativo.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Una contraseña filtrada deja de ser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suficiente para entrar.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E8F0FE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5496"/>
                </a:solidFill>
                <a:latin typeface="Calibri"/>
              </a:rPr>
              <a:t>AVISO AL DAR DE ALTA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Cuando se crea una cuenta, la persona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recibe un correo con su perfil y su tren.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Un alta que no debía hacerse se detecta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el mismo día, no en la próxima auditoría.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182880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434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Ya en marcha hoy: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Contraseñas de equipos CIFRADAS, con permiso propio que NO se reparte con plantillas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Auditoría de cada petición, con nombre, hora y desde qué equipo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Cuatro controles en cadena por petición, el último es «¿es de tu tren?»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937 pruebas automáticas y 23 verificadores que corren antes de cada entrega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 qué está hecho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Todo actualizado en agosto de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Node 24 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Soporte hasta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NestJS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Servidor y control de acceso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PostgreSQL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Integridad de los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7160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554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Prisma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Acceso a datos con tipos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React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Interfaz, también en móvil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65176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Vite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Construcción rápida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5176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Despliegue reproducible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651760"/>
            <a:ext cx="2651760" cy="109728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233B"/>
                </a:solidFill>
                <a:latin typeface="Calibri"/>
              </a:rPr>
              <a:t>Railway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37A"/>
                </a:solidFill>
                <a:latin typeface="Calibri"/>
              </a:rPr>
              <a:t>Publicación automática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06240"/>
            <a:ext cx="10881360" cy="1737360"/>
          </a:xfrm>
          <a:prstGeom prst="roundRect">
            <a:avLst/>
          </a:prstGeom>
          <a:solidFill>
            <a:srgbClr val="EEF8F0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434840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Resultado de la actualización: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Frontend: de 4 vulnerabilidades conocidas a CERO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Backend: de 12 a 5, y las 5 comprobadas una a una como no alcanzables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6233B"/>
                </a:solidFill>
                <a:latin typeface="Calibri"/>
              </a:rPr>
              <a:t>·  Sin pérdida de datos y sin caída del servicio durante la migración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Hasta dónde puede crecer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Y qué hace falta en cada salto</a:t>
            </a:r>
          </a:p>
        </p:txBody>
      </p:sp>
      <p:pic>
        <p:nvPicPr>
          <p:cNvPr id="5" name="Picture 4" descr="11_escala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93" y="1051560"/>
            <a:ext cx="1043093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siguiente paso: cámaras con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BAD6"/>
                </a:solidFill>
                <a:latin typeface="Calibri"/>
              </a:rPr>
              <a:t>Lo que ya se está usando en siderurgia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743200" cy="310896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743200" cy="45720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Equipo de protección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Casco, gafas, guantes,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arnés en altura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Menos incidentes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registrables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280160"/>
            <a:ext cx="2743200" cy="310896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280160"/>
            <a:ext cx="2743200" cy="45720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389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Intrusión en zona caliente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2024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Personas donde pasa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barra caliente o rodillos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20040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Aviso inmediato,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no reconstrucción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280160"/>
            <a:ext cx="2743200" cy="310896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280160"/>
            <a:ext cx="2743200" cy="45720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389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Proximidad a la grúa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92024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Gente bajo la carga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o en el radio de maniobra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20040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El riesgo peor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cubierto hoy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280160"/>
            <a:ext cx="2743200" cy="3108960"/>
          </a:xfrm>
          <a:prstGeom prst="roundRect">
            <a:avLst/>
          </a:prstGeom>
          <a:solidFill>
            <a:srgbClr val="F4F6FA"/>
          </a:solidFill>
          <a:ln w="2032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6" y="1280160"/>
            <a:ext cx="2743200" cy="45720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389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Anomalía térmica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192024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Patrones raros en el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6233B"/>
                </a:solidFill>
                <a:latin typeface="Calibri"/>
              </a:rPr>
              <a:t>horno de recalentamiento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320040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Desviación de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proceso temprana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09160"/>
            <a:ext cx="11064240" cy="1371600"/>
          </a:xfrm>
          <a:prstGeom prst="roundRect">
            <a:avLst/>
          </a:prstGeom>
          <a:solidFill>
            <a:srgbClr val="FFF8ED"/>
          </a:solidFill>
          <a:ln w="203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EL ORDEN IMPORTA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Poner cámaras con IA encima de una planta sin inventario produce alertas sobre equipos que nadie sabe dónde están.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233B"/>
                </a:solidFill>
                <a:latin typeface="Calibri"/>
              </a:rPr>
              <a:t>Ponerlas encima de este sistema produce órdenes de trabajo trazables. La base es lo que convierte una alerta en una acción.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Lo que cambia de verdad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743200"/>
            <a:ext cx="7406640" cy="457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2004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D8E2F2"/>
                </a:solidFill>
                <a:latin typeface="Calibri"/>
              </a:rPr>
              <a:t>Un técnico escanea un código en un poste, de noche,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D8E2F2"/>
                </a:solidFill>
                <a:latin typeface="Calibri"/>
              </a:rPr>
              <a:t>y antes de subir lee en rojo que esa zona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D8E2F2"/>
                </a:solidFill>
                <a:latin typeface="Calibri"/>
              </a:rPr>
              <a:t>exige que el tren esté parado.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5778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A8BAD6"/>
                </a:solidFill>
                <a:latin typeface="Calibri"/>
              </a:rPr>
              <a:t>Eso no sale en ningún indicador.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