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a Jefatura. Objetivo: exponer con notación de ingeniería el proceso actual, el proceso propuesto y la capacidad de crecimiento del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Señalar la rama de excepción: cuando el aviso no es recogido, no queda registro alguno. Es el principal punto de fuga del proceso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Destacar la eliminación de la rama de pérdida: la incidencia queda registrada con independencia de que sea atendida en el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actores identificados en la operación real. Cada caso de uso tiene responsable asignado.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tren, la etapa, el ambiente y la criticidad se derivan de la posición del activo en el árbol de planta.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petición atraviesa la cadena completa de control de acceso antes de alcanzar la capa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apertura y el cierre tienen distinto nivel de autorización: el cierre certifica la ejecución del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fase indica su prerrequisito. La condición transversal es que ninguna decisión se apoya en estimaciones.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instalación no se aprueba sin visita de evaluación. Al cerrar la visita nace el activo y se incorpora al plan preventivo.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SGIT-CCTV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Infraestructura Tecnológica — CCTV y Red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3291840"/>
            <a:ext cx="4754880" cy="475488"/>
          </a:xfrm>
          <a:prstGeom prst="roundRect">
            <a:avLst>
              <a:gd name="adj" fmla="val 19231"/>
            </a:avLst>
          </a:prstGeom>
          <a:solidFill>
            <a:srgbClr val="D9642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2918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registro manual al expediente digital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proceso previo y posterior a la implantación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Aceros Arequipa · Planta Pisco · Laminación (Trenes 1, 2 y 3)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a Jefatura · Notación BPMN 2.0 (Bizagi) y UML 2.5 (StarUML)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diagnóstico del proceso actual a la capacidad de crecimiento del sistema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453896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45389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463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46304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dato se pierde hoy en cada intervención y qué impide medir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993392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075688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07568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0848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AS-IS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08483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BPMN 2.0 del proceso ACTUAL, con sus puntos de fuga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615184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2697480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" y="26974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2706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TO-BE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977640" y="270662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BPMN 2.0 del proceso CON 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36976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319272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" y="331927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98448" y="3328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977640" y="3328416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cambia, medido punto por punto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858768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" y="3941064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94106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298448" y="39502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UML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977640" y="3950208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general y por módulo, clases, secuencia, actividad y estados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3232" y="4562856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456285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298448" y="45720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977640" y="457200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del sistema, seguridad, trazabilidad y control de calidad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102352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3232" y="5184648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3232" y="518464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298448" y="519379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977640" y="519379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Magnitudes de gestión que el sistema hace calculables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5724144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3232" y="5806440"/>
            <a:ext cx="384048" cy="365760"/>
          </a:xfrm>
          <a:prstGeom prst="roundRect">
            <a:avLst>
              <a:gd name="adj" fmla="val 15000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13232" y="5806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298448" y="581558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3977640" y="581558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planificada y evolución hacia analítica de vídeo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de la situación actual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se ejecuta; lo que no se registra no es verificable ni cuantificable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DF1F0"/>
          </a:solidFill>
          <a:ln w="16510">
            <a:solidFill>
              <a:srgbClr val="B024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atención de fallas se ejecuta correctamente en campo, pero no genera registro estructurado. Sin incidencia, orden, marca temporal, firma ni informe, la intervención no es verificable ni cuantificable con posterioridad.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807208"/>
            <a:ext cx="310896" cy="310896"/>
          </a:xfrm>
          <a:prstGeom prst="ellipse">
            <a:avLst/>
          </a:prstGeom>
          <a:solidFill>
            <a:srgbClr val="B0241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808" y="28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2788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evidencia documental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22783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intervención comunicada verbalmente no deja constancia verificable ante una auditoría interna o externa.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70248" y="26060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1416" y="2807208"/>
            <a:ext cx="310896" cy="310896"/>
          </a:xfrm>
          <a:prstGeom prst="ellipse">
            <a:avLst/>
          </a:prstGeom>
          <a:solidFill>
            <a:srgbClr val="B0241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71416" y="28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788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sin seguimiento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71416" y="322783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por radio no genera un registro pendiente. Si no se atiende en el momento, no queda cola de trabajo.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91856" y="26060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2807208"/>
            <a:ext cx="310896" cy="310896"/>
          </a:xfrm>
          <a:prstGeom prst="ellipse">
            <a:avLst/>
          </a:prstGeom>
          <a:solidFill>
            <a:srgbClr val="B0241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28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13648" y="2788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Imposibilidad de medición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93024" y="322783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marca temporal de caída ni de restitución no se puede calcular el MTTR ni evaluar la evolución del servicio.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4498848"/>
            <a:ext cx="310896" cy="310896"/>
          </a:xfrm>
          <a:prstGeom prst="ellipse">
            <a:avLst/>
          </a:prstGeom>
          <a:solidFill>
            <a:srgbClr val="B0241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170432" y="44805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 no cuantificable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91947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se transmite verbalmente. No es posible determinar qué equipos concentran las fallas.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70248" y="42976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71416" y="4498848"/>
            <a:ext cx="310896" cy="310896"/>
          </a:xfrm>
          <a:prstGeom prst="ellipse">
            <a:avLst/>
          </a:prstGeom>
          <a:solidFill>
            <a:srgbClr val="B0241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71416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44805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exclusivamente reactivo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71416" y="491947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preventivo no se programa porque no existe el criterio objetivo que determine su frecuencia.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991856" y="42976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3024" y="4498848"/>
            <a:ext cx="310896" cy="310896"/>
          </a:xfrm>
          <a:prstGeom prst="ellipse">
            <a:avLst/>
          </a:prstGeom>
          <a:solidFill>
            <a:srgbClr val="B0241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3024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613648" y="44805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no transferible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193024" y="491947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técnica reside en las personas. Un cambio de puesto implica pérdida de conocimiento operativo.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ACTUAL (AS-IS)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notación BPMN 2.0 · Bizagi Modeler — calles por rol, compuerta exclusiva y eventos de inicio y fin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img/bpmn_asi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Puntos de fuga del proceso actual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suprime un dato necesario para la gestión posterior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645920"/>
            <a:ext cx="2514600" cy="676656"/>
          </a:xfrm>
          <a:prstGeom prst="roundRect">
            <a:avLst>
              <a:gd name="adj" fmla="val 10811"/>
            </a:avLst>
          </a:prstGeom>
          <a:solidFill>
            <a:srgbClr val="1B3A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45920"/>
            <a:ext cx="24414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verbal por radio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6459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 asociado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9339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 un asiento consultable. La avería sólo existe mientras alguien la recuerde.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670048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852928"/>
            <a:ext cx="2514600" cy="676656"/>
          </a:xfrm>
          <a:prstGeom prst="roundRect">
            <a:avLst>
              <a:gd name="adj" fmla="val 10811"/>
            </a:avLst>
          </a:prstGeom>
          <a:solidFill>
            <a:srgbClr val="1B3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852928"/>
            <a:ext cx="24414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Anotación en cuaderno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529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capacidad de consulta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local y manuscrito: no admite búsqueda, filtrado ni agregación de datos.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77056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4059936"/>
            <a:ext cx="2514600" cy="676656"/>
          </a:xfrm>
          <a:prstGeom prst="roundRect">
            <a:avLst>
              <a:gd name="adj" fmla="val 10811"/>
            </a:avLst>
          </a:prstGeom>
          <a:solidFill>
            <a:srgbClr val="1B3A5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4059936"/>
            <a:ext cx="24414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en papel u hoja de cálculo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4059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control de integridad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44074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Carece de correlativo único, firma y control de estado. Admite duplicidad sin detección.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084064"/>
            <a:ext cx="1106424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5266944"/>
            <a:ext cx="2514600" cy="676656"/>
          </a:xfrm>
          <a:prstGeom prst="roundRect">
            <a:avLst>
              <a:gd name="adj" fmla="val 10811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5266944"/>
            <a:ext cx="24414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Reparación no documentada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526694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causa raíz registrada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56144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no se codifica, por lo que no es posible cuantificar la incidencia por tipo de falla.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PROPUESTO (TO-BE)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SGIT-CCTV · la calle inferior es el sistema; las flechas discontinuas son el registro automático de evidencia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img/bpmn_t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del proceso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punto de fuga identificado y el control que lo sustituye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B0241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37160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— sin sistema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371600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72200" y="137160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— con SGIT-CCTV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DF1F0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9385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verbal sin registro asociado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938528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EFF8EC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19385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obligatorio con autor, marca temporal y origen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505456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505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marca temporal de caída ni de restitución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2505456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36792" y="2505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Ocurrencia, reporte y resolución registradas por separado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072384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DF1F0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307238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 transmitida verbalmente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072384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EFF8EC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6792" y="307238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Síntoma, causa y acción codificados desde catálogo controlado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639312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36393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sin correlativo ni control de estado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3639312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36792" y="36393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Correlativo único por año y control de estado con guarda de concurrencia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206240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DF1F0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42062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sin control de responsabilidad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EFF8EC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36792" y="42062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requiere firma digital y permiso específico de aprobación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773168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3232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físico sin capacidad de consulta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4773168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36792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por código, zona, período, activo o incidencia asociada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340096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DF1F0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3232" y="53400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informe verificable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72200" y="5340096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EFF8EC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36792" y="53400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PDF firmado y exportación íntegra a hoja de cálculo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907024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F0DED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13232" y="59070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exclusivamente reactivo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72200" y="5907024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CEED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36792" y="59070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preventivo programado por criticidad A/B/C y hoja de ruta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Dimensión del sistema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medidas sobre el repositorio a la fecha de esta presentación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4592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5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957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 negocio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0248" y="148132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53128" y="164592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5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453128" y="23957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91856" y="1481328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74736" y="164592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5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174736" y="23957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datos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54096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1868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6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96849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en el menú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70248" y="3054096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53128" y="321868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6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4453128" y="396849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 aplicadas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91856" y="3054096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74736" y="321868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6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8174736" y="396849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de catálogo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6864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791456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797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54126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4626864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53128" y="4791456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4453128" y="554126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verificadores propios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91856" y="4626864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74736" y="4791456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73k</a:t>
            </a:r>
            <a:endParaRPr lang="en-US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8174736" y="554126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código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44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NestJS + TypeScript + Prisma sobre PostgreSQL 18 · React + Vite · despliegue continuo en Railway · almacenamiento de fotos e informes en MinIO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UML — Diagrama de casos de uso GENERAL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UML 2.5 · StarUML — actores, casos de uso, asociaciones y frontera del sistema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img/uc_gene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INCIDENCIAS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de planta: lo que se cae, quién lo vio y qué evidencia hay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img/uc_incidenc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ÓRDENES DE MANTENIMIENTO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expediente del trabajo: quién lo pidió, quién lo hizo, con qué y cuándo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img/uc_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ACTIVOS y CRITICIDAD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árbol de planta y la letra A/B/C que decide cada cuánto se revisa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img/uc_activ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PREVENTIVO y HOJAS DE RUTA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tocar el equipo, qué hacer y cuándo se puede entrar a la línea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6" name="Image 0" descr="img/uc_preventiv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ALMACÉN e INVENTARIO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Repuestos, stock mínimo y trazabilidad del material que sale para una orden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img/uc_almac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INDICADORES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números de la reunión: MTTR, backlog, cumplimiento y reparto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img/uc_indicado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uso por módulo — SEGURIDAD, ROLES y AUDITORÍA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puede qué, quién está dentro y qué hizo cada uno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6" name="Image 0" descr="img/uc_segurid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UML — Diagrama de CLASES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 de los 78 modelos del esquema · las claves foráneas y las multiplicidades son las reales del sistema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6" name="Image 0" descr="img/cls_domin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UML — Diagrama de SECUENCIA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caída de una cámara al informe firmado · con la cadena de guardas de seguridad en su orden exacto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6" name="Image 0" descr="img/seq_incidenc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UML — Diagrama de ACTIVIDAD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completo de gestión con particiones por responsable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6" name="Image 0" descr="img/act_cicl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UML — Diagrama de ESTADOS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 de una Orden de Mantenimiento · las guardas son las que aplica de verdad el servicio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6" name="Image 0" descr="img/sta_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y trazabilidad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operación de escritura queda atribuida a un usuario, con marca temporal y origen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09928"/>
            <a:ext cx="329184" cy="329184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6824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por CAPACIDAD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1396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autorización se otorga por capacidad funcional del puesto, no por denominación del rol. 44 permisos y 13 plantillas.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172200" y="1481328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709928"/>
            <a:ext cx="329184" cy="329184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30568" y="16824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 de cinco guardas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1396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peticiones, identidad, vigencia de sesión, permiso y ámbito de tren. El alcance se restringe por unidad productiva.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3081528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310128"/>
            <a:ext cx="329184" cy="329184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32826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digital en lo irreversible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7398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arranque, la resolución y el cierre requieren reautenticación. Se registra el firmante y la marca temporal.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172200" y="3081528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310128"/>
            <a:ext cx="329184" cy="329184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30568" y="32826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global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37398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operación de escritura queda registrada con usuario, recurso, marca temporal, dirección de origen y equipo.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548640" y="4681728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910328"/>
            <a:ext cx="329184" cy="329184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910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de acceso inmediato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3400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revocación de acceso de un usuario surte efecto en la petición siguiente, sin esperar la caducidad de la sesión.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6172200" y="4681728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0" y="4910328"/>
            <a:ext cx="329184" cy="329184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0800" y="4910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830568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cifradas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53400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credenciales de cámaras y grabadores se almacenan cifradas y su lectura exige autorización explícita.</a:t>
            </a:r>
            <a:endParaRPr lang="en-US" sz="10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calidad del desarrollo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controles obligatorios antes de que un cambio alcance producción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59105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Tipado estricto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1591056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tipos en cliente y servidor: una referencia inválida impide la compilación.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548640" y="243230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2651760"/>
            <a:ext cx="402336" cy="402336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5603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797 pruebas automáticas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56032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Organizadas en 52 conjuntos. Fijan las reglas de negocio y los límites de cada perfil de usuario.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548640" y="340156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3621024"/>
            <a:ext cx="402336" cy="402336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3621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5295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verificadores propios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529584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estáticos derivados de incidencias reales, validados reproduciendo el defecto que detectan.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548640" y="437083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90288"/>
            <a:ext cx="402336" cy="402336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4988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interfaz automatizadas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4498848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real de la aplicación en navegador de escritorio y móvil, verificando el comportamiento visible.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548640" y="534009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" y="5559552"/>
            <a:ext cx="402336" cy="402336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46811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continua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617720" y="5468112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entrega ejecuta migraciones, arranque real, auditoría de dependencias y la totalidad de los controles anteriores.</a:t>
            </a:r>
            <a:endParaRPr lang="en-US" sz="11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disponibles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estos indicadores era calculable antes, por ausencia del dato de origen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9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3852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de reparación, con separación entre demora de detección y ejecución del mantenimiento.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172200" y="1481328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09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por equipo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3852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fallas de cada activo. Sustenta las decisiones de reemplazo.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48640" y="2679192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072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de mantenimiento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136392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pendiente y vencido, con su antigüedad, como medida de la carga acumulada.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172200" y="2679192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8072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del preventivo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136392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del plan ejecutado dentro de la fecha programada.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050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correctivo / preventivo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33425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Proporción entre trabajo reactivo y trabajo planificado. Indicador de madurez de la gestión.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172200" y="3877056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0050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servicio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33425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Proporción de órdenes atendidas dentro del plazo comprometido.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2029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de fallas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53212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ordenados por número de incidencias. Sustento del presupuesto de repuestos.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6172200" y="5074920"/>
            <a:ext cx="5440680" cy="1033272"/>
          </a:xfrm>
          <a:prstGeom prst="roundRect">
            <a:avLst>
              <a:gd name="adj" fmla="val 7080"/>
            </a:avLst>
          </a:prstGeom>
          <a:solidFill>
            <a:srgbClr val="FFFFFF"/>
          </a:solidFill>
          <a:ln w="12700">
            <a:solidFill>
              <a:srgbClr val="D8E4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52029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normativo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553212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que no cumplen los requisitos documentales del propio sistema, con su punto de corrección.</a:t>
            </a:r>
            <a:endParaRPr lang="en-US" sz="10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sobre la que se apoya el crecimiento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sólo documenta la operación: acumula el dato que sustenta las decisiones de inversión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1444752"/>
          </a:xfrm>
          <a:prstGeom prst="roundRect">
            <a:avLst>
              <a:gd name="adj" fmla="val 506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66420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27632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falla con cuatro marcas temporales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12140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Ocurrencia, detección, inicio de reparación y restitución. Permite separar la demora de aviso del trabajo de mantenimiento y atribuir cada tramo a su responsable.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5440680" cy="1444752"/>
          </a:xfrm>
          <a:prstGeom prst="roundRect">
            <a:avLst>
              <a:gd name="adj" fmla="val 506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1656" y="166420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91656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627632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obligatoria de síntoma, causa y acción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91656" y="212140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raíz deja de ser texto libre y pasa a ser una magnitud agregable por equipo, por modelo y por período.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090672"/>
            <a:ext cx="5440680" cy="1444752"/>
          </a:xfrm>
          <a:prstGeom prst="roundRect">
            <a:avLst>
              <a:gd name="adj" fmla="val 506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329184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A/B/C recalculada en cada consulta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490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almacena: se deriva del impacto operacional, la redundancia, la dificultad de acceso y la frecuencia de falla registrada.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72200" y="3090672"/>
            <a:ext cx="5440680" cy="1444752"/>
          </a:xfrm>
          <a:prstGeom prst="roundRect">
            <a:avLst>
              <a:gd name="adj" fmla="val 506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1656" y="329184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91656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3255264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planta y grafo de dependencias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391656" y="37490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activo conoce su tren, su etapa, su ambiente, su alimentación eléctrica y el equipo del que depende su comunicación.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18304"/>
            <a:ext cx="5440680" cy="1444752"/>
          </a:xfrm>
          <a:prstGeom prst="roundRect">
            <a:avLst>
              <a:gd name="adj" fmla="val 506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491947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4882896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Ventanas de parada declaradas por Producción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68096" y="537667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orden puede ligarse a una ventana. Las zonas que exigen línea detenida no se programan fuera de ella.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4718304"/>
            <a:ext cx="5440680" cy="1444752"/>
          </a:xfrm>
          <a:prstGeom prst="roundRect">
            <a:avLst>
              <a:gd name="adj" fmla="val 5063"/>
            </a:avLst>
          </a:prstGeom>
          <a:solidFill>
            <a:srgbClr val="F4F7FA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91656" y="491947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91656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4882896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auditoría por petición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391656" y="537667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 escritura queda atribuida, fechada y localizada. Es la base probatoria de todo lo anterior.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 de crecimiento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fases sucesivas: cada una se apoya en el dato que produce la anterior y ninguna exige rehacer lo construido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6" name="Image 0" descr="img/evolu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Ampliación de cobertura acoplada a las paradas de tren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BPMN 2.0 · Bizagi Modeler — expediente de instalación con visita previa obligatoria y programación contra ventana de parada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img/bpmn_instala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298448"/>
            <a:ext cx="11338560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para la gestión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14884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54A70"/>
          </a:solidFill>
          <a:ln w="12700">
            <a:solidFill>
              <a:srgbClr val="35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" y="2377440"/>
            <a:ext cx="365760" cy="365760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72768" y="2240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verificable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402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completo por intervención: incidencia, orden, materiales, registro fotográfico y firma, con fecha y responsable.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54A70"/>
          </a:solidFill>
          <a:ln w="12700">
            <a:solidFill>
              <a:srgbClr val="3561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3337560"/>
            <a:ext cx="365760" cy="365760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72768" y="3200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sustentada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2004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presupuesto de repuestos y de horas se justifica con el histórico registrado por el propio sistema.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54A70"/>
          </a:solidFill>
          <a:ln w="12700">
            <a:solidFill>
              <a:srgbClr val="3561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" y="4297680"/>
            <a:ext cx="365760" cy="365760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operativa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41605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conocimiento técnico de la planta queda documentado y es independiente de la permanencia del personal.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254A70"/>
          </a:solidFill>
          <a:ln w="12700">
            <a:solidFill>
              <a:srgbClr val="35618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24128" y="5257800"/>
            <a:ext cx="365760" cy="365760"/>
          </a:xfrm>
          <a:prstGeom prst="ellipse">
            <a:avLst/>
          </a:prstGeom>
          <a:solidFill>
            <a:srgbClr val="D964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72768" y="5120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crecimiento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1206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criticidad A/B/C, las hojas de ruta y las ventanas de parada permiten planificar ampliaciones y renovación tecnológica.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SGIT-CCTV · Aceros Arequipa, Planta Pisco · Laminación (Trenes 1, 2 y 3)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Aceros Arequipa · Planta Pisco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SGIT-CCTV — Del papel al expediente digital</dc:title>
  <dc:subject>PptxGenJS Presentation</dc:subject>
  <dc:creator>Área de Mantenimiento — CCTV y Red</dc:creator>
  <cp:lastModifiedBy>Área de Mantenimiento — CCTV y Red</cp:lastModifiedBy>
  <cp:revision>1</cp:revision>
  <dcterms:created xsi:type="dcterms:W3CDTF">2026-09-03T13:06:37Z</dcterms:created>
  <dcterms:modified xsi:type="dcterms:W3CDTF">2026-09-03T13:06:37Z</dcterms:modified>
</cp:coreProperties>
</file>