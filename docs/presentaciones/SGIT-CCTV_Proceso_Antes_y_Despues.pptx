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Lst>
  <p:notesMasterIdLst>
    <p:notesMasterId r:id="rId3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notesMaster" Target="notesMasters/notesMaster1.xml"/><Relationship Id="rId32" Type="http://schemas.openxmlformats.org/officeDocument/2006/relationships/presProps" Target="presProps.xml"/><Relationship Id="rId33" Type="http://schemas.openxmlformats.org/officeDocument/2006/relationships/viewProps" Target="viewProps.xml"/><Relationship Id="rId34" Type="http://schemas.openxmlformats.org/officeDocument/2006/relationships/theme" Target="theme/theme1.xml"/><Relationship Id="rId3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Presentación a Jefatura. Objetivo: exponer con notación de ingeniería el proceso actual, el proceso propuesto y la capacidad de crecimiento del sistema.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alojamiento en la nube fue una decisión de puesta en marcha, no una restricción: la arquitectura en contenedores permite el traslado a un servidor de planta sin reescritura.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Precisar ante Jefatura: la orden SÍ se abre en SAP. El problema no es la ausencia de registro de la orden, sino la ausencia de seguimiento, de documentación de la intervención y de ficha del equipo. Señalar los cuatro recuadros rojos: es donde se pierde el dato.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Destacar la eliminación de la rama de pérdida: la incidencia queda registrada con independencia de que sea atendida en el momento.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Ocho actores identificados en la operación real. Cada caso de uso tiene responsable asignado.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tren, la etapa, el ambiente y la criticidad se derivan de la posición del activo en el árbol de planta.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Cada petición atraviesa la cadena completa de control de acceso antes de alcanzar la capa de datos.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apertura y el cierre tienen distinto nivel de autorización: el cierre certifica la ejecución del trabajo.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Cada fase indica su prerrequisito. La condición transversal es que ninguna decisión se apoya en estimaciones.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instalación no se aprueba sin visita de evaluación. Al cerrar la visita nace el activo y se incorpora al plan preventivo.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Entregar la clave verbalmente o por mensaje aparte. El usuario de evaluación es de sólo consulta: no puede cerrar órdenes, modificar criticidad ni eliminar registros.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3A5C"/>
        </a:solidFill>
      </p:bgPr>
    </p:bg>
    <p:spTree>
      <p:nvGrpSpPr>
        <p:cNvPr id="1" name=""/>
        <p:cNvGrpSpPr/>
        <p:nvPr/>
      </p:nvGrpSpPr>
      <p:grpSpPr>
        <a:xfrm>
          <a:off x="0" y="0"/>
          <a:ext cx="0" cy="0"/>
          <a:chOff x="0" y="0"/>
          <a:chExt cx="0" cy="0"/>
        </a:xfrm>
      </p:grpSpPr>
      <p:sp>
        <p:nvSpPr>
          <p:cNvPr id="2" name="Shape 0"/>
          <p:cNvSpPr/>
          <p:nvPr/>
        </p:nvSpPr>
        <p:spPr>
          <a:xfrm>
            <a:off x="0" y="0"/>
            <a:ext cx="12161520" cy="6858000"/>
          </a:xfrm>
          <a:prstGeom prst="rect">
            <a:avLst/>
          </a:prstGeom>
          <a:solidFill>
            <a:srgbClr val="1B3A5C"/>
          </a:solidFill>
          <a:ln/>
        </p:spPr>
      </p:sp>
      <p:sp>
        <p:nvSpPr>
          <p:cNvPr id="3" name="Text 1"/>
          <p:cNvSpPr txBox="1"/>
          <p:nvPr/>
        </p:nvSpPr>
        <p:spPr>
          <a:xfrm>
            <a:off x="822960" y="1691640"/>
            <a:ext cx="10515600" cy="914400"/>
          </a:xfrm>
          <a:prstGeom prst="rect">
            <a:avLst/>
          </a:prstGeom>
          <a:noFill/>
          <a:ln/>
        </p:spPr>
        <p:txBody>
          <a:bodyPr wrap="square" lIns="0" tIns="0" rIns="0" bIns="0" rtlCol="0" anchor="ctr"/>
          <a:lstStyle/>
          <a:p>
            <a:pPr indent="0" marL="0">
              <a:buNone/>
            </a:pPr>
            <a:r>
              <a:rPr lang="en-US" sz="5400" b="1" spc="100" kern="0" dirty="0">
                <a:solidFill>
                  <a:srgbClr val="FFFFFF"/>
                </a:solidFill>
                <a:latin typeface="Cambria" pitchFamily="34" charset="0"/>
                <a:ea typeface="Cambria" pitchFamily="34" charset="-122"/>
                <a:cs typeface="Cambria" pitchFamily="34" charset="-120"/>
              </a:rPr>
              <a:t>SGIT-CCTV</a:t>
            </a:r>
            <a:endParaRPr lang="en-US" sz="5400" dirty="0"/>
          </a:p>
        </p:txBody>
      </p:sp>
      <p:sp>
        <p:nvSpPr>
          <p:cNvPr id="4" name="Text 2"/>
          <p:cNvSpPr txBox="1"/>
          <p:nvPr/>
        </p:nvSpPr>
        <p:spPr>
          <a:xfrm>
            <a:off x="822960" y="2606040"/>
            <a:ext cx="10515600" cy="457200"/>
          </a:xfrm>
          <a:prstGeom prst="rect">
            <a:avLst/>
          </a:prstGeom>
          <a:noFill/>
          <a:ln/>
        </p:spPr>
        <p:txBody>
          <a:bodyPr wrap="square" lIns="0" tIns="0" rIns="0" bIns="0" rtlCol="0" anchor="ctr"/>
          <a:lstStyle/>
          <a:p>
            <a:pPr indent="0" marL="0">
              <a:buNone/>
            </a:pPr>
            <a:r>
              <a:rPr lang="en-US" sz="2100" dirty="0">
                <a:solidFill>
                  <a:srgbClr val="CADCFC"/>
                </a:solidFill>
                <a:latin typeface="Calibri" pitchFamily="34" charset="0"/>
                <a:ea typeface="Calibri" pitchFamily="34" charset="-122"/>
                <a:cs typeface="Calibri" pitchFamily="34" charset="-120"/>
              </a:rPr>
              <a:t>Sistema de Gestión de Infraestructura Tecnológica — CCTV y Red</a:t>
            </a:r>
            <a:endParaRPr lang="en-US" sz="2100" dirty="0"/>
          </a:p>
        </p:txBody>
      </p:sp>
      <p:sp>
        <p:nvSpPr>
          <p:cNvPr id="5" name="Shape 3"/>
          <p:cNvSpPr/>
          <p:nvPr/>
        </p:nvSpPr>
        <p:spPr>
          <a:xfrm>
            <a:off x="822960" y="3291840"/>
            <a:ext cx="4754880" cy="475488"/>
          </a:xfrm>
          <a:prstGeom prst="roundRect">
            <a:avLst>
              <a:gd name="adj" fmla="val 19231"/>
            </a:avLst>
          </a:prstGeom>
          <a:solidFill>
            <a:srgbClr val="D9642B"/>
          </a:solidFill>
          <a:ln/>
        </p:spPr>
      </p:sp>
      <p:sp>
        <p:nvSpPr>
          <p:cNvPr id="6" name="Text 4"/>
          <p:cNvSpPr txBox="1"/>
          <p:nvPr/>
        </p:nvSpPr>
        <p:spPr>
          <a:xfrm>
            <a:off x="822960" y="3291840"/>
            <a:ext cx="4754880" cy="47548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Del registro manual al expediente digital</a:t>
            </a:r>
            <a:endParaRPr lang="en-US" sz="1500" dirty="0"/>
          </a:p>
        </p:txBody>
      </p:sp>
      <p:sp>
        <p:nvSpPr>
          <p:cNvPr id="7" name="Text 5"/>
          <p:cNvSpPr txBox="1"/>
          <p:nvPr/>
        </p:nvSpPr>
        <p:spPr>
          <a:xfrm>
            <a:off x="822960" y="4069080"/>
            <a:ext cx="10515600" cy="822960"/>
          </a:xfrm>
          <a:prstGeom prst="rect">
            <a:avLst/>
          </a:prstGeom>
          <a:noFill/>
          <a:ln/>
        </p:spPr>
        <p:txBody>
          <a:bodyPr wrap="square" lIns="0" tIns="0" rIns="0" bIns="0" rtlCol="0" anchor="ctr"/>
          <a:lstStyle/>
          <a:p>
            <a:pPr indent="0" marL="0">
              <a:lnSpc>
                <a:spcPts val="2200"/>
              </a:lnSpc>
              <a:buNone/>
            </a:pPr>
            <a:r>
              <a:rPr lang="en-US" sz="1400" dirty="0">
                <a:solidFill>
                  <a:srgbClr val="AFC4DC"/>
                </a:solidFill>
                <a:latin typeface="Calibri" pitchFamily="34" charset="0"/>
                <a:ea typeface="Calibri" pitchFamily="34" charset="-122"/>
                <a:cs typeface="Calibri" pitchFamily="34" charset="-120"/>
              </a:rPr>
              <a:t>Análisis del proceso previo y posterior a la implantación</a:t>
            </a:r>
            <a:endParaRPr lang="en-US" sz="1400" dirty="0"/>
          </a:p>
          <a:p>
            <a:pPr indent="0" marL="0">
              <a:lnSpc>
                <a:spcPts val="2200"/>
              </a:lnSpc>
              <a:buNone/>
            </a:pPr>
            <a:r>
              <a:rPr lang="en-US" sz="1400" dirty="0">
                <a:solidFill>
                  <a:srgbClr val="AFC4DC"/>
                </a:solidFill>
                <a:latin typeface="Calibri" pitchFamily="34" charset="0"/>
                <a:ea typeface="Calibri" pitchFamily="34" charset="-122"/>
                <a:cs typeface="Calibri" pitchFamily="34" charset="-120"/>
              </a:rPr>
              <a:t>Aceros Arequipa · Planta Pisco · Laminación (Trenes 1, 2 y 3)</a:t>
            </a:r>
            <a:endParaRPr lang="en-US" sz="1400" dirty="0"/>
          </a:p>
        </p:txBody>
      </p:sp>
      <p:sp>
        <p:nvSpPr>
          <p:cNvPr id="8" name="Text 6"/>
          <p:cNvSpPr txBox="1"/>
          <p:nvPr/>
        </p:nvSpPr>
        <p:spPr>
          <a:xfrm>
            <a:off x="822960" y="5806440"/>
            <a:ext cx="10515600" cy="365760"/>
          </a:xfrm>
          <a:prstGeom prst="rect">
            <a:avLst/>
          </a:prstGeom>
          <a:noFill/>
          <a:ln/>
        </p:spPr>
        <p:txBody>
          <a:bodyPr wrap="square" lIns="0" tIns="0" rIns="0" bIns="0" rtlCol="0" anchor="ctr"/>
          <a:lstStyle/>
          <a:p>
            <a:pPr indent="0" marL="0">
              <a:buNone/>
            </a:pPr>
            <a:r>
              <a:rPr lang="en-US" sz="1150" dirty="0">
                <a:solidFill>
                  <a:srgbClr val="8FA6C4"/>
                </a:solidFill>
                <a:latin typeface="Calibri" pitchFamily="34" charset="0"/>
                <a:ea typeface="Calibri" pitchFamily="34" charset="-122"/>
                <a:cs typeface="Calibri" pitchFamily="34" charset="-120"/>
              </a:rPr>
              <a:t>Presentación a Jefatura · Notación BPMN 2.0 (Bizagi) y UML 2.5 (StarUML)</a:t>
            </a:r>
            <a:endParaRPr lang="en-US" sz="11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1064240" cy="566928"/>
          </a:xfrm>
          <a:prstGeom prst="rect">
            <a:avLst/>
          </a:prstGeom>
          <a:noFill/>
          <a:ln/>
        </p:spPr>
        <p:txBody>
          <a:bodyPr wrap="square" lIns="0" tIns="0" rIns="0" bIns="0" rtlCol="0" anchor="ctr"/>
          <a:lstStyle/>
          <a:p>
            <a:pPr indent="0" marL="0">
              <a:buNone/>
            </a:pPr>
            <a:r>
              <a:rPr lang="en-US" sz="3000" b="1" dirty="0">
                <a:solidFill>
                  <a:srgbClr val="1B3A5C"/>
                </a:solidFill>
                <a:latin typeface="Cambria" pitchFamily="34" charset="0"/>
                <a:ea typeface="Cambria" pitchFamily="34" charset="-122"/>
                <a:cs typeface="Cambria" pitchFamily="34" charset="-120"/>
              </a:rPr>
              <a:t>Contenido</a:t>
            </a:r>
            <a:endParaRPr lang="en-US" sz="3000" dirty="0"/>
          </a:p>
        </p:txBody>
      </p:sp>
      <p:sp>
        <p:nvSpPr>
          <p:cNvPr id="3" name="Text 1"/>
          <p:cNvSpPr txBox="1"/>
          <p:nvPr/>
        </p:nvSpPr>
        <p:spPr>
          <a:xfrm>
            <a:off x="548640" y="896112"/>
            <a:ext cx="11064240" cy="329184"/>
          </a:xfrm>
          <a:prstGeom prst="rect">
            <a:avLst/>
          </a:prstGeom>
          <a:noFill/>
          <a:ln/>
        </p:spPr>
        <p:txBody>
          <a:bodyPr wrap="square" lIns="0" tIns="0" rIns="0" bIns="0" rtlCol="0" anchor="ctr"/>
          <a:lstStyle/>
          <a:p>
            <a:pPr indent="0" marL="0">
              <a:buNone/>
            </a:pPr>
            <a:r>
              <a:rPr lang="en-US" sz="1350" dirty="0">
                <a:solidFill>
                  <a:srgbClr val="5A6570"/>
                </a:solidFill>
                <a:latin typeface="Calibri" pitchFamily="34" charset="0"/>
                <a:ea typeface="Calibri" pitchFamily="34" charset="-122"/>
                <a:cs typeface="Calibri" pitchFamily="34" charset="-120"/>
              </a:rPr>
              <a:t>Del diagnóstico del proceso actual a la capacidad de crecimiento del sistema</a:t>
            </a:r>
            <a:endParaRPr lang="en-US" sz="1350" dirty="0"/>
          </a:p>
        </p:txBody>
      </p:sp>
      <p:sp>
        <p:nvSpPr>
          <p:cNvPr id="4" name="Text 2"/>
          <p:cNvSpPr txBox="1"/>
          <p:nvPr/>
        </p:nvSpPr>
        <p:spPr>
          <a:xfrm>
            <a:off x="548640" y="6400800"/>
            <a:ext cx="10058400" cy="274320"/>
          </a:xfrm>
          <a:prstGeom prst="rect">
            <a:avLst/>
          </a:prstGeom>
          <a:noFill/>
          <a:ln/>
        </p:spPr>
        <p:txBody>
          <a:bodyPr wrap="square" lIns="0" tIns="0" rIns="0" bIns="0" rtlCol="0" anchor="ctr"/>
          <a:lstStyle/>
          <a:p>
            <a:pPr indent="0" marL="0">
              <a:buNone/>
            </a:pPr>
            <a:r>
              <a:rPr lang="en-US" sz="900" dirty="0">
                <a:solidFill>
                  <a:srgbClr val="9AA4B0"/>
                </a:solidFill>
                <a:latin typeface="Calibri" pitchFamily="34" charset="0"/>
                <a:ea typeface="Calibri" pitchFamily="34" charset="-122"/>
                <a:cs typeface="Calibri" pitchFamily="34" charset="-120"/>
              </a:rPr>
              <a:t>SGIT-CCTV · Aceros Arequipa, Planta Pisco · Laminación (Trenes 1, 2 y 3)</a:t>
            </a:r>
            <a:endParaRPr lang="en-US" sz="900" dirty="0"/>
          </a:p>
        </p:txBody>
      </p:sp>
      <p:sp>
        <p:nvSpPr>
          <p:cNvPr id="5" name="Text 3"/>
          <p:cNvSpPr txBox="1"/>
          <p:nvPr/>
        </p:nvSpPr>
        <p:spPr>
          <a:xfrm>
            <a:off x="11338560" y="6400800"/>
            <a:ext cx="365760" cy="274320"/>
          </a:xfrm>
          <a:prstGeom prst="rect">
            <a:avLst/>
          </a:prstGeom>
          <a:noFill/>
          <a:ln/>
        </p:spPr>
        <p:txBody>
          <a:bodyPr wrap="square" lIns="0" tIns="0" rIns="0" bIns="0" rtlCol="0" anchor="ctr"/>
          <a:lstStyle/>
          <a:p>
            <a:pPr algn="r" indent="0" marL="0">
              <a:buNone/>
            </a:pPr>
            <a:r>
              <a:rPr lang="en-US" sz="1000" dirty="0">
                <a:solidFill>
                  <a:srgbClr val="5A6570"/>
                </a:solidFill>
                <a:latin typeface="Calibri" pitchFamily="34" charset="0"/>
                <a:ea typeface="Calibri" pitchFamily="34" charset="-122"/>
                <a:cs typeface="Calibri" pitchFamily="34" charset="-120"/>
              </a:rPr>
              <a:t>1</a:t>
            </a:r>
            <a:endParaRPr lang="en-US" sz="1000" dirty="0"/>
          </a:p>
        </p:txBody>
      </p:sp>
      <p:sp>
        <p:nvSpPr>
          <p:cNvPr id="6" name="Shape 4"/>
          <p:cNvSpPr/>
          <p:nvPr/>
        </p:nvSpPr>
        <p:spPr>
          <a:xfrm>
            <a:off x="548640" y="1371600"/>
            <a:ext cx="11064240" cy="530352"/>
          </a:xfrm>
          <a:prstGeom prst="roundRect">
            <a:avLst>
              <a:gd name="adj" fmla="val 13793"/>
            </a:avLst>
          </a:prstGeom>
          <a:solidFill>
            <a:srgbClr val="F4F7FA"/>
          </a:solidFill>
          <a:ln w="12700">
            <a:solidFill>
              <a:srgbClr val="E3E9F0"/>
            </a:solidFill>
            <a:prstDash val="solid"/>
          </a:ln>
        </p:spPr>
      </p:sp>
      <p:sp>
        <p:nvSpPr>
          <p:cNvPr id="7" name="Shape 5"/>
          <p:cNvSpPr/>
          <p:nvPr/>
        </p:nvSpPr>
        <p:spPr>
          <a:xfrm>
            <a:off x="713232" y="1453896"/>
            <a:ext cx="384048" cy="365760"/>
          </a:xfrm>
          <a:prstGeom prst="roundRect">
            <a:avLst>
              <a:gd name="adj" fmla="val 15000"/>
            </a:avLst>
          </a:prstGeom>
          <a:solidFill>
            <a:srgbClr val="1B3A5C"/>
          </a:solidFill>
          <a:ln/>
        </p:spPr>
      </p:sp>
      <p:sp>
        <p:nvSpPr>
          <p:cNvPr id="8" name="Text 6"/>
          <p:cNvSpPr txBox="1"/>
          <p:nvPr/>
        </p:nvSpPr>
        <p:spPr>
          <a:xfrm>
            <a:off x="713232" y="1453896"/>
            <a:ext cx="384048"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01</a:t>
            </a:r>
            <a:endParaRPr lang="en-US" sz="1200" dirty="0"/>
          </a:p>
        </p:txBody>
      </p:sp>
      <p:sp>
        <p:nvSpPr>
          <p:cNvPr id="9" name="Text 7"/>
          <p:cNvSpPr txBox="1"/>
          <p:nvPr/>
        </p:nvSpPr>
        <p:spPr>
          <a:xfrm>
            <a:off x="1298448" y="1463040"/>
            <a:ext cx="2651760" cy="347472"/>
          </a:xfrm>
          <a:prstGeom prst="rect">
            <a:avLst/>
          </a:prstGeom>
          <a:noFill/>
          <a:ln/>
        </p:spPr>
        <p:txBody>
          <a:bodyPr wrap="square" lIns="0" tIns="0" rIns="0" bIns="0" rtlCol="0" anchor="ctr"/>
          <a:lstStyle/>
          <a:p>
            <a:pPr indent="0" marL="0">
              <a:buNone/>
            </a:pPr>
            <a:r>
              <a:rPr lang="en-US" sz="1400" b="1" dirty="0">
                <a:solidFill>
                  <a:srgbClr val="1B3A5C"/>
                </a:solidFill>
                <a:latin typeface="Calibri" pitchFamily="34" charset="0"/>
                <a:ea typeface="Calibri" pitchFamily="34" charset="-122"/>
                <a:cs typeface="Calibri" pitchFamily="34" charset="-120"/>
              </a:rPr>
              <a:t>Diagnóstico</a:t>
            </a:r>
            <a:endParaRPr lang="en-US" sz="1400" dirty="0"/>
          </a:p>
        </p:txBody>
      </p:sp>
      <p:sp>
        <p:nvSpPr>
          <p:cNvPr id="10" name="Text 8"/>
          <p:cNvSpPr txBox="1"/>
          <p:nvPr/>
        </p:nvSpPr>
        <p:spPr>
          <a:xfrm>
            <a:off x="3977640" y="1463040"/>
            <a:ext cx="7498080" cy="347472"/>
          </a:xfrm>
          <a:prstGeom prst="rect">
            <a:avLst/>
          </a:prstGeom>
          <a:noFill/>
          <a:ln/>
        </p:spPr>
        <p:txBody>
          <a:bodyPr wrap="square" lIns="0" tIns="0" rIns="0" bIns="0" rtlCol="0" anchor="ctr"/>
          <a:lstStyle/>
          <a:p>
            <a:pPr indent="0" marL="0">
              <a:buNone/>
            </a:pPr>
            <a:r>
              <a:rPr lang="en-US" sz="1200" dirty="0">
                <a:solidFill>
                  <a:srgbClr val="5A6570"/>
                </a:solidFill>
                <a:latin typeface="Calibri" pitchFamily="34" charset="0"/>
                <a:ea typeface="Calibri" pitchFamily="34" charset="-122"/>
                <a:cs typeface="Calibri" pitchFamily="34" charset="-120"/>
              </a:rPr>
              <a:t>Qué dato se pierde hoy en cada intervención y qué impide medir</a:t>
            </a:r>
            <a:endParaRPr lang="en-US" sz="1200" dirty="0"/>
          </a:p>
        </p:txBody>
      </p:sp>
      <p:sp>
        <p:nvSpPr>
          <p:cNvPr id="11" name="Shape 9"/>
          <p:cNvSpPr/>
          <p:nvPr/>
        </p:nvSpPr>
        <p:spPr>
          <a:xfrm>
            <a:off x="548640" y="1993392"/>
            <a:ext cx="11064240" cy="530352"/>
          </a:xfrm>
          <a:prstGeom prst="roundRect">
            <a:avLst>
              <a:gd name="adj" fmla="val 13793"/>
            </a:avLst>
          </a:prstGeom>
          <a:solidFill>
            <a:srgbClr val="FFFFFF"/>
          </a:solidFill>
          <a:ln w="12700">
            <a:solidFill>
              <a:srgbClr val="E3E9F0"/>
            </a:solidFill>
            <a:prstDash val="solid"/>
          </a:ln>
        </p:spPr>
      </p:sp>
      <p:sp>
        <p:nvSpPr>
          <p:cNvPr id="12" name="Shape 10"/>
          <p:cNvSpPr/>
          <p:nvPr/>
        </p:nvSpPr>
        <p:spPr>
          <a:xfrm>
            <a:off x="713232" y="2075688"/>
            <a:ext cx="384048" cy="365760"/>
          </a:xfrm>
          <a:prstGeom prst="roundRect">
            <a:avLst>
              <a:gd name="adj" fmla="val 15000"/>
            </a:avLst>
          </a:prstGeom>
          <a:solidFill>
            <a:srgbClr val="1B3A5C"/>
          </a:solidFill>
          <a:ln/>
        </p:spPr>
      </p:sp>
      <p:sp>
        <p:nvSpPr>
          <p:cNvPr id="13" name="Text 11"/>
          <p:cNvSpPr txBox="1"/>
          <p:nvPr/>
        </p:nvSpPr>
        <p:spPr>
          <a:xfrm>
            <a:off x="713232" y="2075688"/>
            <a:ext cx="384048"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02</a:t>
            </a:r>
            <a:endParaRPr lang="en-US" sz="1200" dirty="0"/>
          </a:p>
        </p:txBody>
      </p:sp>
      <p:sp>
        <p:nvSpPr>
          <p:cNvPr id="14" name="Text 12"/>
          <p:cNvSpPr txBox="1"/>
          <p:nvPr/>
        </p:nvSpPr>
        <p:spPr>
          <a:xfrm>
            <a:off x="1298448" y="2084832"/>
            <a:ext cx="2651760" cy="347472"/>
          </a:xfrm>
          <a:prstGeom prst="rect">
            <a:avLst/>
          </a:prstGeom>
          <a:noFill/>
          <a:ln/>
        </p:spPr>
        <p:txBody>
          <a:bodyPr wrap="square" lIns="0" tIns="0" rIns="0" bIns="0" rtlCol="0" anchor="ctr"/>
          <a:lstStyle/>
          <a:p>
            <a:pPr indent="0" marL="0">
              <a:buNone/>
            </a:pPr>
            <a:r>
              <a:rPr lang="en-US" sz="1400" b="1" dirty="0">
                <a:solidFill>
                  <a:srgbClr val="1B3A5C"/>
                </a:solidFill>
                <a:latin typeface="Calibri" pitchFamily="34" charset="0"/>
                <a:ea typeface="Calibri" pitchFamily="34" charset="-122"/>
                <a:cs typeface="Calibri" pitchFamily="34" charset="-120"/>
              </a:rPr>
              <a:t>Proceso AS-IS</a:t>
            </a:r>
            <a:endParaRPr lang="en-US" sz="1400" dirty="0"/>
          </a:p>
        </p:txBody>
      </p:sp>
      <p:sp>
        <p:nvSpPr>
          <p:cNvPr id="15" name="Text 13"/>
          <p:cNvSpPr txBox="1"/>
          <p:nvPr/>
        </p:nvSpPr>
        <p:spPr>
          <a:xfrm>
            <a:off x="3977640" y="2084832"/>
            <a:ext cx="7498080" cy="347472"/>
          </a:xfrm>
          <a:prstGeom prst="rect">
            <a:avLst/>
          </a:prstGeom>
          <a:noFill/>
          <a:ln/>
        </p:spPr>
        <p:txBody>
          <a:bodyPr wrap="square" lIns="0" tIns="0" rIns="0" bIns="0" rtlCol="0" anchor="ctr"/>
          <a:lstStyle/>
          <a:p>
            <a:pPr indent="0" marL="0">
              <a:buNone/>
            </a:pPr>
            <a:r>
              <a:rPr lang="en-US" sz="1200" dirty="0">
                <a:solidFill>
                  <a:srgbClr val="5A6570"/>
                </a:solidFill>
                <a:latin typeface="Calibri" pitchFamily="34" charset="0"/>
                <a:ea typeface="Calibri" pitchFamily="34" charset="-122"/>
                <a:cs typeface="Calibri" pitchFamily="34" charset="-120"/>
              </a:rPr>
              <a:t>Modelado BPMN 2.0 del proceso ACTUAL, con sus puntos de fuga</a:t>
            </a:r>
            <a:endParaRPr lang="en-US" sz="1200" dirty="0"/>
          </a:p>
        </p:txBody>
      </p:sp>
      <p:sp>
        <p:nvSpPr>
          <p:cNvPr id="16" name="Shape 14"/>
          <p:cNvSpPr/>
          <p:nvPr/>
        </p:nvSpPr>
        <p:spPr>
          <a:xfrm>
            <a:off x="548640" y="2615184"/>
            <a:ext cx="11064240" cy="530352"/>
          </a:xfrm>
          <a:prstGeom prst="roundRect">
            <a:avLst>
              <a:gd name="adj" fmla="val 13793"/>
            </a:avLst>
          </a:prstGeom>
          <a:solidFill>
            <a:srgbClr val="F4F7FA"/>
          </a:solidFill>
          <a:ln w="12700">
            <a:solidFill>
              <a:srgbClr val="E3E9F0"/>
            </a:solidFill>
            <a:prstDash val="solid"/>
          </a:ln>
        </p:spPr>
      </p:sp>
      <p:sp>
        <p:nvSpPr>
          <p:cNvPr id="17" name="Shape 15"/>
          <p:cNvSpPr/>
          <p:nvPr/>
        </p:nvSpPr>
        <p:spPr>
          <a:xfrm>
            <a:off x="713232" y="2697480"/>
            <a:ext cx="384048" cy="365760"/>
          </a:xfrm>
          <a:prstGeom prst="roundRect">
            <a:avLst>
              <a:gd name="adj" fmla="val 15000"/>
            </a:avLst>
          </a:prstGeom>
          <a:solidFill>
            <a:srgbClr val="1B3A5C"/>
          </a:solidFill>
          <a:ln/>
        </p:spPr>
      </p:sp>
      <p:sp>
        <p:nvSpPr>
          <p:cNvPr id="18" name="Text 16"/>
          <p:cNvSpPr txBox="1"/>
          <p:nvPr/>
        </p:nvSpPr>
        <p:spPr>
          <a:xfrm>
            <a:off x="713232" y="2697480"/>
            <a:ext cx="384048"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03</a:t>
            </a:r>
            <a:endParaRPr lang="en-US" sz="1200" dirty="0"/>
          </a:p>
        </p:txBody>
      </p:sp>
      <p:sp>
        <p:nvSpPr>
          <p:cNvPr id="19" name="Text 17"/>
          <p:cNvSpPr txBox="1"/>
          <p:nvPr/>
        </p:nvSpPr>
        <p:spPr>
          <a:xfrm>
            <a:off x="1298448" y="2706624"/>
            <a:ext cx="2651760" cy="347472"/>
          </a:xfrm>
          <a:prstGeom prst="rect">
            <a:avLst/>
          </a:prstGeom>
          <a:noFill/>
          <a:ln/>
        </p:spPr>
        <p:txBody>
          <a:bodyPr wrap="square" lIns="0" tIns="0" rIns="0" bIns="0" rtlCol="0" anchor="ctr"/>
          <a:lstStyle/>
          <a:p>
            <a:pPr indent="0" marL="0">
              <a:buNone/>
            </a:pPr>
            <a:r>
              <a:rPr lang="en-US" sz="1400" b="1" dirty="0">
                <a:solidFill>
                  <a:srgbClr val="1B3A5C"/>
                </a:solidFill>
                <a:latin typeface="Calibri" pitchFamily="34" charset="0"/>
                <a:ea typeface="Calibri" pitchFamily="34" charset="-122"/>
                <a:cs typeface="Calibri" pitchFamily="34" charset="-120"/>
              </a:rPr>
              <a:t>Proceso TO-BE</a:t>
            </a:r>
            <a:endParaRPr lang="en-US" sz="1400" dirty="0"/>
          </a:p>
        </p:txBody>
      </p:sp>
      <p:sp>
        <p:nvSpPr>
          <p:cNvPr id="20" name="Text 18"/>
          <p:cNvSpPr txBox="1"/>
          <p:nvPr/>
        </p:nvSpPr>
        <p:spPr>
          <a:xfrm>
            <a:off x="3977640" y="2706624"/>
            <a:ext cx="7498080" cy="347472"/>
          </a:xfrm>
          <a:prstGeom prst="rect">
            <a:avLst/>
          </a:prstGeom>
          <a:noFill/>
          <a:ln/>
        </p:spPr>
        <p:txBody>
          <a:bodyPr wrap="square" lIns="0" tIns="0" rIns="0" bIns="0" rtlCol="0" anchor="ctr"/>
          <a:lstStyle/>
          <a:p>
            <a:pPr indent="0" marL="0">
              <a:buNone/>
            </a:pPr>
            <a:r>
              <a:rPr lang="en-US" sz="1200" dirty="0">
                <a:solidFill>
                  <a:srgbClr val="5A6570"/>
                </a:solidFill>
                <a:latin typeface="Calibri" pitchFamily="34" charset="0"/>
                <a:ea typeface="Calibri" pitchFamily="34" charset="-122"/>
                <a:cs typeface="Calibri" pitchFamily="34" charset="-120"/>
              </a:rPr>
              <a:t>Modelado BPMN 2.0 del proceso CON el sistema</a:t>
            </a:r>
            <a:endParaRPr lang="en-US" sz="1200" dirty="0"/>
          </a:p>
        </p:txBody>
      </p:sp>
      <p:sp>
        <p:nvSpPr>
          <p:cNvPr id="21" name="Shape 19"/>
          <p:cNvSpPr/>
          <p:nvPr/>
        </p:nvSpPr>
        <p:spPr>
          <a:xfrm>
            <a:off x="548640" y="3236976"/>
            <a:ext cx="11064240" cy="530352"/>
          </a:xfrm>
          <a:prstGeom prst="roundRect">
            <a:avLst>
              <a:gd name="adj" fmla="val 13793"/>
            </a:avLst>
          </a:prstGeom>
          <a:solidFill>
            <a:srgbClr val="FFFFFF"/>
          </a:solidFill>
          <a:ln w="12700">
            <a:solidFill>
              <a:srgbClr val="E3E9F0"/>
            </a:solidFill>
            <a:prstDash val="solid"/>
          </a:ln>
        </p:spPr>
      </p:sp>
      <p:sp>
        <p:nvSpPr>
          <p:cNvPr id="22" name="Shape 20"/>
          <p:cNvSpPr/>
          <p:nvPr/>
        </p:nvSpPr>
        <p:spPr>
          <a:xfrm>
            <a:off x="713232" y="3319272"/>
            <a:ext cx="384048" cy="365760"/>
          </a:xfrm>
          <a:prstGeom prst="roundRect">
            <a:avLst>
              <a:gd name="adj" fmla="val 15000"/>
            </a:avLst>
          </a:prstGeom>
          <a:solidFill>
            <a:srgbClr val="1B3A5C"/>
          </a:solidFill>
          <a:ln/>
        </p:spPr>
      </p:sp>
      <p:sp>
        <p:nvSpPr>
          <p:cNvPr id="23" name="Text 21"/>
          <p:cNvSpPr txBox="1"/>
          <p:nvPr/>
        </p:nvSpPr>
        <p:spPr>
          <a:xfrm>
            <a:off x="713232" y="3319272"/>
            <a:ext cx="384048"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04</a:t>
            </a:r>
            <a:endParaRPr lang="en-US" sz="1200" dirty="0"/>
          </a:p>
        </p:txBody>
      </p:sp>
      <p:sp>
        <p:nvSpPr>
          <p:cNvPr id="24" name="Text 22"/>
          <p:cNvSpPr txBox="1"/>
          <p:nvPr/>
        </p:nvSpPr>
        <p:spPr>
          <a:xfrm>
            <a:off x="1298448" y="3328416"/>
            <a:ext cx="2651760" cy="347472"/>
          </a:xfrm>
          <a:prstGeom prst="rect">
            <a:avLst/>
          </a:prstGeom>
          <a:noFill/>
          <a:ln/>
        </p:spPr>
        <p:txBody>
          <a:bodyPr wrap="square" lIns="0" tIns="0" rIns="0" bIns="0" rtlCol="0" anchor="ctr"/>
          <a:lstStyle/>
          <a:p>
            <a:pPr indent="0" marL="0">
              <a:buNone/>
            </a:pPr>
            <a:r>
              <a:rPr lang="en-US" sz="1400" b="1" dirty="0">
                <a:solidFill>
                  <a:srgbClr val="1B3A5C"/>
                </a:solidFill>
                <a:latin typeface="Calibri" pitchFamily="34" charset="0"/>
                <a:ea typeface="Calibri" pitchFamily="34" charset="-122"/>
                <a:cs typeface="Calibri" pitchFamily="34" charset="-120"/>
              </a:rPr>
              <a:t>Comparativa</a:t>
            </a:r>
            <a:endParaRPr lang="en-US" sz="1400" dirty="0"/>
          </a:p>
        </p:txBody>
      </p:sp>
      <p:sp>
        <p:nvSpPr>
          <p:cNvPr id="25" name="Text 23"/>
          <p:cNvSpPr txBox="1"/>
          <p:nvPr/>
        </p:nvSpPr>
        <p:spPr>
          <a:xfrm>
            <a:off x="3977640" y="3328416"/>
            <a:ext cx="7498080" cy="347472"/>
          </a:xfrm>
          <a:prstGeom prst="rect">
            <a:avLst/>
          </a:prstGeom>
          <a:noFill/>
          <a:ln/>
        </p:spPr>
        <p:txBody>
          <a:bodyPr wrap="square" lIns="0" tIns="0" rIns="0" bIns="0" rtlCol="0" anchor="ctr"/>
          <a:lstStyle/>
          <a:p>
            <a:pPr indent="0" marL="0">
              <a:buNone/>
            </a:pPr>
            <a:r>
              <a:rPr lang="en-US" sz="1200" dirty="0">
                <a:solidFill>
                  <a:srgbClr val="5A6570"/>
                </a:solidFill>
                <a:latin typeface="Calibri" pitchFamily="34" charset="0"/>
                <a:ea typeface="Calibri" pitchFamily="34" charset="-122"/>
                <a:cs typeface="Calibri" pitchFamily="34" charset="-120"/>
              </a:rPr>
              <a:t>Qué cambia, medido punto por punto</a:t>
            </a:r>
            <a:endParaRPr lang="en-US" sz="1200" dirty="0"/>
          </a:p>
        </p:txBody>
      </p:sp>
      <p:sp>
        <p:nvSpPr>
          <p:cNvPr id="26" name="Shape 24"/>
          <p:cNvSpPr/>
          <p:nvPr/>
        </p:nvSpPr>
        <p:spPr>
          <a:xfrm>
            <a:off x="548640" y="3858768"/>
            <a:ext cx="11064240" cy="530352"/>
          </a:xfrm>
          <a:prstGeom prst="roundRect">
            <a:avLst>
              <a:gd name="adj" fmla="val 13793"/>
            </a:avLst>
          </a:prstGeom>
          <a:solidFill>
            <a:srgbClr val="F4F7FA"/>
          </a:solidFill>
          <a:ln w="12700">
            <a:solidFill>
              <a:srgbClr val="E3E9F0"/>
            </a:solidFill>
            <a:prstDash val="solid"/>
          </a:ln>
        </p:spPr>
      </p:sp>
      <p:sp>
        <p:nvSpPr>
          <p:cNvPr id="27" name="Shape 25"/>
          <p:cNvSpPr/>
          <p:nvPr/>
        </p:nvSpPr>
        <p:spPr>
          <a:xfrm>
            <a:off x="713232" y="3941064"/>
            <a:ext cx="384048" cy="365760"/>
          </a:xfrm>
          <a:prstGeom prst="roundRect">
            <a:avLst>
              <a:gd name="adj" fmla="val 15000"/>
            </a:avLst>
          </a:prstGeom>
          <a:solidFill>
            <a:srgbClr val="1B3A5C"/>
          </a:solidFill>
          <a:ln/>
        </p:spPr>
      </p:sp>
      <p:sp>
        <p:nvSpPr>
          <p:cNvPr id="28" name="Text 26"/>
          <p:cNvSpPr txBox="1"/>
          <p:nvPr/>
        </p:nvSpPr>
        <p:spPr>
          <a:xfrm>
            <a:off x="713232" y="3941064"/>
            <a:ext cx="384048"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05</a:t>
            </a:r>
            <a:endParaRPr lang="en-US" sz="1200" dirty="0"/>
          </a:p>
        </p:txBody>
      </p:sp>
      <p:sp>
        <p:nvSpPr>
          <p:cNvPr id="29" name="Text 27"/>
          <p:cNvSpPr txBox="1"/>
          <p:nvPr/>
        </p:nvSpPr>
        <p:spPr>
          <a:xfrm>
            <a:off x="1298448" y="3950208"/>
            <a:ext cx="2651760" cy="347472"/>
          </a:xfrm>
          <a:prstGeom prst="rect">
            <a:avLst/>
          </a:prstGeom>
          <a:noFill/>
          <a:ln/>
        </p:spPr>
        <p:txBody>
          <a:bodyPr wrap="square" lIns="0" tIns="0" rIns="0" bIns="0" rtlCol="0" anchor="ctr"/>
          <a:lstStyle/>
          <a:p>
            <a:pPr indent="0" marL="0">
              <a:buNone/>
            </a:pPr>
            <a:r>
              <a:rPr lang="en-US" sz="1400" b="1" dirty="0">
                <a:solidFill>
                  <a:srgbClr val="1B3A5C"/>
                </a:solidFill>
                <a:latin typeface="Calibri" pitchFamily="34" charset="0"/>
                <a:ea typeface="Calibri" pitchFamily="34" charset="-122"/>
                <a:cs typeface="Calibri" pitchFamily="34" charset="-120"/>
              </a:rPr>
              <a:t>Modelo UML</a:t>
            </a:r>
            <a:endParaRPr lang="en-US" sz="1400" dirty="0"/>
          </a:p>
        </p:txBody>
      </p:sp>
      <p:sp>
        <p:nvSpPr>
          <p:cNvPr id="30" name="Text 28"/>
          <p:cNvSpPr txBox="1"/>
          <p:nvPr/>
        </p:nvSpPr>
        <p:spPr>
          <a:xfrm>
            <a:off x="3977640" y="3950208"/>
            <a:ext cx="7498080" cy="347472"/>
          </a:xfrm>
          <a:prstGeom prst="rect">
            <a:avLst/>
          </a:prstGeom>
          <a:noFill/>
          <a:ln/>
        </p:spPr>
        <p:txBody>
          <a:bodyPr wrap="square" lIns="0" tIns="0" rIns="0" bIns="0" rtlCol="0" anchor="ctr"/>
          <a:lstStyle/>
          <a:p>
            <a:pPr indent="0" marL="0">
              <a:buNone/>
            </a:pPr>
            <a:r>
              <a:rPr lang="en-US" sz="1200" dirty="0">
                <a:solidFill>
                  <a:srgbClr val="5A6570"/>
                </a:solidFill>
                <a:latin typeface="Calibri" pitchFamily="34" charset="0"/>
                <a:ea typeface="Calibri" pitchFamily="34" charset="-122"/>
                <a:cs typeface="Calibri" pitchFamily="34" charset="-120"/>
              </a:rPr>
              <a:t>Casos de uso general y por módulo, clases, secuencia, actividad y estados</a:t>
            </a:r>
            <a:endParaRPr lang="en-US" sz="1200" dirty="0"/>
          </a:p>
        </p:txBody>
      </p:sp>
      <p:sp>
        <p:nvSpPr>
          <p:cNvPr id="31" name="Shape 29"/>
          <p:cNvSpPr/>
          <p:nvPr/>
        </p:nvSpPr>
        <p:spPr>
          <a:xfrm>
            <a:off x="548640" y="4480560"/>
            <a:ext cx="11064240" cy="530352"/>
          </a:xfrm>
          <a:prstGeom prst="roundRect">
            <a:avLst>
              <a:gd name="adj" fmla="val 13793"/>
            </a:avLst>
          </a:prstGeom>
          <a:solidFill>
            <a:srgbClr val="FFFFFF"/>
          </a:solidFill>
          <a:ln w="12700">
            <a:solidFill>
              <a:srgbClr val="E3E9F0"/>
            </a:solidFill>
            <a:prstDash val="solid"/>
          </a:ln>
        </p:spPr>
      </p:sp>
      <p:sp>
        <p:nvSpPr>
          <p:cNvPr id="32" name="Shape 30"/>
          <p:cNvSpPr/>
          <p:nvPr/>
        </p:nvSpPr>
        <p:spPr>
          <a:xfrm>
            <a:off x="713232" y="4562856"/>
            <a:ext cx="384048" cy="365760"/>
          </a:xfrm>
          <a:prstGeom prst="roundRect">
            <a:avLst>
              <a:gd name="adj" fmla="val 15000"/>
            </a:avLst>
          </a:prstGeom>
          <a:solidFill>
            <a:srgbClr val="1B3A5C"/>
          </a:solidFill>
          <a:ln/>
        </p:spPr>
      </p:sp>
      <p:sp>
        <p:nvSpPr>
          <p:cNvPr id="33" name="Text 31"/>
          <p:cNvSpPr txBox="1"/>
          <p:nvPr/>
        </p:nvSpPr>
        <p:spPr>
          <a:xfrm>
            <a:off x="713232" y="4562856"/>
            <a:ext cx="384048"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06</a:t>
            </a:r>
            <a:endParaRPr lang="en-US" sz="1200" dirty="0"/>
          </a:p>
        </p:txBody>
      </p:sp>
      <p:sp>
        <p:nvSpPr>
          <p:cNvPr id="34" name="Text 32"/>
          <p:cNvSpPr txBox="1"/>
          <p:nvPr/>
        </p:nvSpPr>
        <p:spPr>
          <a:xfrm>
            <a:off x="1298448" y="4572000"/>
            <a:ext cx="2651760" cy="347472"/>
          </a:xfrm>
          <a:prstGeom prst="rect">
            <a:avLst/>
          </a:prstGeom>
          <a:noFill/>
          <a:ln/>
        </p:spPr>
        <p:txBody>
          <a:bodyPr wrap="square" lIns="0" tIns="0" rIns="0" bIns="0" rtlCol="0" anchor="ctr"/>
          <a:lstStyle/>
          <a:p>
            <a:pPr indent="0" marL="0">
              <a:buNone/>
            </a:pPr>
            <a:r>
              <a:rPr lang="en-US" sz="1400" b="1" dirty="0">
                <a:solidFill>
                  <a:srgbClr val="1B3A5C"/>
                </a:solidFill>
                <a:latin typeface="Calibri" pitchFamily="34" charset="0"/>
                <a:ea typeface="Calibri" pitchFamily="34" charset="-122"/>
                <a:cs typeface="Calibri" pitchFamily="34" charset="-120"/>
              </a:rPr>
              <a:t>Ingeniería</a:t>
            </a:r>
            <a:endParaRPr lang="en-US" sz="1400" dirty="0"/>
          </a:p>
        </p:txBody>
      </p:sp>
      <p:sp>
        <p:nvSpPr>
          <p:cNvPr id="35" name="Text 33"/>
          <p:cNvSpPr txBox="1"/>
          <p:nvPr/>
        </p:nvSpPr>
        <p:spPr>
          <a:xfrm>
            <a:off x="3977640" y="4572000"/>
            <a:ext cx="7498080" cy="347472"/>
          </a:xfrm>
          <a:prstGeom prst="rect">
            <a:avLst/>
          </a:prstGeom>
          <a:noFill/>
          <a:ln/>
        </p:spPr>
        <p:txBody>
          <a:bodyPr wrap="square" lIns="0" tIns="0" rIns="0" bIns="0" rtlCol="0" anchor="ctr"/>
          <a:lstStyle/>
          <a:p>
            <a:pPr indent="0" marL="0">
              <a:buNone/>
            </a:pPr>
            <a:r>
              <a:rPr lang="en-US" sz="1200" dirty="0">
                <a:solidFill>
                  <a:srgbClr val="5A6570"/>
                </a:solidFill>
                <a:latin typeface="Calibri" pitchFamily="34" charset="0"/>
                <a:ea typeface="Calibri" pitchFamily="34" charset="-122"/>
                <a:cs typeface="Calibri" pitchFamily="34" charset="-120"/>
              </a:rPr>
              <a:t>Dimensión del sistema, seguridad, trazabilidad y control de calidad</a:t>
            </a:r>
            <a:endParaRPr lang="en-US" sz="1200" dirty="0"/>
          </a:p>
        </p:txBody>
      </p:sp>
      <p:sp>
        <p:nvSpPr>
          <p:cNvPr id="36" name="Shape 34"/>
          <p:cNvSpPr/>
          <p:nvPr/>
        </p:nvSpPr>
        <p:spPr>
          <a:xfrm>
            <a:off x="548640" y="5102352"/>
            <a:ext cx="11064240" cy="530352"/>
          </a:xfrm>
          <a:prstGeom prst="roundRect">
            <a:avLst>
              <a:gd name="adj" fmla="val 13793"/>
            </a:avLst>
          </a:prstGeom>
          <a:solidFill>
            <a:srgbClr val="F4F7FA"/>
          </a:solidFill>
          <a:ln w="12700">
            <a:solidFill>
              <a:srgbClr val="E3E9F0"/>
            </a:solidFill>
            <a:prstDash val="solid"/>
          </a:ln>
        </p:spPr>
      </p:sp>
      <p:sp>
        <p:nvSpPr>
          <p:cNvPr id="37" name="Shape 35"/>
          <p:cNvSpPr/>
          <p:nvPr/>
        </p:nvSpPr>
        <p:spPr>
          <a:xfrm>
            <a:off x="713232" y="5184648"/>
            <a:ext cx="384048" cy="365760"/>
          </a:xfrm>
          <a:prstGeom prst="roundRect">
            <a:avLst>
              <a:gd name="adj" fmla="val 15000"/>
            </a:avLst>
          </a:prstGeom>
          <a:solidFill>
            <a:srgbClr val="1B3A5C"/>
          </a:solidFill>
          <a:ln/>
        </p:spPr>
      </p:sp>
      <p:sp>
        <p:nvSpPr>
          <p:cNvPr id="38" name="Text 36"/>
          <p:cNvSpPr txBox="1"/>
          <p:nvPr/>
        </p:nvSpPr>
        <p:spPr>
          <a:xfrm>
            <a:off x="713232" y="5184648"/>
            <a:ext cx="384048"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07</a:t>
            </a:r>
            <a:endParaRPr lang="en-US" sz="1200" dirty="0"/>
          </a:p>
        </p:txBody>
      </p:sp>
      <p:sp>
        <p:nvSpPr>
          <p:cNvPr id="39" name="Text 37"/>
          <p:cNvSpPr txBox="1"/>
          <p:nvPr/>
        </p:nvSpPr>
        <p:spPr>
          <a:xfrm>
            <a:off x="1298448" y="5193792"/>
            <a:ext cx="2651760" cy="347472"/>
          </a:xfrm>
          <a:prstGeom prst="rect">
            <a:avLst/>
          </a:prstGeom>
          <a:noFill/>
          <a:ln/>
        </p:spPr>
        <p:txBody>
          <a:bodyPr wrap="square" lIns="0" tIns="0" rIns="0" bIns="0" rtlCol="0" anchor="ctr"/>
          <a:lstStyle/>
          <a:p>
            <a:pPr indent="0" marL="0">
              <a:buNone/>
            </a:pPr>
            <a:r>
              <a:rPr lang="en-US" sz="1400" b="1" dirty="0">
                <a:solidFill>
                  <a:srgbClr val="1B3A5C"/>
                </a:solidFill>
                <a:latin typeface="Calibri" pitchFamily="34" charset="0"/>
                <a:ea typeface="Calibri" pitchFamily="34" charset="-122"/>
                <a:cs typeface="Calibri" pitchFamily="34" charset="-120"/>
              </a:rPr>
              <a:t>Indicadores</a:t>
            </a:r>
            <a:endParaRPr lang="en-US" sz="1400" dirty="0"/>
          </a:p>
        </p:txBody>
      </p:sp>
      <p:sp>
        <p:nvSpPr>
          <p:cNvPr id="40" name="Text 38"/>
          <p:cNvSpPr txBox="1"/>
          <p:nvPr/>
        </p:nvSpPr>
        <p:spPr>
          <a:xfrm>
            <a:off x="3977640" y="5193792"/>
            <a:ext cx="7498080" cy="347472"/>
          </a:xfrm>
          <a:prstGeom prst="rect">
            <a:avLst/>
          </a:prstGeom>
          <a:noFill/>
          <a:ln/>
        </p:spPr>
        <p:txBody>
          <a:bodyPr wrap="square" lIns="0" tIns="0" rIns="0" bIns="0" rtlCol="0" anchor="ctr"/>
          <a:lstStyle/>
          <a:p>
            <a:pPr indent="0" marL="0">
              <a:buNone/>
            </a:pPr>
            <a:r>
              <a:rPr lang="en-US" sz="1200" dirty="0">
                <a:solidFill>
                  <a:srgbClr val="5A6570"/>
                </a:solidFill>
                <a:latin typeface="Calibri" pitchFamily="34" charset="0"/>
                <a:ea typeface="Calibri" pitchFamily="34" charset="-122"/>
                <a:cs typeface="Calibri" pitchFamily="34" charset="-120"/>
              </a:rPr>
              <a:t>Magnitudes de gestión que el sistema hace calculables</a:t>
            </a:r>
            <a:endParaRPr lang="en-US" sz="1200" dirty="0"/>
          </a:p>
        </p:txBody>
      </p:sp>
      <p:sp>
        <p:nvSpPr>
          <p:cNvPr id="41" name="Shape 39"/>
          <p:cNvSpPr/>
          <p:nvPr/>
        </p:nvSpPr>
        <p:spPr>
          <a:xfrm>
            <a:off x="548640" y="5724144"/>
            <a:ext cx="11064240" cy="530352"/>
          </a:xfrm>
          <a:prstGeom prst="roundRect">
            <a:avLst>
              <a:gd name="adj" fmla="val 13793"/>
            </a:avLst>
          </a:prstGeom>
          <a:solidFill>
            <a:srgbClr val="FFFFFF"/>
          </a:solidFill>
          <a:ln w="12700">
            <a:solidFill>
              <a:srgbClr val="E3E9F0"/>
            </a:solidFill>
            <a:prstDash val="solid"/>
          </a:ln>
        </p:spPr>
      </p:sp>
      <p:sp>
        <p:nvSpPr>
          <p:cNvPr id="42" name="Shape 40"/>
          <p:cNvSpPr/>
          <p:nvPr/>
        </p:nvSpPr>
        <p:spPr>
          <a:xfrm>
            <a:off x="713232" y="5806440"/>
            <a:ext cx="384048" cy="365760"/>
          </a:xfrm>
          <a:prstGeom prst="roundRect">
            <a:avLst>
              <a:gd name="adj" fmla="val 15000"/>
            </a:avLst>
          </a:prstGeom>
          <a:solidFill>
            <a:srgbClr val="1B3A5C"/>
          </a:solidFill>
          <a:ln/>
        </p:spPr>
      </p:sp>
      <p:sp>
        <p:nvSpPr>
          <p:cNvPr id="43" name="Text 41"/>
          <p:cNvSpPr txBox="1"/>
          <p:nvPr/>
        </p:nvSpPr>
        <p:spPr>
          <a:xfrm>
            <a:off x="713232" y="5806440"/>
            <a:ext cx="384048"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08</a:t>
            </a:r>
            <a:endParaRPr lang="en-US" sz="1200" dirty="0"/>
          </a:p>
        </p:txBody>
      </p:sp>
      <p:sp>
        <p:nvSpPr>
          <p:cNvPr id="44" name="Text 42"/>
          <p:cNvSpPr txBox="1"/>
          <p:nvPr/>
        </p:nvSpPr>
        <p:spPr>
          <a:xfrm>
            <a:off x="1298448" y="5815584"/>
            <a:ext cx="2651760" cy="347472"/>
          </a:xfrm>
          <a:prstGeom prst="rect">
            <a:avLst/>
          </a:prstGeom>
          <a:noFill/>
          <a:ln/>
        </p:spPr>
        <p:txBody>
          <a:bodyPr wrap="square" lIns="0" tIns="0" rIns="0" bIns="0" rtlCol="0" anchor="ctr"/>
          <a:lstStyle/>
          <a:p>
            <a:pPr indent="0" marL="0">
              <a:buNone/>
            </a:pPr>
            <a:r>
              <a:rPr lang="en-US" sz="1400" b="1" dirty="0">
                <a:solidFill>
                  <a:srgbClr val="1B3A5C"/>
                </a:solidFill>
                <a:latin typeface="Calibri" pitchFamily="34" charset="0"/>
                <a:ea typeface="Calibri" pitchFamily="34" charset="-122"/>
                <a:cs typeface="Calibri" pitchFamily="34" charset="-120"/>
              </a:rPr>
              <a:t>Crecimiento</a:t>
            </a:r>
            <a:endParaRPr lang="en-US" sz="1400" dirty="0"/>
          </a:p>
        </p:txBody>
      </p:sp>
      <p:sp>
        <p:nvSpPr>
          <p:cNvPr id="45" name="Text 43"/>
          <p:cNvSpPr txBox="1"/>
          <p:nvPr/>
        </p:nvSpPr>
        <p:spPr>
          <a:xfrm>
            <a:off x="3977640" y="5815584"/>
            <a:ext cx="7498080" cy="347472"/>
          </a:xfrm>
          <a:prstGeom prst="rect">
            <a:avLst/>
          </a:prstGeom>
          <a:noFill/>
          <a:ln/>
        </p:spPr>
        <p:txBody>
          <a:bodyPr wrap="square" lIns="0" tIns="0" rIns="0" bIns="0" rtlCol="0" anchor="ctr"/>
          <a:lstStyle/>
          <a:p>
            <a:pPr indent="0" marL="0">
              <a:buNone/>
            </a:pPr>
            <a:r>
              <a:rPr lang="en-US" sz="1200" dirty="0">
                <a:solidFill>
                  <a:srgbClr val="5A6570"/>
                </a:solidFill>
                <a:latin typeface="Calibri" pitchFamily="34" charset="0"/>
                <a:ea typeface="Calibri" pitchFamily="34" charset="-122"/>
                <a:cs typeface="Calibri" pitchFamily="34" charset="-120"/>
              </a:rPr>
              <a:t>Ampliación planificada y evolución hacia analítica de vídeo</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1064240" cy="566928"/>
          </a:xfrm>
          <a:prstGeom prst="rect">
            <a:avLst/>
          </a:prstGeom>
          <a:noFill/>
          <a:ln/>
        </p:spPr>
        <p:txBody>
          <a:bodyPr wrap="square" lIns="0" tIns="0" rIns="0" bIns="0" rtlCol="0" anchor="ctr"/>
          <a:lstStyle/>
          <a:p>
            <a:pPr indent="0" marL="0">
              <a:buNone/>
            </a:pPr>
            <a:r>
              <a:rPr lang="en-US" sz="3000" b="1" dirty="0">
                <a:solidFill>
                  <a:srgbClr val="1B3A5C"/>
                </a:solidFill>
                <a:latin typeface="Cambria" pitchFamily="34" charset="0"/>
                <a:ea typeface="Cambria" pitchFamily="34" charset="-122"/>
                <a:cs typeface="Cambria" pitchFamily="34" charset="-120"/>
              </a:rPr>
              <a:t>Dónde está alojado el software y por qué</a:t>
            </a:r>
            <a:endParaRPr lang="en-US" sz="3000" dirty="0"/>
          </a:p>
        </p:txBody>
      </p:sp>
      <p:sp>
        <p:nvSpPr>
          <p:cNvPr id="3" name="Text 1"/>
          <p:cNvSpPr txBox="1"/>
          <p:nvPr/>
        </p:nvSpPr>
        <p:spPr>
          <a:xfrm>
            <a:off x="548640" y="896112"/>
            <a:ext cx="11064240" cy="329184"/>
          </a:xfrm>
          <a:prstGeom prst="rect">
            <a:avLst/>
          </a:prstGeom>
          <a:noFill/>
          <a:ln/>
        </p:spPr>
        <p:txBody>
          <a:bodyPr wrap="square" lIns="0" tIns="0" rIns="0" bIns="0" rtlCol="0" anchor="ctr"/>
          <a:lstStyle/>
          <a:p>
            <a:pPr indent="0" marL="0">
              <a:buNone/>
            </a:pPr>
            <a:r>
              <a:rPr lang="en-US" sz="1350" dirty="0">
                <a:solidFill>
                  <a:srgbClr val="5A6570"/>
                </a:solidFill>
                <a:latin typeface="Calibri" pitchFamily="34" charset="0"/>
                <a:ea typeface="Calibri" pitchFamily="34" charset="-122"/>
                <a:cs typeface="Calibri" pitchFamily="34" charset="-120"/>
              </a:rPr>
              <a:t>El sistema opera hoy sobre infraestructura en la nube, con la arquitectura preparada para su traslado a la planta</a:t>
            </a:r>
            <a:endParaRPr lang="en-US" sz="1350" dirty="0"/>
          </a:p>
        </p:txBody>
      </p:sp>
      <p:sp>
        <p:nvSpPr>
          <p:cNvPr id="4" name="Text 2"/>
          <p:cNvSpPr txBox="1"/>
          <p:nvPr/>
        </p:nvSpPr>
        <p:spPr>
          <a:xfrm>
            <a:off x="548640" y="6400800"/>
            <a:ext cx="10058400" cy="274320"/>
          </a:xfrm>
          <a:prstGeom prst="rect">
            <a:avLst/>
          </a:prstGeom>
          <a:noFill/>
          <a:ln/>
        </p:spPr>
        <p:txBody>
          <a:bodyPr wrap="square" lIns="0" tIns="0" rIns="0" bIns="0" rtlCol="0" anchor="ctr"/>
          <a:lstStyle/>
          <a:p>
            <a:pPr indent="0" marL="0">
              <a:buNone/>
            </a:pPr>
            <a:r>
              <a:rPr lang="en-US" sz="900" dirty="0">
                <a:solidFill>
                  <a:srgbClr val="9AA4B0"/>
                </a:solidFill>
                <a:latin typeface="Calibri" pitchFamily="34" charset="0"/>
                <a:ea typeface="Calibri" pitchFamily="34" charset="-122"/>
                <a:cs typeface="Calibri" pitchFamily="34" charset="-120"/>
              </a:rPr>
              <a:t>SGIT-CCTV · Aceros Arequipa, Planta Pisco · Laminación (Trenes 1, 2 y 3)</a:t>
            </a:r>
            <a:endParaRPr lang="en-US" sz="900" dirty="0"/>
          </a:p>
        </p:txBody>
      </p:sp>
      <p:sp>
        <p:nvSpPr>
          <p:cNvPr id="5" name="Text 3"/>
          <p:cNvSpPr txBox="1"/>
          <p:nvPr/>
        </p:nvSpPr>
        <p:spPr>
          <a:xfrm>
            <a:off x="11338560" y="6400800"/>
            <a:ext cx="365760" cy="274320"/>
          </a:xfrm>
          <a:prstGeom prst="rect">
            <a:avLst/>
          </a:prstGeom>
          <a:noFill/>
          <a:ln/>
        </p:spPr>
        <p:txBody>
          <a:bodyPr wrap="square" lIns="0" tIns="0" rIns="0" bIns="0" rtlCol="0" anchor="ctr"/>
          <a:lstStyle/>
          <a:p>
            <a:pPr algn="r" indent="0" marL="0">
              <a:buNone/>
            </a:pPr>
            <a:r>
              <a:rPr lang="en-US" sz="1000" dirty="0">
                <a:solidFill>
                  <a:srgbClr val="5A6570"/>
                </a:solidFill>
                <a:latin typeface="Calibri" pitchFamily="34" charset="0"/>
                <a:ea typeface="Calibri" pitchFamily="34" charset="-122"/>
                <a:cs typeface="Calibri" pitchFamily="34" charset="-120"/>
              </a:rPr>
              <a:t>2</a:t>
            </a:r>
            <a:endParaRPr lang="en-US" sz="1000" dirty="0"/>
          </a:p>
        </p:txBody>
      </p:sp>
      <p:sp>
        <p:nvSpPr>
          <p:cNvPr id="6" name="Shape 4"/>
          <p:cNvSpPr/>
          <p:nvPr/>
        </p:nvSpPr>
        <p:spPr>
          <a:xfrm>
            <a:off x="548640" y="1371600"/>
            <a:ext cx="11064240" cy="841248"/>
          </a:xfrm>
          <a:prstGeom prst="roundRect">
            <a:avLst>
              <a:gd name="adj" fmla="val 8696"/>
            </a:avLst>
          </a:prstGeom>
          <a:solidFill>
            <a:srgbClr val="F4F7FA"/>
          </a:solidFill>
          <a:ln w="15240">
            <a:solidFill>
              <a:srgbClr val="C9D4E0"/>
            </a:solidFill>
            <a:prstDash val="solid"/>
          </a:ln>
        </p:spPr>
      </p:sp>
      <p:sp>
        <p:nvSpPr>
          <p:cNvPr id="7" name="Text 5"/>
          <p:cNvSpPr txBox="1"/>
          <p:nvPr/>
        </p:nvSpPr>
        <p:spPr>
          <a:xfrm>
            <a:off x="777240" y="1463040"/>
            <a:ext cx="3840480" cy="310896"/>
          </a:xfrm>
          <a:prstGeom prst="rect">
            <a:avLst/>
          </a:prstGeom>
          <a:noFill/>
          <a:ln/>
        </p:spPr>
        <p:txBody>
          <a:bodyPr wrap="square" lIns="0" tIns="0" rIns="0" bIns="0" rtlCol="0" anchor="ctr"/>
          <a:lstStyle/>
          <a:p>
            <a:pPr indent="0" marL="0">
              <a:buNone/>
            </a:pPr>
            <a:r>
              <a:rPr lang="en-US" sz="1350" b="1" dirty="0">
                <a:solidFill>
                  <a:srgbClr val="1B3A5C"/>
                </a:solidFill>
                <a:latin typeface="Calibri" pitchFamily="34" charset="0"/>
                <a:ea typeface="Calibri" pitchFamily="34" charset="-122"/>
                <a:cs typeface="Calibri" pitchFamily="34" charset="-120"/>
              </a:rPr>
              <a:t>Infraestructura actual — Railway</a:t>
            </a:r>
            <a:endParaRPr lang="en-US" sz="1350" dirty="0"/>
          </a:p>
        </p:txBody>
      </p:sp>
      <p:sp>
        <p:nvSpPr>
          <p:cNvPr id="8" name="Text 6"/>
          <p:cNvSpPr txBox="1"/>
          <p:nvPr/>
        </p:nvSpPr>
        <p:spPr>
          <a:xfrm>
            <a:off x="777240" y="1792224"/>
            <a:ext cx="10607040" cy="365760"/>
          </a:xfrm>
          <a:prstGeom prst="rect">
            <a:avLst/>
          </a:prstGeom>
          <a:noFill/>
          <a:ln/>
        </p:spPr>
        <p:txBody>
          <a:bodyPr wrap="square" lIns="0" tIns="0" rIns="0" bIns="0" rtlCol="0" anchor="ctr"/>
          <a:lstStyle/>
          <a:p>
            <a:pPr indent="0" marL="0">
              <a:buNone/>
            </a:pPr>
            <a:r>
              <a:rPr lang="en-US" sz="1120" dirty="0">
                <a:solidFill>
                  <a:srgbClr val="5A6570"/>
                </a:solidFill>
                <a:latin typeface="Calibri" pitchFamily="34" charset="0"/>
                <a:ea typeface="Calibri" pitchFamily="34" charset="-122"/>
                <a:cs typeface="Calibri" pitchFamily="34" charset="-120"/>
              </a:rPr>
              <a:t>Contenedores Docker con despliegue continuo desde el repositorio · base de datos PostgreSQL 18 gestionada · almacenamiento de fotografías e informes en MinIO · certificado y dominio administrados por la plataforma.</a:t>
            </a:r>
            <a:endParaRPr lang="en-US" sz="1120" dirty="0"/>
          </a:p>
        </p:txBody>
      </p:sp>
      <p:sp>
        <p:nvSpPr>
          <p:cNvPr id="9" name="Shape 7"/>
          <p:cNvSpPr/>
          <p:nvPr/>
        </p:nvSpPr>
        <p:spPr>
          <a:xfrm>
            <a:off x="548640" y="2331720"/>
            <a:ext cx="5440680" cy="1060704"/>
          </a:xfrm>
          <a:prstGeom prst="roundRect">
            <a:avLst>
              <a:gd name="adj" fmla="val 6897"/>
            </a:avLst>
          </a:prstGeom>
          <a:solidFill>
            <a:srgbClr val="FFFFFF"/>
          </a:solidFill>
          <a:ln w="12700">
            <a:solidFill>
              <a:srgbClr val="D8E4F0"/>
            </a:solidFill>
            <a:prstDash val="solid"/>
          </a:ln>
        </p:spPr>
      </p:sp>
      <p:sp>
        <p:nvSpPr>
          <p:cNvPr id="10" name="Shape 8"/>
          <p:cNvSpPr/>
          <p:nvPr/>
        </p:nvSpPr>
        <p:spPr>
          <a:xfrm>
            <a:off x="768096" y="2514600"/>
            <a:ext cx="292608" cy="292608"/>
          </a:xfrm>
          <a:prstGeom prst="roundRect">
            <a:avLst>
              <a:gd name="adj" fmla="val 15625"/>
            </a:avLst>
          </a:prstGeom>
          <a:solidFill>
            <a:srgbClr val="2E75B6"/>
          </a:solidFill>
          <a:ln/>
        </p:spPr>
      </p:sp>
      <p:sp>
        <p:nvSpPr>
          <p:cNvPr id="11" name="Text 9"/>
          <p:cNvSpPr txBox="1"/>
          <p:nvPr/>
        </p:nvSpPr>
        <p:spPr>
          <a:xfrm>
            <a:off x="768096" y="2514600"/>
            <a:ext cx="292608" cy="292608"/>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1</a:t>
            </a:r>
            <a:endParaRPr lang="en-US" sz="1050" dirty="0"/>
          </a:p>
        </p:txBody>
      </p:sp>
      <p:sp>
        <p:nvSpPr>
          <p:cNvPr id="12" name="Text 10"/>
          <p:cNvSpPr txBox="1"/>
          <p:nvPr/>
        </p:nvSpPr>
        <p:spPr>
          <a:xfrm>
            <a:off x="1170432" y="2478024"/>
            <a:ext cx="4617720" cy="365760"/>
          </a:xfrm>
          <a:prstGeom prst="rect">
            <a:avLst/>
          </a:prstGeom>
          <a:noFill/>
          <a:ln/>
        </p:spPr>
        <p:txBody>
          <a:bodyPr wrap="square" lIns="0" tIns="0" rIns="0" bIns="0" rtlCol="0" anchor="ctr"/>
          <a:lstStyle/>
          <a:p>
            <a:pPr indent="0" marL="0">
              <a:buNone/>
            </a:pPr>
            <a:r>
              <a:rPr lang="en-US" sz="1230" b="1" dirty="0">
                <a:solidFill>
                  <a:srgbClr val="1B3A5C"/>
                </a:solidFill>
                <a:latin typeface="Calibri" pitchFamily="34" charset="0"/>
                <a:ea typeface="Calibri" pitchFamily="34" charset="-122"/>
                <a:cs typeface="Calibri" pitchFamily="34" charset="-120"/>
              </a:rPr>
              <a:t>Sin servidor físico ni administración de sistema</a:t>
            </a:r>
            <a:endParaRPr lang="en-US" sz="1230" dirty="0"/>
          </a:p>
        </p:txBody>
      </p:sp>
      <p:sp>
        <p:nvSpPr>
          <p:cNvPr id="13" name="Text 11"/>
          <p:cNvSpPr txBox="1"/>
          <p:nvPr/>
        </p:nvSpPr>
        <p:spPr>
          <a:xfrm>
            <a:off x="768096" y="2862072"/>
            <a:ext cx="5029200" cy="475488"/>
          </a:xfrm>
          <a:prstGeom prst="rect">
            <a:avLst/>
          </a:prstGeom>
          <a:noFill/>
          <a:ln/>
        </p:spPr>
        <p:txBody>
          <a:bodyPr wrap="square" lIns="0" tIns="0" rIns="0" bIns="0" rtlCol="0" anchor="ctr"/>
          <a:lstStyle/>
          <a:p>
            <a:pPr indent="0" marL="0">
              <a:buNone/>
            </a:pPr>
            <a:r>
              <a:rPr lang="en-US" sz="1010" dirty="0">
                <a:solidFill>
                  <a:srgbClr val="5A6570"/>
                </a:solidFill>
                <a:latin typeface="Calibri" pitchFamily="34" charset="0"/>
                <a:ea typeface="Calibri" pitchFamily="34" charset="-122"/>
                <a:cs typeface="Calibri" pitchFamily="34" charset="-120"/>
              </a:rPr>
              <a:t>No requiere hardware en planta, ni licencias de sistema operativo, ni personal dedicado a su mantenimiento. La plataforma gestiona la disponibilidad y el respaldo.</a:t>
            </a:r>
            <a:endParaRPr lang="en-US" sz="1010" dirty="0"/>
          </a:p>
        </p:txBody>
      </p:sp>
      <p:sp>
        <p:nvSpPr>
          <p:cNvPr id="14" name="Shape 12"/>
          <p:cNvSpPr/>
          <p:nvPr/>
        </p:nvSpPr>
        <p:spPr>
          <a:xfrm>
            <a:off x="6172200" y="2331720"/>
            <a:ext cx="5440680" cy="1060704"/>
          </a:xfrm>
          <a:prstGeom prst="roundRect">
            <a:avLst>
              <a:gd name="adj" fmla="val 6897"/>
            </a:avLst>
          </a:prstGeom>
          <a:solidFill>
            <a:srgbClr val="FFFFFF"/>
          </a:solidFill>
          <a:ln w="12700">
            <a:solidFill>
              <a:srgbClr val="D8E4F0"/>
            </a:solidFill>
            <a:prstDash val="solid"/>
          </a:ln>
        </p:spPr>
      </p:sp>
      <p:sp>
        <p:nvSpPr>
          <p:cNvPr id="15" name="Shape 13"/>
          <p:cNvSpPr/>
          <p:nvPr/>
        </p:nvSpPr>
        <p:spPr>
          <a:xfrm>
            <a:off x="6391656" y="2514600"/>
            <a:ext cx="292608" cy="292608"/>
          </a:xfrm>
          <a:prstGeom prst="roundRect">
            <a:avLst>
              <a:gd name="adj" fmla="val 15625"/>
            </a:avLst>
          </a:prstGeom>
          <a:solidFill>
            <a:srgbClr val="2E75B6"/>
          </a:solidFill>
          <a:ln/>
        </p:spPr>
      </p:sp>
      <p:sp>
        <p:nvSpPr>
          <p:cNvPr id="16" name="Text 14"/>
          <p:cNvSpPr txBox="1"/>
          <p:nvPr/>
        </p:nvSpPr>
        <p:spPr>
          <a:xfrm>
            <a:off x="6391656" y="2514600"/>
            <a:ext cx="292608" cy="292608"/>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2</a:t>
            </a:r>
            <a:endParaRPr lang="en-US" sz="1050" dirty="0"/>
          </a:p>
        </p:txBody>
      </p:sp>
      <p:sp>
        <p:nvSpPr>
          <p:cNvPr id="17" name="Text 15"/>
          <p:cNvSpPr txBox="1"/>
          <p:nvPr/>
        </p:nvSpPr>
        <p:spPr>
          <a:xfrm>
            <a:off x="6793992" y="2478024"/>
            <a:ext cx="4617720" cy="365760"/>
          </a:xfrm>
          <a:prstGeom prst="rect">
            <a:avLst/>
          </a:prstGeom>
          <a:noFill/>
          <a:ln/>
        </p:spPr>
        <p:txBody>
          <a:bodyPr wrap="square" lIns="0" tIns="0" rIns="0" bIns="0" rtlCol="0" anchor="ctr"/>
          <a:lstStyle/>
          <a:p>
            <a:pPr indent="0" marL="0">
              <a:buNone/>
            </a:pPr>
            <a:r>
              <a:rPr lang="en-US" sz="1230" b="1" dirty="0">
                <a:solidFill>
                  <a:srgbClr val="1B3A5C"/>
                </a:solidFill>
                <a:latin typeface="Calibri" pitchFamily="34" charset="0"/>
                <a:ea typeface="Calibri" pitchFamily="34" charset="-122"/>
                <a:cs typeface="Calibri" pitchFamily="34" charset="-120"/>
              </a:rPr>
              <a:t>Aislado de la red industrial</a:t>
            </a:r>
            <a:endParaRPr lang="en-US" sz="1230" dirty="0"/>
          </a:p>
        </p:txBody>
      </p:sp>
      <p:sp>
        <p:nvSpPr>
          <p:cNvPr id="18" name="Text 16"/>
          <p:cNvSpPr txBox="1"/>
          <p:nvPr/>
        </p:nvSpPr>
        <p:spPr>
          <a:xfrm>
            <a:off x="6391656" y="2862072"/>
            <a:ext cx="5029200" cy="475488"/>
          </a:xfrm>
          <a:prstGeom prst="rect">
            <a:avLst/>
          </a:prstGeom>
          <a:noFill/>
          <a:ln/>
        </p:spPr>
        <p:txBody>
          <a:bodyPr wrap="square" lIns="0" tIns="0" rIns="0" bIns="0" rtlCol="0" anchor="ctr"/>
          <a:lstStyle/>
          <a:p>
            <a:pPr indent="0" marL="0">
              <a:buNone/>
            </a:pPr>
            <a:r>
              <a:rPr lang="en-US" sz="1010" dirty="0">
                <a:solidFill>
                  <a:srgbClr val="5A6570"/>
                </a:solidFill>
                <a:latin typeface="Calibri" pitchFamily="34" charset="0"/>
                <a:ea typeface="Calibri" pitchFamily="34" charset="-122"/>
                <a:cs typeface="Calibri" pitchFamily="34" charset="-120"/>
              </a:rPr>
              <a:t>El sistema no se conecta a la red de control de la planta. Registra la información que se le declara; no interviene sobre ningún equipo en operación.</a:t>
            </a:r>
            <a:endParaRPr lang="en-US" sz="1010" dirty="0"/>
          </a:p>
        </p:txBody>
      </p:sp>
      <p:sp>
        <p:nvSpPr>
          <p:cNvPr id="19" name="Shape 17"/>
          <p:cNvSpPr/>
          <p:nvPr/>
        </p:nvSpPr>
        <p:spPr>
          <a:xfrm>
            <a:off x="548640" y="3520440"/>
            <a:ext cx="5440680" cy="1060704"/>
          </a:xfrm>
          <a:prstGeom prst="roundRect">
            <a:avLst>
              <a:gd name="adj" fmla="val 6897"/>
            </a:avLst>
          </a:prstGeom>
          <a:solidFill>
            <a:srgbClr val="FFFFFF"/>
          </a:solidFill>
          <a:ln w="12700">
            <a:solidFill>
              <a:srgbClr val="D8E4F0"/>
            </a:solidFill>
            <a:prstDash val="solid"/>
          </a:ln>
        </p:spPr>
      </p:sp>
      <p:sp>
        <p:nvSpPr>
          <p:cNvPr id="20" name="Shape 18"/>
          <p:cNvSpPr/>
          <p:nvPr/>
        </p:nvSpPr>
        <p:spPr>
          <a:xfrm>
            <a:off x="768096" y="3703320"/>
            <a:ext cx="292608" cy="292608"/>
          </a:xfrm>
          <a:prstGeom prst="roundRect">
            <a:avLst>
              <a:gd name="adj" fmla="val 15625"/>
            </a:avLst>
          </a:prstGeom>
          <a:solidFill>
            <a:srgbClr val="2E75B6"/>
          </a:solidFill>
          <a:ln/>
        </p:spPr>
      </p:sp>
      <p:sp>
        <p:nvSpPr>
          <p:cNvPr id="21" name="Text 19"/>
          <p:cNvSpPr txBox="1"/>
          <p:nvPr/>
        </p:nvSpPr>
        <p:spPr>
          <a:xfrm>
            <a:off x="768096" y="3703320"/>
            <a:ext cx="292608" cy="292608"/>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3</a:t>
            </a:r>
            <a:endParaRPr lang="en-US" sz="1050" dirty="0"/>
          </a:p>
        </p:txBody>
      </p:sp>
      <p:sp>
        <p:nvSpPr>
          <p:cNvPr id="22" name="Text 20"/>
          <p:cNvSpPr txBox="1"/>
          <p:nvPr/>
        </p:nvSpPr>
        <p:spPr>
          <a:xfrm>
            <a:off x="1170432" y="3666744"/>
            <a:ext cx="4617720" cy="365760"/>
          </a:xfrm>
          <a:prstGeom prst="rect">
            <a:avLst/>
          </a:prstGeom>
          <a:noFill/>
          <a:ln/>
        </p:spPr>
        <p:txBody>
          <a:bodyPr wrap="square" lIns="0" tIns="0" rIns="0" bIns="0" rtlCol="0" anchor="ctr"/>
          <a:lstStyle/>
          <a:p>
            <a:pPr indent="0" marL="0">
              <a:buNone/>
            </a:pPr>
            <a:r>
              <a:rPr lang="en-US" sz="1230" b="1" dirty="0">
                <a:solidFill>
                  <a:srgbClr val="1B3A5C"/>
                </a:solidFill>
                <a:latin typeface="Calibri" pitchFamily="34" charset="0"/>
                <a:ea typeface="Calibri" pitchFamily="34" charset="-122"/>
                <a:cs typeface="Calibri" pitchFamily="34" charset="-120"/>
              </a:rPr>
              <a:t>Acceso desde el teléfono del técnico</a:t>
            </a:r>
            <a:endParaRPr lang="en-US" sz="1230" dirty="0"/>
          </a:p>
        </p:txBody>
      </p:sp>
      <p:sp>
        <p:nvSpPr>
          <p:cNvPr id="23" name="Text 21"/>
          <p:cNvSpPr txBox="1"/>
          <p:nvPr/>
        </p:nvSpPr>
        <p:spPr>
          <a:xfrm>
            <a:off x="768096" y="4050792"/>
            <a:ext cx="5029200" cy="475488"/>
          </a:xfrm>
          <a:prstGeom prst="rect">
            <a:avLst/>
          </a:prstGeom>
          <a:noFill/>
          <a:ln/>
        </p:spPr>
        <p:txBody>
          <a:bodyPr wrap="square" lIns="0" tIns="0" rIns="0" bIns="0" rtlCol="0" anchor="ctr"/>
          <a:lstStyle/>
          <a:p>
            <a:pPr indent="0" marL="0">
              <a:buNone/>
            </a:pPr>
            <a:r>
              <a:rPr lang="en-US" sz="1010" dirty="0">
                <a:solidFill>
                  <a:srgbClr val="5A6570"/>
                </a:solidFill>
                <a:latin typeface="Calibri" pitchFamily="34" charset="0"/>
                <a:ea typeface="Calibri" pitchFamily="34" charset="-122"/>
                <a:cs typeface="Calibri" pitchFamily="34" charset="-120"/>
              </a:rPr>
              <a:t>El personal de campo accede desde su propio dispositivo, sin VPN ni instalación previa. Es lo que permite escanear el código QR delante del equipo.</a:t>
            </a:r>
            <a:endParaRPr lang="en-US" sz="1010" dirty="0"/>
          </a:p>
        </p:txBody>
      </p:sp>
      <p:sp>
        <p:nvSpPr>
          <p:cNvPr id="24" name="Shape 22"/>
          <p:cNvSpPr/>
          <p:nvPr/>
        </p:nvSpPr>
        <p:spPr>
          <a:xfrm>
            <a:off x="6172200" y="3520440"/>
            <a:ext cx="5440680" cy="1060704"/>
          </a:xfrm>
          <a:prstGeom prst="roundRect">
            <a:avLst>
              <a:gd name="adj" fmla="val 6897"/>
            </a:avLst>
          </a:prstGeom>
          <a:solidFill>
            <a:srgbClr val="FFFFFF"/>
          </a:solidFill>
          <a:ln w="12700">
            <a:solidFill>
              <a:srgbClr val="D8E4F0"/>
            </a:solidFill>
            <a:prstDash val="solid"/>
          </a:ln>
        </p:spPr>
      </p:sp>
      <p:sp>
        <p:nvSpPr>
          <p:cNvPr id="25" name="Shape 23"/>
          <p:cNvSpPr/>
          <p:nvPr/>
        </p:nvSpPr>
        <p:spPr>
          <a:xfrm>
            <a:off x="6391656" y="3703320"/>
            <a:ext cx="292608" cy="292608"/>
          </a:xfrm>
          <a:prstGeom prst="roundRect">
            <a:avLst>
              <a:gd name="adj" fmla="val 15625"/>
            </a:avLst>
          </a:prstGeom>
          <a:solidFill>
            <a:srgbClr val="2E75B6"/>
          </a:solidFill>
          <a:ln/>
        </p:spPr>
      </p:sp>
      <p:sp>
        <p:nvSpPr>
          <p:cNvPr id="26" name="Text 24"/>
          <p:cNvSpPr txBox="1"/>
          <p:nvPr/>
        </p:nvSpPr>
        <p:spPr>
          <a:xfrm>
            <a:off x="6391656" y="3703320"/>
            <a:ext cx="292608" cy="292608"/>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4</a:t>
            </a:r>
            <a:endParaRPr lang="en-US" sz="1050" dirty="0"/>
          </a:p>
        </p:txBody>
      </p:sp>
      <p:sp>
        <p:nvSpPr>
          <p:cNvPr id="27" name="Text 25"/>
          <p:cNvSpPr txBox="1"/>
          <p:nvPr/>
        </p:nvSpPr>
        <p:spPr>
          <a:xfrm>
            <a:off x="6793992" y="3666744"/>
            <a:ext cx="4617720" cy="365760"/>
          </a:xfrm>
          <a:prstGeom prst="rect">
            <a:avLst/>
          </a:prstGeom>
          <a:noFill/>
          <a:ln/>
        </p:spPr>
        <p:txBody>
          <a:bodyPr wrap="square" lIns="0" tIns="0" rIns="0" bIns="0" rtlCol="0" anchor="ctr"/>
          <a:lstStyle/>
          <a:p>
            <a:pPr indent="0" marL="0">
              <a:buNone/>
            </a:pPr>
            <a:r>
              <a:rPr lang="en-US" sz="1230" b="1" dirty="0">
                <a:solidFill>
                  <a:srgbClr val="1B3A5C"/>
                </a:solidFill>
                <a:latin typeface="Calibri" pitchFamily="34" charset="0"/>
                <a:ea typeface="Calibri" pitchFamily="34" charset="-122"/>
                <a:cs typeface="Calibri" pitchFamily="34" charset="-120"/>
              </a:rPr>
              <a:t>Despliegue continuo con control previo</a:t>
            </a:r>
            <a:endParaRPr lang="en-US" sz="1230" dirty="0"/>
          </a:p>
        </p:txBody>
      </p:sp>
      <p:sp>
        <p:nvSpPr>
          <p:cNvPr id="28" name="Text 26"/>
          <p:cNvSpPr txBox="1"/>
          <p:nvPr/>
        </p:nvSpPr>
        <p:spPr>
          <a:xfrm>
            <a:off x="6391656" y="4050792"/>
            <a:ext cx="5029200" cy="475488"/>
          </a:xfrm>
          <a:prstGeom prst="rect">
            <a:avLst/>
          </a:prstGeom>
          <a:noFill/>
          <a:ln/>
        </p:spPr>
        <p:txBody>
          <a:bodyPr wrap="square" lIns="0" tIns="0" rIns="0" bIns="0" rtlCol="0" anchor="ctr"/>
          <a:lstStyle/>
          <a:p>
            <a:pPr indent="0" marL="0">
              <a:buNone/>
            </a:pPr>
            <a:r>
              <a:rPr lang="en-US" sz="1010" dirty="0">
                <a:solidFill>
                  <a:srgbClr val="5A6570"/>
                </a:solidFill>
                <a:latin typeface="Calibri" pitchFamily="34" charset="0"/>
                <a:ea typeface="Calibri" pitchFamily="34" charset="-122"/>
                <a:cs typeface="Calibri" pitchFamily="34" charset="-120"/>
              </a:rPr>
              <a:t>Cada cambio atraviesa la integración continua antes de publicarse. Si un control falla, la versión no llega a producción.</a:t>
            </a:r>
            <a:endParaRPr lang="en-US" sz="1010" dirty="0"/>
          </a:p>
        </p:txBody>
      </p:sp>
      <p:sp>
        <p:nvSpPr>
          <p:cNvPr id="29" name="Shape 27"/>
          <p:cNvSpPr/>
          <p:nvPr/>
        </p:nvSpPr>
        <p:spPr>
          <a:xfrm>
            <a:off x="548640" y="4709160"/>
            <a:ext cx="5440680" cy="1060704"/>
          </a:xfrm>
          <a:prstGeom prst="roundRect">
            <a:avLst>
              <a:gd name="adj" fmla="val 6897"/>
            </a:avLst>
          </a:prstGeom>
          <a:solidFill>
            <a:srgbClr val="FFFFFF"/>
          </a:solidFill>
          <a:ln w="12700">
            <a:solidFill>
              <a:srgbClr val="D8E4F0"/>
            </a:solidFill>
            <a:prstDash val="solid"/>
          </a:ln>
        </p:spPr>
      </p:sp>
      <p:sp>
        <p:nvSpPr>
          <p:cNvPr id="30" name="Shape 28"/>
          <p:cNvSpPr/>
          <p:nvPr/>
        </p:nvSpPr>
        <p:spPr>
          <a:xfrm>
            <a:off x="768096" y="4892040"/>
            <a:ext cx="292608" cy="292608"/>
          </a:xfrm>
          <a:prstGeom prst="roundRect">
            <a:avLst>
              <a:gd name="adj" fmla="val 15625"/>
            </a:avLst>
          </a:prstGeom>
          <a:solidFill>
            <a:srgbClr val="2E75B6"/>
          </a:solidFill>
          <a:ln/>
        </p:spPr>
      </p:sp>
      <p:sp>
        <p:nvSpPr>
          <p:cNvPr id="31" name="Text 29"/>
          <p:cNvSpPr txBox="1"/>
          <p:nvPr/>
        </p:nvSpPr>
        <p:spPr>
          <a:xfrm>
            <a:off x="768096" y="4892040"/>
            <a:ext cx="292608" cy="292608"/>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5</a:t>
            </a:r>
            <a:endParaRPr lang="en-US" sz="1050" dirty="0"/>
          </a:p>
        </p:txBody>
      </p:sp>
      <p:sp>
        <p:nvSpPr>
          <p:cNvPr id="32" name="Text 30"/>
          <p:cNvSpPr txBox="1"/>
          <p:nvPr/>
        </p:nvSpPr>
        <p:spPr>
          <a:xfrm>
            <a:off x="1170432" y="4855464"/>
            <a:ext cx="4617720" cy="365760"/>
          </a:xfrm>
          <a:prstGeom prst="rect">
            <a:avLst/>
          </a:prstGeom>
          <a:noFill/>
          <a:ln/>
        </p:spPr>
        <p:txBody>
          <a:bodyPr wrap="square" lIns="0" tIns="0" rIns="0" bIns="0" rtlCol="0" anchor="ctr"/>
          <a:lstStyle/>
          <a:p>
            <a:pPr indent="0" marL="0">
              <a:buNone/>
            </a:pPr>
            <a:r>
              <a:rPr lang="en-US" sz="1230" b="1" dirty="0">
                <a:solidFill>
                  <a:srgbClr val="1B3A5C"/>
                </a:solidFill>
                <a:latin typeface="Calibri" pitchFamily="34" charset="0"/>
                <a:ea typeface="Calibri" pitchFamily="34" charset="-122"/>
                <a:cs typeface="Calibri" pitchFamily="34" charset="-120"/>
              </a:rPr>
              <a:t>Puesta en marcha inmediata</a:t>
            </a:r>
            <a:endParaRPr lang="en-US" sz="1230" dirty="0"/>
          </a:p>
        </p:txBody>
      </p:sp>
      <p:sp>
        <p:nvSpPr>
          <p:cNvPr id="33" name="Text 31"/>
          <p:cNvSpPr txBox="1"/>
          <p:nvPr/>
        </p:nvSpPr>
        <p:spPr>
          <a:xfrm>
            <a:off x="768096" y="5239512"/>
            <a:ext cx="5029200" cy="475488"/>
          </a:xfrm>
          <a:prstGeom prst="rect">
            <a:avLst/>
          </a:prstGeom>
          <a:noFill/>
          <a:ln/>
        </p:spPr>
        <p:txBody>
          <a:bodyPr wrap="square" lIns="0" tIns="0" rIns="0" bIns="0" rtlCol="0" anchor="ctr"/>
          <a:lstStyle/>
          <a:p>
            <a:pPr indent="0" marL="0">
              <a:buNone/>
            </a:pPr>
            <a:r>
              <a:rPr lang="en-US" sz="1010" dirty="0">
                <a:solidFill>
                  <a:srgbClr val="5A6570"/>
                </a:solidFill>
                <a:latin typeface="Calibri" pitchFamily="34" charset="0"/>
                <a:ea typeface="Calibri" pitchFamily="34" charset="-122"/>
                <a:cs typeface="Calibri" pitchFamily="34" charset="-120"/>
              </a:rPr>
              <a:t>La evaluación no dependió de un proyecto de infraestructura: el sistema quedó operativo y accesible desde el primer día.</a:t>
            </a:r>
            <a:endParaRPr lang="en-US" sz="1010" dirty="0"/>
          </a:p>
        </p:txBody>
      </p:sp>
      <p:sp>
        <p:nvSpPr>
          <p:cNvPr id="34" name="Shape 32"/>
          <p:cNvSpPr/>
          <p:nvPr/>
        </p:nvSpPr>
        <p:spPr>
          <a:xfrm>
            <a:off x="6172200" y="4709160"/>
            <a:ext cx="5440680" cy="1060704"/>
          </a:xfrm>
          <a:prstGeom prst="roundRect">
            <a:avLst>
              <a:gd name="adj" fmla="val 6897"/>
            </a:avLst>
          </a:prstGeom>
          <a:solidFill>
            <a:srgbClr val="FFFFFF"/>
          </a:solidFill>
          <a:ln w="12700">
            <a:solidFill>
              <a:srgbClr val="D8E4F0"/>
            </a:solidFill>
            <a:prstDash val="solid"/>
          </a:ln>
        </p:spPr>
      </p:sp>
      <p:sp>
        <p:nvSpPr>
          <p:cNvPr id="35" name="Shape 33"/>
          <p:cNvSpPr/>
          <p:nvPr/>
        </p:nvSpPr>
        <p:spPr>
          <a:xfrm>
            <a:off x="6391656" y="4892040"/>
            <a:ext cx="292608" cy="292608"/>
          </a:xfrm>
          <a:prstGeom prst="roundRect">
            <a:avLst>
              <a:gd name="adj" fmla="val 15625"/>
            </a:avLst>
          </a:prstGeom>
          <a:solidFill>
            <a:srgbClr val="2E75B6"/>
          </a:solidFill>
          <a:ln/>
        </p:spPr>
      </p:sp>
      <p:sp>
        <p:nvSpPr>
          <p:cNvPr id="36" name="Text 34"/>
          <p:cNvSpPr txBox="1"/>
          <p:nvPr/>
        </p:nvSpPr>
        <p:spPr>
          <a:xfrm>
            <a:off x="6391656" y="4892040"/>
            <a:ext cx="292608" cy="292608"/>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6</a:t>
            </a:r>
            <a:endParaRPr lang="en-US" sz="1050" dirty="0"/>
          </a:p>
        </p:txBody>
      </p:sp>
      <p:sp>
        <p:nvSpPr>
          <p:cNvPr id="37" name="Text 35"/>
          <p:cNvSpPr txBox="1"/>
          <p:nvPr/>
        </p:nvSpPr>
        <p:spPr>
          <a:xfrm>
            <a:off x="6793992" y="4855464"/>
            <a:ext cx="4617720" cy="365760"/>
          </a:xfrm>
          <a:prstGeom prst="rect">
            <a:avLst/>
          </a:prstGeom>
          <a:noFill/>
          <a:ln/>
        </p:spPr>
        <p:txBody>
          <a:bodyPr wrap="square" lIns="0" tIns="0" rIns="0" bIns="0" rtlCol="0" anchor="ctr"/>
          <a:lstStyle/>
          <a:p>
            <a:pPr indent="0" marL="0">
              <a:buNone/>
            </a:pPr>
            <a:r>
              <a:rPr lang="en-US" sz="1230" b="1" dirty="0">
                <a:solidFill>
                  <a:srgbClr val="1B3A5C"/>
                </a:solidFill>
                <a:latin typeface="Calibri" pitchFamily="34" charset="0"/>
                <a:ea typeface="Calibri" pitchFamily="34" charset="-122"/>
                <a:cs typeface="Calibri" pitchFamily="34" charset="-120"/>
              </a:rPr>
              <a:t>Traslado a planta previsto</a:t>
            </a:r>
            <a:endParaRPr lang="en-US" sz="1230" dirty="0"/>
          </a:p>
        </p:txBody>
      </p:sp>
      <p:sp>
        <p:nvSpPr>
          <p:cNvPr id="38" name="Text 36"/>
          <p:cNvSpPr txBox="1"/>
          <p:nvPr/>
        </p:nvSpPr>
        <p:spPr>
          <a:xfrm>
            <a:off x="6391656" y="5239512"/>
            <a:ext cx="5029200" cy="475488"/>
          </a:xfrm>
          <a:prstGeom prst="rect">
            <a:avLst/>
          </a:prstGeom>
          <a:noFill/>
          <a:ln/>
        </p:spPr>
        <p:txBody>
          <a:bodyPr wrap="square" lIns="0" tIns="0" rIns="0" bIns="0" rtlCol="0" anchor="ctr"/>
          <a:lstStyle/>
          <a:p>
            <a:pPr indent="0" marL="0">
              <a:buNone/>
            </a:pPr>
            <a:r>
              <a:rPr lang="en-US" sz="1010" dirty="0">
                <a:solidFill>
                  <a:srgbClr val="5A6570"/>
                </a:solidFill>
                <a:latin typeface="Calibri" pitchFamily="34" charset="0"/>
                <a:ea typeface="Calibri" pitchFamily="34" charset="-122"/>
                <a:cs typeface="Calibri" pitchFamily="34" charset="-120"/>
              </a:rPr>
              <a:t>La arquitectura está contenedorizada. El despliegue on-premise sobre servidor propio está documentado y no exige reescribir el sistema.</a:t>
            </a:r>
            <a:endParaRPr lang="en-US" sz="1010" dirty="0"/>
          </a:p>
        </p:txBody>
      </p:sp>
      <p:sp>
        <p:nvSpPr>
          <p:cNvPr id="39" name="Shape 37"/>
          <p:cNvSpPr/>
          <p:nvPr/>
        </p:nvSpPr>
        <p:spPr>
          <a:xfrm>
            <a:off x="548640" y="5961888"/>
            <a:ext cx="11064240" cy="658368"/>
          </a:xfrm>
          <a:prstGeom prst="roundRect">
            <a:avLst>
              <a:gd name="adj" fmla="val 11111"/>
            </a:avLst>
          </a:prstGeom>
          <a:solidFill>
            <a:srgbClr val="EDF4FC"/>
          </a:solidFill>
          <a:ln w="16510">
            <a:solidFill>
              <a:srgbClr val="2E75B6"/>
            </a:solidFill>
            <a:prstDash val="solid"/>
          </a:ln>
        </p:spPr>
      </p:sp>
      <p:sp>
        <p:nvSpPr>
          <p:cNvPr id="40" name="Text 38"/>
          <p:cNvSpPr txBox="1"/>
          <p:nvPr/>
        </p:nvSpPr>
        <p:spPr>
          <a:xfrm>
            <a:off x="749808" y="6016752"/>
            <a:ext cx="10661904" cy="548640"/>
          </a:xfrm>
          <a:prstGeom prst="rect">
            <a:avLst/>
          </a:prstGeom>
          <a:noFill/>
          <a:ln/>
        </p:spPr>
        <p:txBody>
          <a:bodyPr wrap="square" lIns="0" tIns="0" rIns="0" bIns="0" rtlCol="0" anchor="ctr"/>
          <a:lstStyle/>
          <a:p>
            <a:pPr indent="0" marL="0">
              <a:buNone/>
            </a:pPr>
            <a:r>
              <a:rPr lang="en-US" sz="1080" b="1" dirty="0">
                <a:solidFill>
                  <a:srgbClr val="1B3A5C"/>
                </a:solidFill>
                <a:latin typeface="Calibri" pitchFamily="34" charset="0"/>
                <a:ea typeface="Calibri" pitchFamily="34" charset="-122"/>
                <a:cs typeface="Calibri" pitchFamily="34" charset="-120"/>
              </a:rPr>
              <a:t>Por qué importa dónde está alojado:  </a:t>
            </a:r>
            <a:pPr indent="0" marL="0">
              <a:buNone/>
            </a:pPr>
            <a:r>
              <a:rPr lang="en-US" sz="1080" dirty="0">
                <a:solidFill>
                  <a:srgbClr val="5A6570"/>
                </a:solidFill>
                <a:latin typeface="Calibri" pitchFamily="34" charset="0"/>
                <a:ea typeface="Calibri" pitchFamily="34" charset="-122"/>
                <a:cs typeface="Calibri" pitchFamily="34" charset="-120"/>
              </a:rPr>
              <a:t>el alojamiento en Railway permitió atacar de inmediato los procesos vitales de LAMINACIÓN —la falla, la orden y el activo— sin esperar un proyecto de infraestructura. Y el dato que hoy queda registrado es la base sobre la que se construye lo siguiente: criticidad medida por equipo, planificación contra ventanas de parada y, más adelante, analítica de vídeo con un algoritmo por cámara.</a:t>
            </a:r>
            <a:endParaRPr lang="en-US" sz="108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1064240" cy="566928"/>
          </a:xfrm>
          <a:prstGeom prst="rect">
            <a:avLst/>
          </a:prstGeom>
          <a:noFill/>
          <a:ln/>
        </p:spPr>
        <p:txBody>
          <a:bodyPr wrap="square" lIns="0" tIns="0" rIns="0" bIns="0" rtlCol="0" anchor="ctr"/>
          <a:lstStyle/>
          <a:p>
            <a:pPr indent="0" marL="0">
              <a:buNone/>
            </a:pPr>
            <a:r>
              <a:rPr lang="en-US" sz="3000" b="1" dirty="0">
                <a:solidFill>
                  <a:srgbClr val="1B3A5C"/>
                </a:solidFill>
                <a:latin typeface="Cambria" pitchFamily="34" charset="0"/>
                <a:ea typeface="Cambria" pitchFamily="34" charset="-122"/>
                <a:cs typeface="Cambria" pitchFamily="34" charset="-120"/>
              </a:rPr>
              <a:t>Diagnóstico de la situación actual</a:t>
            </a:r>
            <a:endParaRPr lang="en-US" sz="3000" dirty="0"/>
          </a:p>
        </p:txBody>
      </p:sp>
      <p:sp>
        <p:nvSpPr>
          <p:cNvPr id="3" name="Text 1"/>
          <p:cNvSpPr txBox="1"/>
          <p:nvPr/>
        </p:nvSpPr>
        <p:spPr>
          <a:xfrm>
            <a:off x="548640" y="896112"/>
            <a:ext cx="11064240" cy="329184"/>
          </a:xfrm>
          <a:prstGeom prst="rect">
            <a:avLst/>
          </a:prstGeom>
          <a:noFill/>
          <a:ln/>
        </p:spPr>
        <p:txBody>
          <a:bodyPr wrap="square" lIns="0" tIns="0" rIns="0" bIns="0" rtlCol="0" anchor="ctr"/>
          <a:lstStyle/>
          <a:p>
            <a:pPr indent="0" marL="0">
              <a:buNone/>
            </a:pPr>
            <a:r>
              <a:rPr lang="en-US" sz="1350" dirty="0">
                <a:solidFill>
                  <a:srgbClr val="5A6570"/>
                </a:solidFill>
                <a:latin typeface="Calibri" pitchFamily="34" charset="0"/>
                <a:ea typeface="Calibri" pitchFamily="34" charset="-122"/>
                <a:cs typeface="Calibri" pitchFamily="34" charset="-120"/>
              </a:rPr>
              <a:t>El trabajo se ejecuta; lo que no se registra no es verificable ni cuantificable</a:t>
            </a:r>
            <a:endParaRPr lang="en-US" sz="1350" dirty="0"/>
          </a:p>
        </p:txBody>
      </p:sp>
      <p:sp>
        <p:nvSpPr>
          <p:cNvPr id="4" name="Text 2"/>
          <p:cNvSpPr txBox="1"/>
          <p:nvPr/>
        </p:nvSpPr>
        <p:spPr>
          <a:xfrm>
            <a:off x="548640" y="6400800"/>
            <a:ext cx="10058400" cy="274320"/>
          </a:xfrm>
          <a:prstGeom prst="rect">
            <a:avLst/>
          </a:prstGeom>
          <a:noFill/>
          <a:ln/>
        </p:spPr>
        <p:txBody>
          <a:bodyPr wrap="square" lIns="0" tIns="0" rIns="0" bIns="0" rtlCol="0" anchor="ctr"/>
          <a:lstStyle/>
          <a:p>
            <a:pPr indent="0" marL="0">
              <a:buNone/>
            </a:pPr>
            <a:r>
              <a:rPr lang="en-US" sz="900" dirty="0">
                <a:solidFill>
                  <a:srgbClr val="9AA4B0"/>
                </a:solidFill>
                <a:latin typeface="Calibri" pitchFamily="34" charset="0"/>
                <a:ea typeface="Calibri" pitchFamily="34" charset="-122"/>
                <a:cs typeface="Calibri" pitchFamily="34" charset="-120"/>
              </a:rPr>
              <a:t>SGIT-CCTV · Aceros Arequipa, Planta Pisco · Laminación (Trenes 1, 2 y 3)</a:t>
            </a:r>
            <a:endParaRPr lang="en-US" sz="900" dirty="0"/>
          </a:p>
        </p:txBody>
      </p:sp>
      <p:sp>
        <p:nvSpPr>
          <p:cNvPr id="5" name="Text 3"/>
          <p:cNvSpPr txBox="1"/>
          <p:nvPr/>
        </p:nvSpPr>
        <p:spPr>
          <a:xfrm>
            <a:off x="11338560" y="6400800"/>
            <a:ext cx="365760" cy="274320"/>
          </a:xfrm>
          <a:prstGeom prst="rect">
            <a:avLst/>
          </a:prstGeom>
          <a:noFill/>
          <a:ln/>
        </p:spPr>
        <p:txBody>
          <a:bodyPr wrap="square" lIns="0" tIns="0" rIns="0" bIns="0" rtlCol="0" anchor="ctr"/>
          <a:lstStyle/>
          <a:p>
            <a:pPr algn="r" indent="0" marL="0">
              <a:buNone/>
            </a:pPr>
            <a:r>
              <a:rPr lang="en-US" sz="1000" dirty="0">
                <a:solidFill>
                  <a:srgbClr val="5A6570"/>
                </a:solidFill>
                <a:latin typeface="Calibri" pitchFamily="34" charset="0"/>
                <a:ea typeface="Calibri" pitchFamily="34" charset="-122"/>
                <a:cs typeface="Calibri" pitchFamily="34" charset="-120"/>
              </a:rPr>
              <a:t>3</a:t>
            </a:r>
            <a:endParaRPr lang="en-US" sz="1000" dirty="0"/>
          </a:p>
        </p:txBody>
      </p:sp>
      <p:sp>
        <p:nvSpPr>
          <p:cNvPr id="6" name="Shape 4"/>
          <p:cNvSpPr/>
          <p:nvPr/>
        </p:nvSpPr>
        <p:spPr>
          <a:xfrm>
            <a:off x="548640" y="1417320"/>
            <a:ext cx="11064240" cy="914400"/>
          </a:xfrm>
          <a:prstGeom prst="roundRect">
            <a:avLst>
              <a:gd name="adj" fmla="val 10000"/>
            </a:avLst>
          </a:prstGeom>
          <a:solidFill>
            <a:srgbClr val="FDF1F0"/>
          </a:solidFill>
          <a:ln w="16510">
            <a:solidFill>
              <a:srgbClr val="B02418"/>
            </a:solidFill>
            <a:prstDash val="solid"/>
          </a:ln>
        </p:spPr>
      </p:sp>
      <p:sp>
        <p:nvSpPr>
          <p:cNvPr id="7" name="Text 5"/>
          <p:cNvSpPr txBox="1"/>
          <p:nvPr/>
        </p:nvSpPr>
        <p:spPr>
          <a:xfrm>
            <a:off x="822960" y="1481328"/>
            <a:ext cx="10515600" cy="786384"/>
          </a:xfrm>
          <a:prstGeom prst="rect">
            <a:avLst/>
          </a:prstGeom>
          <a:noFill/>
          <a:ln/>
        </p:spPr>
        <p:txBody>
          <a:bodyPr wrap="square" lIns="0" tIns="0" rIns="0" bIns="0" rtlCol="0" anchor="ctr"/>
          <a:lstStyle/>
          <a:p>
            <a:pPr indent="0" marL="0">
              <a:buNone/>
            </a:pPr>
            <a:r>
              <a:rPr lang="en-US" sz="1400" dirty="0">
                <a:solidFill>
                  <a:srgbClr val="B02418"/>
                </a:solidFill>
                <a:latin typeface="Calibri" pitchFamily="34" charset="0"/>
                <a:ea typeface="Calibri" pitchFamily="34" charset="-122"/>
                <a:cs typeface="Calibri" pitchFamily="34" charset="-120"/>
              </a:rPr>
              <a:t>La orden de mantenimiento SÍ se registra en SAP: no se trabaja con papel ni con cuaderno. Lo que no existe es el seguimiento de esa orden, la documentación de la intervención ni la ficha del equipo. Sin marca temporal, causa codificada, firma ni informe, la intervención no es verificable ni cuantificable con posterioridad.</a:t>
            </a:r>
            <a:endParaRPr lang="en-US" sz="1400" dirty="0"/>
          </a:p>
        </p:txBody>
      </p:sp>
      <p:sp>
        <p:nvSpPr>
          <p:cNvPr id="8" name="Shape 6"/>
          <p:cNvSpPr/>
          <p:nvPr/>
        </p:nvSpPr>
        <p:spPr>
          <a:xfrm>
            <a:off x="548640" y="2606040"/>
            <a:ext cx="3520440" cy="1481328"/>
          </a:xfrm>
          <a:prstGeom prst="roundRect">
            <a:avLst>
              <a:gd name="adj" fmla="val 4938"/>
            </a:avLst>
          </a:prstGeom>
          <a:solidFill>
            <a:srgbClr val="F4F7FA"/>
          </a:solidFill>
          <a:ln w="12700">
            <a:solidFill>
              <a:srgbClr val="E3E9F0"/>
            </a:solidFill>
            <a:prstDash val="solid"/>
          </a:ln>
        </p:spPr>
      </p:sp>
      <p:sp>
        <p:nvSpPr>
          <p:cNvPr id="9" name="Shape 7"/>
          <p:cNvSpPr/>
          <p:nvPr/>
        </p:nvSpPr>
        <p:spPr>
          <a:xfrm>
            <a:off x="749808" y="2807208"/>
            <a:ext cx="310896" cy="310896"/>
          </a:xfrm>
          <a:prstGeom prst="ellipse">
            <a:avLst/>
          </a:prstGeom>
          <a:solidFill>
            <a:srgbClr val="B02418"/>
          </a:solidFill>
          <a:ln/>
        </p:spPr>
      </p:sp>
      <p:sp>
        <p:nvSpPr>
          <p:cNvPr id="10" name="Text 8"/>
          <p:cNvSpPr txBox="1"/>
          <p:nvPr/>
        </p:nvSpPr>
        <p:spPr>
          <a:xfrm>
            <a:off x="749808" y="2807208"/>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1" name="Text 9"/>
          <p:cNvSpPr txBox="1"/>
          <p:nvPr/>
        </p:nvSpPr>
        <p:spPr>
          <a:xfrm>
            <a:off x="1170432" y="2788920"/>
            <a:ext cx="2743200" cy="347472"/>
          </a:xfrm>
          <a:prstGeom prst="rect">
            <a:avLst/>
          </a:prstGeom>
          <a:noFill/>
          <a:ln/>
        </p:spPr>
        <p:txBody>
          <a:bodyPr wrap="square" lIns="0" tIns="0" rIns="0" bIns="0" rtlCol="0" anchor="ctr"/>
          <a:lstStyle/>
          <a:p>
            <a:pPr indent="0" marL="0">
              <a:buNone/>
            </a:pPr>
            <a:r>
              <a:rPr lang="en-US" sz="1300" b="1" dirty="0">
                <a:solidFill>
                  <a:srgbClr val="1B3A5C"/>
                </a:solidFill>
                <a:latin typeface="Calibri" pitchFamily="34" charset="0"/>
                <a:ea typeface="Calibri" pitchFamily="34" charset="-122"/>
                <a:cs typeface="Calibri" pitchFamily="34" charset="-120"/>
              </a:rPr>
              <a:t>Ausencia de evidencia documental</a:t>
            </a:r>
            <a:endParaRPr lang="en-US" sz="1300" dirty="0"/>
          </a:p>
        </p:txBody>
      </p:sp>
      <p:sp>
        <p:nvSpPr>
          <p:cNvPr id="12" name="Text 10"/>
          <p:cNvSpPr txBox="1"/>
          <p:nvPr/>
        </p:nvSpPr>
        <p:spPr>
          <a:xfrm>
            <a:off x="749808" y="3227832"/>
            <a:ext cx="3154680" cy="749808"/>
          </a:xfrm>
          <a:prstGeom prst="rect">
            <a:avLst/>
          </a:prstGeom>
          <a:noFill/>
          <a:ln/>
        </p:spPr>
        <p:txBody>
          <a:bodyPr wrap="square" lIns="0" tIns="0" rIns="0" bIns="0" rtlCol="0" anchor="ctr"/>
          <a:lstStyle/>
          <a:p>
            <a:pPr indent="0" marL="0">
              <a:buNone/>
            </a:pPr>
            <a:r>
              <a:rPr lang="en-US" sz="1050" dirty="0">
                <a:solidFill>
                  <a:srgbClr val="5A6570"/>
                </a:solidFill>
                <a:latin typeface="Calibri" pitchFamily="34" charset="0"/>
                <a:ea typeface="Calibri" pitchFamily="34" charset="-122"/>
                <a:cs typeface="Calibri" pitchFamily="34" charset="-120"/>
              </a:rPr>
              <a:t>La orden se abre en SAP, pero la intervención no se documenta: no hay informe verificable ante una auditoría.</a:t>
            </a:r>
            <a:endParaRPr lang="en-US" sz="1050" dirty="0"/>
          </a:p>
        </p:txBody>
      </p:sp>
      <p:sp>
        <p:nvSpPr>
          <p:cNvPr id="13" name="Shape 11"/>
          <p:cNvSpPr/>
          <p:nvPr/>
        </p:nvSpPr>
        <p:spPr>
          <a:xfrm>
            <a:off x="4270248" y="2606040"/>
            <a:ext cx="3520440" cy="1481328"/>
          </a:xfrm>
          <a:prstGeom prst="roundRect">
            <a:avLst>
              <a:gd name="adj" fmla="val 4938"/>
            </a:avLst>
          </a:prstGeom>
          <a:solidFill>
            <a:srgbClr val="F4F7FA"/>
          </a:solidFill>
          <a:ln w="12700">
            <a:solidFill>
              <a:srgbClr val="E3E9F0"/>
            </a:solidFill>
            <a:prstDash val="solid"/>
          </a:ln>
        </p:spPr>
      </p:sp>
      <p:sp>
        <p:nvSpPr>
          <p:cNvPr id="14" name="Shape 12"/>
          <p:cNvSpPr/>
          <p:nvPr/>
        </p:nvSpPr>
        <p:spPr>
          <a:xfrm>
            <a:off x="4471416" y="2807208"/>
            <a:ext cx="310896" cy="310896"/>
          </a:xfrm>
          <a:prstGeom prst="ellipse">
            <a:avLst/>
          </a:prstGeom>
          <a:solidFill>
            <a:srgbClr val="B02418"/>
          </a:solidFill>
          <a:ln/>
        </p:spPr>
      </p:sp>
      <p:sp>
        <p:nvSpPr>
          <p:cNvPr id="15" name="Text 13"/>
          <p:cNvSpPr txBox="1"/>
          <p:nvPr/>
        </p:nvSpPr>
        <p:spPr>
          <a:xfrm>
            <a:off x="4471416" y="2807208"/>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16" name="Text 14"/>
          <p:cNvSpPr txBox="1"/>
          <p:nvPr/>
        </p:nvSpPr>
        <p:spPr>
          <a:xfrm>
            <a:off x="4892040" y="2788920"/>
            <a:ext cx="2743200" cy="347472"/>
          </a:xfrm>
          <a:prstGeom prst="rect">
            <a:avLst/>
          </a:prstGeom>
          <a:noFill/>
          <a:ln/>
        </p:spPr>
        <p:txBody>
          <a:bodyPr wrap="square" lIns="0" tIns="0" rIns="0" bIns="0" rtlCol="0" anchor="ctr"/>
          <a:lstStyle/>
          <a:p>
            <a:pPr indent="0" marL="0">
              <a:buNone/>
            </a:pPr>
            <a:r>
              <a:rPr lang="en-US" sz="1300" b="1" dirty="0">
                <a:solidFill>
                  <a:srgbClr val="1B3A5C"/>
                </a:solidFill>
                <a:latin typeface="Calibri" pitchFamily="34" charset="0"/>
                <a:ea typeface="Calibri" pitchFamily="34" charset="-122"/>
                <a:cs typeface="Calibri" pitchFamily="34" charset="-120"/>
              </a:rPr>
              <a:t>Órdenes sin seguimiento</a:t>
            </a:r>
            <a:endParaRPr lang="en-US" sz="1300" dirty="0"/>
          </a:p>
        </p:txBody>
      </p:sp>
      <p:sp>
        <p:nvSpPr>
          <p:cNvPr id="17" name="Text 15"/>
          <p:cNvSpPr txBox="1"/>
          <p:nvPr/>
        </p:nvSpPr>
        <p:spPr>
          <a:xfrm>
            <a:off x="4471416" y="3227832"/>
            <a:ext cx="3154680" cy="749808"/>
          </a:xfrm>
          <a:prstGeom prst="rect">
            <a:avLst/>
          </a:prstGeom>
          <a:noFill/>
          <a:ln/>
        </p:spPr>
        <p:txBody>
          <a:bodyPr wrap="square" lIns="0" tIns="0" rIns="0" bIns="0" rtlCol="0" anchor="ctr"/>
          <a:lstStyle/>
          <a:p>
            <a:pPr indent="0" marL="0">
              <a:buNone/>
            </a:pPr>
            <a:r>
              <a:rPr lang="en-US" sz="1050" dirty="0">
                <a:solidFill>
                  <a:srgbClr val="5A6570"/>
                </a:solidFill>
                <a:latin typeface="Calibri" pitchFamily="34" charset="0"/>
                <a:ea typeface="Calibri" pitchFamily="34" charset="-122"/>
                <a:cs typeface="Calibri" pitchFamily="34" charset="-120"/>
              </a:rPr>
              <a:t>La orden queda registrada, pero nadie la sigue: no consta en qué estado va, quién la tiene ni si llegó a cerrarse.</a:t>
            </a:r>
            <a:endParaRPr lang="en-US" sz="1050" dirty="0"/>
          </a:p>
        </p:txBody>
      </p:sp>
      <p:sp>
        <p:nvSpPr>
          <p:cNvPr id="18" name="Shape 16"/>
          <p:cNvSpPr/>
          <p:nvPr/>
        </p:nvSpPr>
        <p:spPr>
          <a:xfrm>
            <a:off x="7991856" y="2606040"/>
            <a:ext cx="3520440" cy="1481328"/>
          </a:xfrm>
          <a:prstGeom prst="roundRect">
            <a:avLst>
              <a:gd name="adj" fmla="val 4938"/>
            </a:avLst>
          </a:prstGeom>
          <a:solidFill>
            <a:srgbClr val="F4F7FA"/>
          </a:solidFill>
          <a:ln w="12700">
            <a:solidFill>
              <a:srgbClr val="E3E9F0"/>
            </a:solidFill>
            <a:prstDash val="solid"/>
          </a:ln>
        </p:spPr>
      </p:sp>
      <p:sp>
        <p:nvSpPr>
          <p:cNvPr id="19" name="Shape 17"/>
          <p:cNvSpPr/>
          <p:nvPr/>
        </p:nvSpPr>
        <p:spPr>
          <a:xfrm>
            <a:off x="8193024" y="2807208"/>
            <a:ext cx="310896" cy="310896"/>
          </a:xfrm>
          <a:prstGeom prst="ellipse">
            <a:avLst/>
          </a:prstGeom>
          <a:solidFill>
            <a:srgbClr val="B02418"/>
          </a:solidFill>
          <a:ln/>
        </p:spPr>
      </p:sp>
      <p:sp>
        <p:nvSpPr>
          <p:cNvPr id="20" name="Text 18"/>
          <p:cNvSpPr txBox="1"/>
          <p:nvPr/>
        </p:nvSpPr>
        <p:spPr>
          <a:xfrm>
            <a:off x="8193024" y="2807208"/>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21" name="Text 19"/>
          <p:cNvSpPr txBox="1"/>
          <p:nvPr/>
        </p:nvSpPr>
        <p:spPr>
          <a:xfrm>
            <a:off x="8613648" y="2788920"/>
            <a:ext cx="2743200" cy="347472"/>
          </a:xfrm>
          <a:prstGeom prst="rect">
            <a:avLst/>
          </a:prstGeom>
          <a:noFill/>
          <a:ln/>
        </p:spPr>
        <p:txBody>
          <a:bodyPr wrap="square" lIns="0" tIns="0" rIns="0" bIns="0" rtlCol="0" anchor="ctr"/>
          <a:lstStyle/>
          <a:p>
            <a:pPr indent="0" marL="0">
              <a:buNone/>
            </a:pPr>
            <a:r>
              <a:rPr lang="en-US" sz="1300" b="1" dirty="0">
                <a:solidFill>
                  <a:srgbClr val="1B3A5C"/>
                </a:solidFill>
                <a:latin typeface="Calibri" pitchFamily="34" charset="0"/>
                <a:ea typeface="Calibri" pitchFamily="34" charset="-122"/>
                <a:cs typeface="Calibri" pitchFamily="34" charset="-120"/>
              </a:rPr>
              <a:t>Imposibilidad de medición</a:t>
            </a:r>
            <a:endParaRPr lang="en-US" sz="1300" dirty="0"/>
          </a:p>
        </p:txBody>
      </p:sp>
      <p:sp>
        <p:nvSpPr>
          <p:cNvPr id="22" name="Text 20"/>
          <p:cNvSpPr txBox="1"/>
          <p:nvPr/>
        </p:nvSpPr>
        <p:spPr>
          <a:xfrm>
            <a:off x="8193024" y="3227832"/>
            <a:ext cx="3154680" cy="749808"/>
          </a:xfrm>
          <a:prstGeom prst="rect">
            <a:avLst/>
          </a:prstGeom>
          <a:noFill/>
          <a:ln/>
        </p:spPr>
        <p:txBody>
          <a:bodyPr wrap="square" lIns="0" tIns="0" rIns="0" bIns="0" rtlCol="0" anchor="ctr"/>
          <a:lstStyle/>
          <a:p>
            <a:pPr indent="0" marL="0">
              <a:buNone/>
            </a:pPr>
            <a:r>
              <a:rPr lang="en-US" sz="1050" dirty="0">
                <a:solidFill>
                  <a:srgbClr val="5A6570"/>
                </a:solidFill>
                <a:latin typeface="Calibri" pitchFamily="34" charset="0"/>
                <a:ea typeface="Calibri" pitchFamily="34" charset="-122"/>
                <a:cs typeface="Calibri" pitchFamily="34" charset="-120"/>
              </a:rPr>
              <a:t>Sin marca temporal de caída ni de restitución no se puede calcular el MTTR ni evaluar la evolución del servicio.</a:t>
            </a:r>
            <a:endParaRPr lang="en-US" sz="1050" dirty="0"/>
          </a:p>
        </p:txBody>
      </p:sp>
      <p:sp>
        <p:nvSpPr>
          <p:cNvPr id="23" name="Shape 21"/>
          <p:cNvSpPr/>
          <p:nvPr/>
        </p:nvSpPr>
        <p:spPr>
          <a:xfrm>
            <a:off x="548640" y="4297680"/>
            <a:ext cx="3520440" cy="1481328"/>
          </a:xfrm>
          <a:prstGeom prst="roundRect">
            <a:avLst>
              <a:gd name="adj" fmla="val 4938"/>
            </a:avLst>
          </a:prstGeom>
          <a:solidFill>
            <a:srgbClr val="F4F7FA"/>
          </a:solidFill>
          <a:ln w="12700">
            <a:solidFill>
              <a:srgbClr val="E3E9F0"/>
            </a:solidFill>
            <a:prstDash val="solid"/>
          </a:ln>
        </p:spPr>
      </p:sp>
      <p:sp>
        <p:nvSpPr>
          <p:cNvPr id="24" name="Shape 22"/>
          <p:cNvSpPr/>
          <p:nvPr/>
        </p:nvSpPr>
        <p:spPr>
          <a:xfrm>
            <a:off x="749808" y="4498848"/>
            <a:ext cx="310896" cy="310896"/>
          </a:xfrm>
          <a:prstGeom prst="ellipse">
            <a:avLst/>
          </a:prstGeom>
          <a:solidFill>
            <a:srgbClr val="B02418"/>
          </a:solidFill>
          <a:ln/>
        </p:spPr>
      </p:sp>
      <p:sp>
        <p:nvSpPr>
          <p:cNvPr id="25" name="Text 23"/>
          <p:cNvSpPr txBox="1"/>
          <p:nvPr/>
        </p:nvSpPr>
        <p:spPr>
          <a:xfrm>
            <a:off x="749808" y="4498848"/>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26" name="Text 24"/>
          <p:cNvSpPr txBox="1"/>
          <p:nvPr/>
        </p:nvSpPr>
        <p:spPr>
          <a:xfrm>
            <a:off x="1170432" y="4480560"/>
            <a:ext cx="2743200" cy="347472"/>
          </a:xfrm>
          <a:prstGeom prst="rect">
            <a:avLst/>
          </a:prstGeom>
          <a:noFill/>
          <a:ln/>
        </p:spPr>
        <p:txBody>
          <a:bodyPr wrap="square" lIns="0" tIns="0" rIns="0" bIns="0" rtlCol="0" anchor="ctr"/>
          <a:lstStyle/>
          <a:p>
            <a:pPr indent="0" marL="0">
              <a:buNone/>
            </a:pPr>
            <a:r>
              <a:rPr lang="en-US" sz="1300" b="1" dirty="0">
                <a:solidFill>
                  <a:srgbClr val="1B3A5C"/>
                </a:solidFill>
                <a:latin typeface="Calibri" pitchFamily="34" charset="0"/>
                <a:ea typeface="Calibri" pitchFamily="34" charset="-122"/>
                <a:cs typeface="Calibri" pitchFamily="34" charset="-120"/>
              </a:rPr>
              <a:t>Causa raíz no cuantificable</a:t>
            </a:r>
            <a:endParaRPr lang="en-US" sz="1300" dirty="0"/>
          </a:p>
        </p:txBody>
      </p:sp>
      <p:sp>
        <p:nvSpPr>
          <p:cNvPr id="27" name="Text 25"/>
          <p:cNvSpPr txBox="1"/>
          <p:nvPr/>
        </p:nvSpPr>
        <p:spPr>
          <a:xfrm>
            <a:off x="749808" y="4919472"/>
            <a:ext cx="3154680" cy="749808"/>
          </a:xfrm>
          <a:prstGeom prst="rect">
            <a:avLst/>
          </a:prstGeom>
          <a:noFill/>
          <a:ln/>
        </p:spPr>
        <p:txBody>
          <a:bodyPr wrap="square" lIns="0" tIns="0" rIns="0" bIns="0" rtlCol="0" anchor="ctr"/>
          <a:lstStyle/>
          <a:p>
            <a:pPr indent="0" marL="0">
              <a:buNone/>
            </a:pPr>
            <a:r>
              <a:rPr lang="en-US" sz="1050" dirty="0">
                <a:solidFill>
                  <a:srgbClr val="5A6570"/>
                </a:solidFill>
                <a:latin typeface="Calibri" pitchFamily="34" charset="0"/>
                <a:ea typeface="Calibri" pitchFamily="34" charset="-122"/>
                <a:cs typeface="Calibri" pitchFamily="34" charset="-120"/>
              </a:rPr>
              <a:t>La causa se transmite verbalmente y no se codifica. No es posible determinar qué equipos concentran las fallas.</a:t>
            </a:r>
            <a:endParaRPr lang="en-US" sz="1050" dirty="0"/>
          </a:p>
        </p:txBody>
      </p:sp>
      <p:sp>
        <p:nvSpPr>
          <p:cNvPr id="28" name="Shape 26"/>
          <p:cNvSpPr/>
          <p:nvPr/>
        </p:nvSpPr>
        <p:spPr>
          <a:xfrm>
            <a:off x="4270248" y="4297680"/>
            <a:ext cx="3520440" cy="1481328"/>
          </a:xfrm>
          <a:prstGeom prst="roundRect">
            <a:avLst>
              <a:gd name="adj" fmla="val 4938"/>
            </a:avLst>
          </a:prstGeom>
          <a:solidFill>
            <a:srgbClr val="F4F7FA"/>
          </a:solidFill>
          <a:ln w="12700">
            <a:solidFill>
              <a:srgbClr val="E3E9F0"/>
            </a:solidFill>
            <a:prstDash val="solid"/>
          </a:ln>
        </p:spPr>
      </p:sp>
      <p:sp>
        <p:nvSpPr>
          <p:cNvPr id="29" name="Shape 27"/>
          <p:cNvSpPr/>
          <p:nvPr/>
        </p:nvSpPr>
        <p:spPr>
          <a:xfrm>
            <a:off x="4471416" y="4498848"/>
            <a:ext cx="310896" cy="310896"/>
          </a:xfrm>
          <a:prstGeom prst="ellipse">
            <a:avLst/>
          </a:prstGeom>
          <a:solidFill>
            <a:srgbClr val="B02418"/>
          </a:solidFill>
          <a:ln/>
        </p:spPr>
      </p:sp>
      <p:sp>
        <p:nvSpPr>
          <p:cNvPr id="30" name="Text 28"/>
          <p:cNvSpPr txBox="1"/>
          <p:nvPr/>
        </p:nvSpPr>
        <p:spPr>
          <a:xfrm>
            <a:off x="4471416" y="4498848"/>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31" name="Text 29"/>
          <p:cNvSpPr txBox="1"/>
          <p:nvPr/>
        </p:nvSpPr>
        <p:spPr>
          <a:xfrm>
            <a:off x="4892040" y="4480560"/>
            <a:ext cx="2743200" cy="347472"/>
          </a:xfrm>
          <a:prstGeom prst="rect">
            <a:avLst/>
          </a:prstGeom>
          <a:noFill/>
          <a:ln/>
        </p:spPr>
        <p:txBody>
          <a:bodyPr wrap="square" lIns="0" tIns="0" rIns="0" bIns="0" rtlCol="0" anchor="ctr"/>
          <a:lstStyle/>
          <a:p>
            <a:pPr indent="0" marL="0">
              <a:buNone/>
            </a:pPr>
            <a:r>
              <a:rPr lang="en-US" sz="1300" b="1" dirty="0">
                <a:solidFill>
                  <a:srgbClr val="1B3A5C"/>
                </a:solidFill>
                <a:latin typeface="Calibri" pitchFamily="34" charset="0"/>
                <a:ea typeface="Calibri" pitchFamily="34" charset="-122"/>
                <a:cs typeface="Calibri" pitchFamily="34" charset="-120"/>
              </a:rPr>
              <a:t>Mantenimiento exclusivamente reactivo</a:t>
            </a:r>
            <a:endParaRPr lang="en-US" sz="1300" dirty="0"/>
          </a:p>
        </p:txBody>
      </p:sp>
      <p:sp>
        <p:nvSpPr>
          <p:cNvPr id="32" name="Text 30"/>
          <p:cNvSpPr txBox="1"/>
          <p:nvPr/>
        </p:nvSpPr>
        <p:spPr>
          <a:xfrm>
            <a:off x="4471416" y="4919472"/>
            <a:ext cx="3154680" cy="749808"/>
          </a:xfrm>
          <a:prstGeom prst="rect">
            <a:avLst/>
          </a:prstGeom>
          <a:noFill/>
          <a:ln/>
        </p:spPr>
        <p:txBody>
          <a:bodyPr wrap="square" lIns="0" tIns="0" rIns="0" bIns="0" rtlCol="0" anchor="ctr"/>
          <a:lstStyle/>
          <a:p>
            <a:pPr indent="0" marL="0">
              <a:buNone/>
            </a:pPr>
            <a:r>
              <a:rPr lang="en-US" sz="1050" dirty="0">
                <a:solidFill>
                  <a:srgbClr val="5A6570"/>
                </a:solidFill>
                <a:latin typeface="Calibri" pitchFamily="34" charset="0"/>
                <a:ea typeface="Calibri" pitchFamily="34" charset="-122"/>
                <a:cs typeface="Calibri" pitchFamily="34" charset="-120"/>
              </a:rPr>
              <a:t>El plan preventivo no se programa porque no existe el criterio objetivo que determine su frecuencia.</a:t>
            </a:r>
            <a:endParaRPr lang="en-US" sz="1050" dirty="0"/>
          </a:p>
        </p:txBody>
      </p:sp>
      <p:sp>
        <p:nvSpPr>
          <p:cNvPr id="33" name="Shape 31"/>
          <p:cNvSpPr/>
          <p:nvPr/>
        </p:nvSpPr>
        <p:spPr>
          <a:xfrm>
            <a:off x="7991856" y="4297680"/>
            <a:ext cx="3520440" cy="1481328"/>
          </a:xfrm>
          <a:prstGeom prst="roundRect">
            <a:avLst>
              <a:gd name="adj" fmla="val 4938"/>
            </a:avLst>
          </a:prstGeom>
          <a:solidFill>
            <a:srgbClr val="F4F7FA"/>
          </a:solidFill>
          <a:ln w="12700">
            <a:solidFill>
              <a:srgbClr val="E3E9F0"/>
            </a:solidFill>
            <a:prstDash val="solid"/>
          </a:ln>
        </p:spPr>
      </p:sp>
      <p:sp>
        <p:nvSpPr>
          <p:cNvPr id="34" name="Shape 32"/>
          <p:cNvSpPr/>
          <p:nvPr/>
        </p:nvSpPr>
        <p:spPr>
          <a:xfrm>
            <a:off x="8193024" y="4498848"/>
            <a:ext cx="310896" cy="310896"/>
          </a:xfrm>
          <a:prstGeom prst="ellipse">
            <a:avLst/>
          </a:prstGeom>
          <a:solidFill>
            <a:srgbClr val="B02418"/>
          </a:solidFill>
          <a:ln/>
        </p:spPr>
      </p:sp>
      <p:sp>
        <p:nvSpPr>
          <p:cNvPr id="35" name="Text 33"/>
          <p:cNvSpPr txBox="1"/>
          <p:nvPr/>
        </p:nvSpPr>
        <p:spPr>
          <a:xfrm>
            <a:off x="8193024" y="4498848"/>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6</a:t>
            </a:r>
            <a:endParaRPr lang="en-US" sz="1100" dirty="0"/>
          </a:p>
        </p:txBody>
      </p:sp>
      <p:sp>
        <p:nvSpPr>
          <p:cNvPr id="36" name="Text 34"/>
          <p:cNvSpPr txBox="1"/>
          <p:nvPr/>
        </p:nvSpPr>
        <p:spPr>
          <a:xfrm>
            <a:off x="8613648" y="4480560"/>
            <a:ext cx="2743200" cy="347472"/>
          </a:xfrm>
          <a:prstGeom prst="rect">
            <a:avLst/>
          </a:prstGeom>
          <a:noFill/>
          <a:ln/>
        </p:spPr>
        <p:txBody>
          <a:bodyPr wrap="square" lIns="0" tIns="0" rIns="0" bIns="0" rtlCol="0" anchor="ctr"/>
          <a:lstStyle/>
          <a:p>
            <a:pPr indent="0" marL="0">
              <a:buNone/>
            </a:pPr>
            <a:r>
              <a:rPr lang="en-US" sz="1300" b="1" dirty="0">
                <a:solidFill>
                  <a:srgbClr val="1B3A5C"/>
                </a:solidFill>
                <a:latin typeface="Calibri" pitchFamily="34" charset="0"/>
                <a:ea typeface="Calibri" pitchFamily="34" charset="-122"/>
                <a:cs typeface="Calibri" pitchFamily="34" charset="-120"/>
              </a:rPr>
              <a:t>Intervención lenta y sin planificar</a:t>
            </a:r>
            <a:endParaRPr lang="en-US" sz="1300" dirty="0"/>
          </a:p>
        </p:txBody>
      </p:sp>
      <p:sp>
        <p:nvSpPr>
          <p:cNvPr id="37" name="Text 35"/>
          <p:cNvSpPr txBox="1"/>
          <p:nvPr/>
        </p:nvSpPr>
        <p:spPr>
          <a:xfrm>
            <a:off x="8193024" y="4919472"/>
            <a:ext cx="3154680" cy="749808"/>
          </a:xfrm>
          <a:prstGeom prst="rect">
            <a:avLst/>
          </a:prstGeom>
          <a:noFill/>
          <a:ln/>
        </p:spPr>
        <p:txBody>
          <a:bodyPr wrap="square" lIns="0" tIns="0" rIns="0" bIns="0" rtlCol="0" anchor="ctr"/>
          <a:lstStyle/>
          <a:p>
            <a:pPr indent="0" marL="0">
              <a:buNone/>
            </a:pPr>
            <a:r>
              <a:rPr lang="en-US" sz="1050" dirty="0">
                <a:solidFill>
                  <a:srgbClr val="5A6570"/>
                </a:solidFill>
                <a:latin typeface="Calibri" pitchFamily="34" charset="0"/>
                <a:ea typeface="Calibri" pitchFamily="34" charset="-122"/>
                <a:cs typeface="Calibri" pitchFamily="34" charset="-120"/>
              </a:rPr>
              <a:t>El técnico sube sin ficha del equipo: sin medio de acceso, criticidad ni historial. El trabajo no se pudo planificar.</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1064240" cy="566928"/>
          </a:xfrm>
          <a:prstGeom prst="rect">
            <a:avLst/>
          </a:prstGeom>
          <a:noFill/>
          <a:ln/>
        </p:spPr>
        <p:txBody>
          <a:bodyPr wrap="square" lIns="0" tIns="0" rIns="0" bIns="0" rtlCol="0" anchor="ctr"/>
          <a:lstStyle/>
          <a:p>
            <a:pPr indent="0" marL="0">
              <a:buNone/>
            </a:pPr>
            <a:r>
              <a:rPr lang="en-US" sz="3000" b="1" dirty="0">
                <a:solidFill>
                  <a:srgbClr val="1B3A5C"/>
                </a:solidFill>
                <a:latin typeface="Cambria" pitchFamily="34" charset="0"/>
                <a:ea typeface="Cambria" pitchFamily="34" charset="-122"/>
                <a:cs typeface="Cambria" pitchFamily="34" charset="-120"/>
              </a:rPr>
              <a:t>Proceso ACTUAL (AS-IS)</a:t>
            </a:r>
            <a:endParaRPr lang="en-US" sz="3000" dirty="0"/>
          </a:p>
        </p:txBody>
      </p:sp>
      <p:sp>
        <p:nvSpPr>
          <p:cNvPr id="3" name="Text 1"/>
          <p:cNvSpPr txBox="1"/>
          <p:nvPr/>
        </p:nvSpPr>
        <p:spPr>
          <a:xfrm>
            <a:off x="548640" y="896112"/>
            <a:ext cx="11064240" cy="329184"/>
          </a:xfrm>
          <a:prstGeom prst="rect">
            <a:avLst/>
          </a:prstGeom>
          <a:noFill/>
          <a:ln/>
        </p:spPr>
        <p:txBody>
          <a:bodyPr wrap="square" lIns="0" tIns="0" rIns="0" bIns="0" rtlCol="0" anchor="ctr"/>
          <a:lstStyle/>
          <a:p>
            <a:pPr indent="0" marL="0">
              <a:buNone/>
            </a:pPr>
            <a:r>
              <a:rPr lang="en-US" sz="1350" dirty="0">
                <a:solidFill>
                  <a:srgbClr val="5A6570"/>
                </a:solidFill>
                <a:latin typeface="Calibri" pitchFamily="34" charset="0"/>
                <a:ea typeface="Calibri" pitchFamily="34" charset="-122"/>
                <a:cs typeface="Calibri" pitchFamily="34" charset="-120"/>
              </a:rPr>
              <a:t>BPMN 2.0 · Bizagi Modeler — la orden SÍ se abre en SAP; lo que falta es el seguimiento, la documentación de la intervención y la ficha del equipo</a:t>
            </a:r>
            <a:endParaRPr lang="en-US" sz="1350" dirty="0"/>
          </a:p>
        </p:txBody>
      </p:sp>
      <p:sp>
        <p:nvSpPr>
          <p:cNvPr id="4" name="Text 2"/>
          <p:cNvSpPr txBox="1"/>
          <p:nvPr/>
        </p:nvSpPr>
        <p:spPr>
          <a:xfrm>
            <a:off x="548640" y="6400800"/>
            <a:ext cx="10058400" cy="274320"/>
          </a:xfrm>
          <a:prstGeom prst="rect">
            <a:avLst/>
          </a:prstGeom>
          <a:noFill/>
          <a:ln/>
        </p:spPr>
        <p:txBody>
          <a:bodyPr wrap="square" lIns="0" tIns="0" rIns="0" bIns="0" rtlCol="0" anchor="ctr"/>
          <a:lstStyle/>
          <a:p>
            <a:pPr indent="0" marL="0">
              <a:buNone/>
            </a:pPr>
            <a:r>
              <a:rPr lang="en-US" sz="900" dirty="0">
                <a:solidFill>
                  <a:srgbClr val="9AA4B0"/>
                </a:solidFill>
                <a:latin typeface="Calibri" pitchFamily="34" charset="0"/>
                <a:ea typeface="Calibri" pitchFamily="34" charset="-122"/>
                <a:cs typeface="Calibri" pitchFamily="34" charset="-120"/>
              </a:rPr>
              <a:t>SGIT-CCTV · Aceros Arequipa, Planta Pisco · Laminación (Trenes 1, 2 y 3)</a:t>
            </a:r>
            <a:endParaRPr lang="en-US" sz="900" dirty="0"/>
          </a:p>
        </p:txBody>
      </p:sp>
      <p:sp>
        <p:nvSpPr>
          <p:cNvPr id="5" name="Text 3"/>
          <p:cNvSpPr txBox="1"/>
          <p:nvPr/>
        </p:nvSpPr>
        <p:spPr>
          <a:xfrm>
            <a:off x="11338560" y="6400800"/>
            <a:ext cx="365760" cy="274320"/>
          </a:xfrm>
          <a:prstGeom prst="rect">
            <a:avLst/>
          </a:prstGeom>
          <a:noFill/>
          <a:ln/>
        </p:spPr>
        <p:txBody>
          <a:bodyPr wrap="square" lIns="0" tIns="0" rIns="0" bIns="0" rtlCol="0" anchor="ctr"/>
          <a:lstStyle/>
          <a:p>
            <a:pPr algn="r" indent="0" marL="0">
              <a:buNone/>
            </a:pPr>
            <a:r>
              <a:rPr lang="en-US" sz="1000" dirty="0">
                <a:solidFill>
                  <a:srgbClr val="5A6570"/>
                </a:solidFill>
                <a:latin typeface="Calibri" pitchFamily="34" charset="0"/>
                <a:ea typeface="Calibri" pitchFamily="34" charset="-122"/>
                <a:cs typeface="Calibri" pitchFamily="34" charset="-120"/>
              </a:rPr>
              <a:t>4</a:t>
            </a:r>
            <a:endParaRPr lang="en-US" sz="1000" dirty="0"/>
          </a:p>
        </p:txBody>
      </p:sp>
      <p:pic>
        <p:nvPicPr>
          <p:cNvPr id="6" name="Image 0" descr="img/bpmn_asis.png">    </p:cNvPr>
          <p:cNvPicPr>
            <a:picLocks noChangeAspect="1"/>
          </p:cNvPicPr>
          <p:nvPr/>
        </p:nvPicPr>
        <p:blipFill>
          <a:blip r:embed="rId1"/>
          <a:srcRect l="0" r="0" t="0" b="0"/>
          <a:stretch/>
        </p:blipFill>
        <p:spPr>
          <a:xfrm>
            <a:off x="411480" y="1298448"/>
            <a:ext cx="11338560" cy="4956048"/>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1064240" cy="566928"/>
          </a:xfrm>
          <a:prstGeom prst="rect">
            <a:avLst/>
          </a:prstGeom>
          <a:noFill/>
          <a:ln/>
        </p:spPr>
        <p:txBody>
          <a:bodyPr wrap="square" lIns="0" tIns="0" rIns="0" bIns="0" rtlCol="0" anchor="ctr"/>
          <a:lstStyle/>
          <a:p>
            <a:pPr indent="0" marL="0">
              <a:buNone/>
            </a:pPr>
            <a:r>
              <a:rPr lang="en-US" sz="3000" b="1" dirty="0">
                <a:solidFill>
                  <a:srgbClr val="1B3A5C"/>
                </a:solidFill>
                <a:latin typeface="Cambria" pitchFamily="34" charset="0"/>
                <a:ea typeface="Cambria" pitchFamily="34" charset="-122"/>
                <a:cs typeface="Cambria" pitchFamily="34" charset="-120"/>
              </a:rPr>
              <a:t>Puntos de fuga del proceso actual</a:t>
            </a:r>
            <a:endParaRPr lang="en-US" sz="3000" dirty="0"/>
          </a:p>
        </p:txBody>
      </p:sp>
      <p:sp>
        <p:nvSpPr>
          <p:cNvPr id="3" name="Text 1"/>
          <p:cNvSpPr txBox="1"/>
          <p:nvPr/>
        </p:nvSpPr>
        <p:spPr>
          <a:xfrm>
            <a:off x="548640" y="896112"/>
            <a:ext cx="11064240" cy="329184"/>
          </a:xfrm>
          <a:prstGeom prst="rect">
            <a:avLst/>
          </a:prstGeom>
          <a:noFill/>
          <a:ln/>
        </p:spPr>
        <p:txBody>
          <a:bodyPr wrap="square" lIns="0" tIns="0" rIns="0" bIns="0" rtlCol="0" anchor="ctr"/>
          <a:lstStyle/>
          <a:p>
            <a:pPr indent="0" marL="0">
              <a:buNone/>
            </a:pPr>
            <a:r>
              <a:rPr lang="en-US" sz="1350" dirty="0">
                <a:solidFill>
                  <a:srgbClr val="5A6570"/>
                </a:solidFill>
                <a:latin typeface="Calibri" pitchFamily="34" charset="0"/>
                <a:ea typeface="Calibri" pitchFamily="34" charset="-122"/>
                <a:cs typeface="Calibri" pitchFamily="34" charset="-120"/>
              </a:rPr>
              <a:t>Cada uno suprime un dato necesario para la gestión posterior</a:t>
            </a:r>
            <a:endParaRPr lang="en-US" sz="1350" dirty="0"/>
          </a:p>
        </p:txBody>
      </p:sp>
      <p:sp>
        <p:nvSpPr>
          <p:cNvPr id="4" name="Text 2"/>
          <p:cNvSpPr txBox="1"/>
          <p:nvPr/>
        </p:nvSpPr>
        <p:spPr>
          <a:xfrm>
            <a:off x="548640" y="6400800"/>
            <a:ext cx="10058400" cy="274320"/>
          </a:xfrm>
          <a:prstGeom prst="rect">
            <a:avLst/>
          </a:prstGeom>
          <a:noFill/>
          <a:ln/>
        </p:spPr>
        <p:txBody>
          <a:bodyPr wrap="square" lIns="0" tIns="0" rIns="0" bIns="0" rtlCol="0" anchor="ctr"/>
          <a:lstStyle/>
          <a:p>
            <a:pPr indent="0" marL="0">
              <a:buNone/>
            </a:pPr>
            <a:r>
              <a:rPr lang="en-US" sz="900" dirty="0">
                <a:solidFill>
                  <a:srgbClr val="9AA4B0"/>
                </a:solidFill>
                <a:latin typeface="Calibri" pitchFamily="34" charset="0"/>
                <a:ea typeface="Calibri" pitchFamily="34" charset="-122"/>
                <a:cs typeface="Calibri" pitchFamily="34" charset="-120"/>
              </a:rPr>
              <a:t>SGIT-CCTV · Aceros Arequipa, Planta Pisco · Laminación (Trenes 1, 2 y 3)</a:t>
            </a:r>
            <a:endParaRPr lang="en-US" sz="900" dirty="0"/>
          </a:p>
        </p:txBody>
      </p:sp>
      <p:sp>
        <p:nvSpPr>
          <p:cNvPr id="5" name="Text 3"/>
          <p:cNvSpPr txBox="1"/>
          <p:nvPr/>
        </p:nvSpPr>
        <p:spPr>
          <a:xfrm>
            <a:off x="11338560" y="6400800"/>
            <a:ext cx="365760" cy="274320"/>
          </a:xfrm>
          <a:prstGeom prst="rect">
            <a:avLst/>
          </a:prstGeom>
          <a:noFill/>
          <a:ln/>
        </p:spPr>
        <p:txBody>
          <a:bodyPr wrap="square" lIns="0" tIns="0" rIns="0" bIns="0" rtlCol="0" anchor="ctr"/>
          <a:lstStyle/>
          <a:p>
            <a:pPr algn="r" indent="0" marL="0">
              <a:buNone/>
            </a:pPr>
            <a:r>
              <a:rPr lang="en-US" sz="1000" dirty="0">
                <a:solidFill>
                  <a:srgbClr val="5A6570"/>
                </a:solidFill>
                <a:latin typeface="Calibri" pitchFamily="34" charset="0"/>
                <a:ea typeface="Calibri" pitchFamily="34" charset="-122"/>
                <a:cs typeface="Calibri" pitchFamily="34" charset="-120"/>
              </a:rPr>
              <a:t>5</a:t>
            </a:r>
            <a:endParaRPr lang="en-US" sz="1000" dirty="0"/>
          </a:p>
        </p:txBody>
      </p:sp>
      <p:sp>
        <p:nvSpPr>
          <p:cNvPr id="6" name="Shape 4"/>
          <p:cNvSpPr/>
          <p:nvPr/>
        </p:nvSpPr>
        <p:spPr>
          <a:xfrm>
            <a:off x="548640" y="1463040"/>
            <a:ext cx="11064240" cy="1042416"/>
          </a:xfrm>
          <a:prstGeom prst="roundRect">
            <a:avLst>
              <a:gd name="adj" fmla="val 7018"/>
            </a:avLst>
          </a:prstGeom>
          <a:solidFill>
            <a:srgbClr val="FFFFFF"/>
          </a:solidFill>
          <a:ln w="12700">
            <a:solidFill>
              <a:srgbClr val="E3E9F0"/>
            </a:solidFill>
            <a:prstDash val="solid"/>
          </a:ln>
        </p:spPr>
      </p:sp>
      <p:sp>
        <p:nvSpPr>
          <p:cNvPr id="7" name="Shape 5"/>
          <p:cNvSpPr/>
          <p:nvPr/>
        </p:nvSpPr>
        <p:spPr>
          <a:xfrm>
            <a:off x="713232" y="1645920"/>
            <a:ext cx="2514600" cy="676656"/>
          </a:xfrm>
          <a:prstGeom prst="roundRect">
            <a:avLst>
              <a:gd name="adj" fmla="val 10811"/>
            </a:avLst>
          </a:prstGeom>
          <a:solidFill>
            <a:srgbClr val="1B3A5C"/>
          </a:solidFill>
          <a:ln/>
        </p:spPr>
      </p:sp>
      <p:sp>
        <p:nvSpPr>
          <p:cNvPr id="8" name="Text 6"/>
          <p:cNvSpPr txBox="1"/>
          <p:nvPr/>
        </p:nvSpPr>
        <p:spPr>
          <a:xfrm>
            <a:off x="749808" y="1645920"/>
            <a:ext cx="2441448" cy="676656"/>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Aviso verbal y por WhatsApp</a:t>
            </a:r>
            <a:endParaRPr lang="en-US" sz="1250" dirty="0"/>
          </a:p>
        </p:txBody>
      </p:sp>
      <p:sp>
        <p:nvSpPr>
          <p:cNvPr id="9" name="Text 7"/>
          <p:cNvSpPr txBox="1"/>
          <p:nvPr/>
        </p:nvSpPr>
        <p:spPr>
          <a:xfrm>
            <a:off x="3429000" y="1645920"/>
            <a:ext cx="2651760" cy="310896"/>
          </a:xfrm>
          <a:prstGeom prst="rect">
            <a:avLst/>
          </a:prstGeom>
          <a:noFill/>
          <a:ln/>
        </p:spPr>
        <p:txBody>
          <a:bodyPr wrap="square" lIns="0" tIns="0" rIns="0" bIns="0" rtlCol="0" anchor="ctr"/>
          <a:lstStyle/>
          <a:p>
            <a:pPr indent="0" marL="0">
              <a:buNone/>
            </a:pPr>
            <a:r>
              <a:rPr lang="en-US" sz="1350" b="1" dirty="0">
                <a:solidFill>
                  <a:srgbClr val="B02418"/>
                </a:solidFill>
                <a:latin typeface="Calibri" pitchFamily="34" charset="0"/>
                <a:ea typeface="Calibri" pitchFamily="34" charset="-122"/>
                <a:cs typeface="Calibri" pitchFamily="34" charset="-120"/>
              </a:rPr>
              <a:t>Sin registro asociado</a:t>
            </a:r>
            <a:endParaRPr lang="en-US" sz="1350" dirty="0"/>
          </a:p>
        </p:txBody>
      </p:sp>
      <p:sp>
        <p:nvSpPr>
          <p:cNvPr id="10" name="Text 8"/>
          <p:cNvSpPr txBox="1"/>
          <p:nvPr/>
        </p:nvSpPr>
        <p:spPr>
          <a:xfrm>
            <a:off x="3429000" y="1993392"/>
            <a:ext cx="7863840" cy="365760"/>
          </a:xfrm>
          <a:prstGeom prst="rect">
            <a:avLst/>
          </a:prstGeom>
          <a:noFill/>
          <a:ln/>
        </p:spPr>
        <p:txBody>
          <a:bodyPr wrap="square" lIns="0" tIns="0" rIns="0" bIns="0" rtlCol="0" anchor="ctr"/>
          <a:lstStyle/>
          <a:p>
            <a:pPr indent="0" marL="0">
              <a:buNone/>
            </a:pPr>
            <a:r>
              <a:rPr lang="en-US" sz="1150" dirty="0">
                <a:solidFill>
                  <a:srgbClr val="5A6570"/>
                </a:solidFill>
                <a:latin typeface="Calibri" pitchFamily="34" charset="0"/>
                <a:ea typeface="Calibri" pitchFamily="34" charset="-122"/>
                <a:cs typeface="Calibri" pitchFamily="34" charset="-120"/>
              </a:rPr>
              <a:t>El aviso viaja de púlpito a Jefe de Línea y de éste al Jefe de Mantenimiento por chat. No deja cola de trabajo consultable.</a:t>
            </a:r>
            <a:endParaRPr lang="en-US" sz="1150" dirty="0"/>
          </a:p>
        </p:txBody>
      </p:sp>
      <p:sp>
        <p:nvSpPr>
          <p:cNvPr id="11" name="Shape 9"/>
          <p:cNvSpPr/>
          <p:nvPr/>
        </p:nvSpPr>
        <p:spPr>
          <a:xfrm>
            <a:off x="548640" y="2670048"/>
            <a:ext cx="11064240" cy="1042416"/>
          </a:xfrm>
          <a:prstGeom prst="roundRect">
            <a:avLst>
              <a:gd name="adj" fmla="val 7018"/>
            </a:avLst>
          </a:prstGeom>
          <a:solidFill>
            <a:srgbClr val="FFFFFF"/>
          </a:solidFill>
          <a:ln w="12700">
            <a:solidFill>
              <a:srgbClr val="E3E9F0"/>
            </a:solidFill>
            <a:prstDash val="solid"/>
          </a:ln>
        </p:spPr>
      </p:sp>
      <p:sp>
        <p:nvSpPr>
          <p:cNvPr id="12" name="Shape 10"/>
          <p:cNvSpPr/>
          <p:nvPr/>
        </p:nvSpPr>
        <p:spPr>
          <a:xfrm>
            <a:off x="713232" y="2852928"/>
            <a:ext cx="2514600" cy="676656"/>
          </a:xfrm>
          <a:prstGeom prst="roundRect">
            <a:avLst>
              <a:gd name="adj" fmla="val 10811"/>
            </a:avLst>
          </a:prstGeom>
          <a:solidFill>
            <a:srgbClr val="1B3A5C"/>
          </a:solidFill>
          <a:ln/>
        </p:spPr>
      </p:sp>
      <p:sp>
        <p:nvSpPr>
          <p:cNvPr id="13" name="Text 11"/>
          <p:cNvSpPr txBox="1"/>
          <p:nvPr/>
        </p:nvSpPr>
        <p:spPr>
          <a:xfrm>
            <a:off x="749808" y="2852928"/>
            <a:ext cx="2441448" cy="676656"/>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Traslado del aviso al sistema</a:t>
            </a:r>
            <a:endParaRPr lang="en-US" sz="1250" dirty="0"/>
          </a:p>
        </p:txBody>
      </p:sp>
      <p:sp>
        <p:nvSpPr>
          <p:cNvPr id="14" name="Text 12"/>
          <p:cNvSpPr txBox="1"/>
          <p:nvPr/>
        </p:nvSpPr>
        <p:spPr>
          <a:xfrm>
            <a:off x="3429000" y="2852928"/>
            <a:ext cx="2651760" cy="310896"/>
          </a:xfrm>
          <a:prstGeom prst="rect">
            <a:avLst/>
          </a:prstGeom>
          <a:noFill/>
          <a:ln/>
        </p:spPr>
        <p:txBody>
          <a:bodyPr wrap="square" lIns="0" tIns="0" rIns="0" bIns="0" rtlCol="0" anchor="ctr"/>
          <a:lstStyle/>
          <a:p>
            <a:pPr indent="0" marL="0">
              <a:buNone/>
            </a:pPr>
            <a:r>
              <a:rPr lang="en-US" sz="1350" b="1" dirty="0">
                <a:solidFill>
                  <a:srgbClr val="B02418"/>
                </a:solidFill>
                <a:latin typeface="Calibri" pitchFamily="34" charset="0"/>
                <a:ea typeface="Calibri" pitchFamily="34" charset="-122"/>
                <a:cs typeface="Calibri" pitchFamily="34" charset="-120"/>
              </a:rPr>
              <a:t>Sin hora real de la caída</a:t>
            </a:r>
            <a:endParaRPr lang="en-US" sz="1350" dirty="0"/>
          </a:p>
        </p:txBody>
      </p:sp>
      <p:sp>
        <p:nvSpPr>
          <p:cNvPr id="15" name="Text 13"/>
          <p:cNvSpPr txBox="1"/>
          <p:nvPr/>
        </p:nvSpPr>
        <p:spPr>
          <a:xfrm>
            <a:off x="3429000" y="3200400"/>
            <a:ext cx="7863840" cy="365760"/>
          </a:xfrm>
          <a:prstGeom prst="rect">
            <a:avLst/>
          </a:prstGeom>
          <a:noFill/>
          <a:ln/>
        </p:spPr>
        <p:txBody>
          <a:bodyPr wrap="square" lIns="0" tIns="0" rIns="0" bIns="0" rtlCol="0" anchor="ctr"/>
          <a:lstStyle/>
          <a:p>
            <a:pPr indent="0" marL="0">
              <a:buNone/>
            </a:pPr>
            <a:r>
              <a:rPr lang="en-US" sz="1150" dirty="0">
                <a:solidFill>
                  <a:srgbClr val="5A6570"/>
                </a:solidFill>
                <a:latin typeface="Calibri" pitchFamily="34" charset="0"/>
                <a:ea typeface="Calibri" pitchFamily="34" charset="-122"/>
                <a:cs typeface="Calibri" pitchFamily="34" charset="-120"/>
              </a:rPr>
              <a:t>Entre el reporte y la apertura de la orden se pierde el dato: qué equipo exactamente, desde cuándo y qué se veía en pantalla.</a:t>
            </a:r>
            <a:endParaRPr lang="en-US" sz="1150" dirty="0"/>
          </a:p>
        </p:txBody>
      </p:sp>
      <p:sp>
        <p:nvSpPr>
          <p:cNvPr id="16" name="Shape 14"/>
          <p:cNvSpPr/>
          <p:nvPr/>
        </p:nvSpPr>
        <p:spPr>
          <a:xfrm>
            <a:off x="548640" y="3877056"/>
            <a:ext cx="11064240" cy="1042416"/>
          </a:xfrm>
          <a:prstGeom prst="roundRect">
            <a:avLst>
              <a:gd name="adj" fmla="val 7018"/>
            </a:avLst>
          </a:prstGeom>
          <a:solidFill>
            <a:srgbClr val="FFFFFF"/>
          </a:solidFill>
          <a:ln w="12700">
            <a:solidFill>
              <a:srgbClr val="E3E9F0"/>
            </a:solidFill>
            <a:prstDash val="solid"/>
          </a:ln>
        </p:spPr>
      </p:sp>
      <p:sp>
        <p:nvSpPr>
          <p:cNvPr id="17" name="Shape 15"/>
          <p:cNvSpPr/>
          <p:nvPr/>
        </p:nvSpPr>
        <p:spPr>
          <a:xfrm>
            <a:off x="713232" y="4059936"/>
            <a:ext cx="2514600" cy="676656"/>
          </a:xfrm>
          <a:prstGeom prst="roundRect">
            <a:avLst>
              <a:gd name="adj" fmla="val 10811"/>
            </a:avLst>
          </a:prstGeom>
          <a:solidFill>
            <a:srgbClr val="1B3A5C"/>
          </a:solidFill>
          <a:ln/>
        </p:spPr>
      </p:sp>
      <p:sp>
        <p:nvSpPr>
          <p:cNvPr id="18" name="Text 16"/>
          <p:cNvSpPr txBox="1"/>
          <p:nvPr/>
        </p:nvSpPr>
        <p:spPr>
          <a:xfrm>
            <a:off x="749808" y="4059936"/>
            <a:ext cx="2441448" cy="676656"/>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Orden abierta en SAP</a:t>
            </a:r>
            <a:endParaRPr lang="en-US" sz="1250" dirty="0"/>
          </a:p>
        </p:txBody>
      </p:sp>
      <p:sp>
        <p:nvSpPr>
          <p:cNvPr id="19" name="Text 17"/>
          <p:cNvSpPr txBox="1"/>
          <p:nvPr/>
        </p:nvSpPr>
        <p:spPr>
          <a:xfrm>
            <a:off x="3429000" y="4059936"/>
            <a:ext cx="2651760" cy="310896"/>
          </a:xfrm>
          <a:prstGeom prst="rect">
            <a:avLst/>
          </a:prstGeom>
          <a:noFill/>
          <a:ln/>
        </p:spPr>
        <p:txBody>
          <a:bodyPr wrap="square" lIns="0" tIns="0" rIns="0" bIns="0" rtlCol="0" anchor="ctr"/>
          <a:lstStyle/>
          <a:p>
            <a:pPr indent="0" marL="0">
              <a:buNone/>
            </a:pPr>
            <a:r>
              <a:rPr lang="en-US" sz="1350" b="1" dirty="0">
                <a:solidFill>
                  <a:srgbClr val="B02418"/>
                </a:solidFill>
                <a:latin typeface="Calibri" pitchFamily="34" charset="0"/>
                <a:ea typeface="Calibri" pitchFamily="34" charset="-122"/>
                <a:cs typeface="Calibri" pitchFamily="34" charset="-120"/>
              </a:rPr>
              <a:t>Sin seguimiento posterior</a:t>
            </a:r>
            <a:endParaRPr lang="en-US" sz="1350" dirty="0"/>
          </a:p>
        </p:txBody>
      </p:sp>
      <p:sp>
        <p:nvSpPr>
          <p:cNvPr id="20" name="Text 18"/>
          <p:cNvSpPr txBox="1"/>
          <p:nvPr/>
        </p:nvSpPr>
        <p:spPr>
          <a:xfrm>
            <a:off x="3429000" y="4407408"/>
            <a:ext cx="7863840" cy="365760"/>
          </a:xfrm>
          <a:prstGeom prst="rect">
            <a:avLst/>
          </a:prstGeom>
          <a:noFill/>
          <a:ln/>
        </p:spPr>
        <p:txBody>
          <a:bodyPr wrap="square" lIns="0" tIns="0" rIns="0" bIns="0" rtlCol="0" anchor="ctr"/>
          <a:lstStyle/>
          <a:p>
            <a:pPr indent="0" marL="0">
              <a:buNone/>
            </a:pPr>
            <a:r>
              <a:rPr lang="en-US" sz="1150" dirty="0">
                <a:solidFill>
                  <a:srgbClr val="5A6570"/>
                </a:solidFill>
                <a:latin typeface="Calibri" pitchFamily="34" charset="0"/>
                <a:ea typeface="Calibri" pitchFamily="34" charset="-122"/>
                <a:cs typeface="Calibri" pitchFamily="34" charset="-120"/>
              </a:rPr>
              <a:t>La orden se escribe una vez y nadie la sigue: no consta el avance, el responsable actual ni la evidencia de cierre.</a:t>
            </a:r>
            <a:endParaRPr lang="en-US" sz="1150" dirty="0"/>
          </a:p>
        </p:txBody>
      </p:sp>
      <p:sp>
        <p:nvSpPr>
          <p:cNvPr id="21" name="Shape 19"/>
          <p:cNvSpPr/>
          <p:nvPr/>
        </p:nvSpPr>
        <p:spPr>
          <a:xfrm>
            <a:off x="548640" y="5084064"/>
            <a:ext cx="11064240" cy="1042416"/>
          </a:xfrm>
          <a:prstGeom prst="roundRect">
            <a:avLst>
              <a:gd name="adj" fmla="val 7018"/>
            </a:avLst>
          </a:prstGeom>
          <a:solidFill>
            <a:srgbClr val="FFFFFF"/>
          </a:solidFill>
          <a:ln w="12700">
            <a:solidFill>
              <a:srgbClr val="E3E9F0"/>
            </a:solidFill>
            <a:prstDash val="solid"/>
          </a:ln>
        </p:spPr>
      </p:sp>
      <p:sp>
        <p:nvSpPr>
          <p:cNvPr id="22" name="Shape 20"/>
          <p:cNvSpPr/>
          <p:nvPr/>
        </p:nvSpPr>
        <p:spPr>
          <a:xfrm>
            <a:off x="713232" y="5266944"/>
            <a:ext cx="2514600" cy="676656"/>
          </a:xfrm>
          <a:prstGeom prst="roundRect">
            <a:avLst>
              <a:gd name="adj" fmla="val 10811"/>
            </a:avLst>
          </a:prstGeom>
          <a:solidFill>
            <a:srgbClr val="1B3A5C"/>
          </a:solidFill>
          <a:ln/>
        </p:spPr>
      </p:sp>
      <p:sp>
        <p:nvSpPr>
          <p:cNvPr id="23" name="Text 21"/>
          <p:cNvSpPr txBox="1"/>
          <p:nvPr/>
        </p:nvSpPr>
        <p:spPr>
          <a:xfrm>
            <a:off x="749808" y="5266944"/>
            <a:ext cx="2441448" cy="676656"/>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Intervención no documentada</a:t>
            </a:r>
            <a:endParaRPr lang="en-US" sz="1250" dirty="0"/>
          </a:p>
        </p:txBody>
      </p:sp>
      <p:sp>
        <p:nvSpPr>
          <p:cNvPr id="24" name="Text 22"/>
          <p:cNvSpPr txBox="1"/>
          <p:nvPr/>
        </p:nvSpPr>
        <p:spPr>
          <a:xfrm>
            <a:off x="3429000" y="5266944"/>
            <a:ext cx="2651760" cy="310896"/>
          </a:xfrm>
          <a:prstGeom prst="rect">
            <a:avLst/>
          </a:prstGeom>
          <a:noFill/>
          <a:ln/>
        </p:spPr>
        <p:txBody>
          <a:bodyPr wrap="square" lIns="0" tIns="0" rIns="0" bIns="0" rtlCol="0" anchor="ctr"/>
          <a:lstStyle/>
          <a:p>
            <a:pPr indent="0" marL="0">
              <a:buNone/>
            </a:pPr>
            <a:r>
              <a:rPr lang="en-US" sz="1350" b="1" dirty="0">
                <a:solidFill>
                  <a:srgbClr val="B02418"/>
                </a:solidFill>
                <a:latin typeface="Calibri" pitchFamily="34" charset="0"/>
                <a:ea typeface="Calibri" pitchFamily="34" charset="-122"/>
                <a:cs typeface="Calibri" pitchFamily="34" charset="-120"/>
              </a:rPr>
              <a:t>Sin causa raíz ni informe</a:t>
            </a:r>
            <a:endParaRPr lang="en-US" sz="1350" dirty="0"/>
          </a:p>
        </p:txBody>
      </p:sp>
      <p:sp>
        <p:nvSpPr>
          <p:cNvPr id="25" name="Text 23"/>
          <p:cNvSpPr txBox="1"/>
          <p:nvPr/>
        </p:nvSpPr>
        <p:spPr>
          <a:xfrm>
            <a:off x="3429000" y="5614416"/>
            <a:ext cx="7863840" cy="365760"/>
          </a:xfrm>
          <a:prstGeom prst="rect">
            <a:avLst/>
          </a:prstGeom>
          <a:noFill/>
          <a:ln/>
        </p:spPr>
        <p:txBody>
          <a:bodyPr wrap="square" lIns="0" tIns="0" rIns="0" bIns="0" rtlCol="0" anchor="ctr"/>
          <a:lstStyle/>
          <a:p>
            <a:pPr indent="0" marL="0">
              <a:buNone/>
            </a:pPr>
            <a:r>
              <a:rPr lang="en-US" sz="1150" dirty="0">
                <a:solidFill>
                  <a:srgbClr val="5A6570"/>
                </a:solidFill>
                <a:latin typeface="Calibri" pitchFamily="34" charset="0"/>
                <a:ea typeface="Calibri" pitchFamily="34" charset="-122"/>
                <a:cs typeface="Calibri" pitchFamily="34" charset="-120"/>
              </a:rPr>
              <a:t>No se registran síntoma, causa, acción ni evidencia fotográfica. La reparación se comunica de palabra al volver.</a:t>
            </a:r>
            <a:endParaRPr lang="en-US" sz="11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1064240" cy="566928"/>
          </a:xfrm>
          <a:prstGeom prst="rect">
            <a:avLst/>
          </a:prstGeom>
          <a:noFill/>
          <a:ln/>
        </p:spPr>
        <p:txBody>
          <a:bodyPr wrap="square" lIns="0" tIns="0" rIns="0" bIns="0" rtlCol="0" anchor="ctr"/>
          <a:lstStyle/>
          <a:p>
            <a:pPr indent="0" marL="0">
              <a:buNone/>
            </a:pPr>
            <a:r>
              <a:rPr lang="en-US" sz="3000" b="1" dirty="0">
                <a:solidFill>
                  <a:srgbClr val="1B3A5C"/>
                </a:solidFill>
                <a:latin typeface="Cambria" pitchFamily="34" charset="0"/>
                <a:ea typeface="Cambria" pitchFamily="34" charset="-122"/>
                <a:cs typeface="Cambria" pitchFamily="34" charset="-120"/>
              </a:rPr>
              <a:t>Proceso PROPUESTO (TO-BE)</a:t>
            </a:r>
            <a:endParaRPr lang="en-US" sz="3000" dirty="0"/>
          </a:p>
        </p:txBody>
      </p:sp>
      <p:sp>
        <p:nvSpPr>
          <p:cNvPr id="3" name="Text 1"/>
          <p:cNvSpPr txBox="1"/>
          <p:nvPr/>
        </p:nvSpPr>
        <p:spPr>
          <a:xfrm>
            <a:off x="548640" y="896112"/>
            <a:ext cx="11064240" cy="329184"/>
          </a:xfrm>
          <a:prstGeom prst="rect">
            <a:avLst/>
          </a:prstGeom>
          <a:noFill/>
          <a:ln/>
        </p:spPr>
        <p:txBody>
          <a:bodyPr wrap="square" lIns="0" tIns="0" rIns="0" bIns="0" rtlCol="0" anchor="ctr"/>
          <a:lstStyle/>
          <a:p>
            <a:pPr indent="0" marL="0">
              <a:buNone/>
            </a:pPr>
            <a:r>
              <a:rPr lang="en-US" sz="1350" dirty="0">
                <a:solidFill>
                  <a:srgbClr val="5A6570"/>
                </a:solidFill>
                <a:latin typeface="Calibri" pitchFamily="34" charset="0"/>
                <a:ea typeface="Calibri" pitchFamily="34" charset="-122"/>
                <a:cs typeface="Calibri" pitchFamily="34" charset="-120"/>
              </a:rPr>
              <a:t>Con SGIT-CCTV · la calle inferior es el sistema; las flechas discontinuas son el registro automático de evidencia</a:t>
            </a:r>
            <a:endParaRPr lang="en-US" sz="1350" dirty="0"/>
          </a:p>
        </p:txBody>
      </p:sp>
      <p:sp>
        <p:nvSpPr>
          <p:cNvPr id="4" name="Text 2"/>
          <p:cNvSpPr txBox="1"/>
          <p:nvPr/>
        </p:nvSpPr>
        <p:spPr>
          <a:xfrm>
            <a:off x="548640" y="6400800"/>
            <a:ext cx="10058400" cy="274320"/>
          </a:xfrm>
          <a:prstGeom prst="rect">
            <a:avLst/>
          </a:prstGeom>
          <a:noFill/>
          <a:ln/>
        </p:spPr>
        <p:txBody>
          <a:bodyPr wrap="square" lIns="0" tIns="0" rIns="0" bIns="0" rtlCol="0" anchor="ctr"/>
          <a:lstStyle/>
          <a:p>
            <a:pPr indent="0" marL="0">
              <a:buNone/>
            </a:pPr>
            <a:r>
              <a:rPr lang="en-US" sz="900" dirty="0">
                <a:solidFill>
                  <a:srgbClr val="9AA4B0"/>
                </a:solidFill>
                <a:latin typeface="Calibri" pitchFamily="34" charset="0"/>
                <a:ea typeface="Calibri" pitchFamily="34" charset="-122"/>
                <a:cs typeface="Calibri" pitchFamily="34" charset="-120"/>
              </a:rPr>
              <a:t>SGIT-CCTV · Aceros Arequipa, Planta Pisco · Laminación (Trenes 1, 2 y 3)</a:t>
            </a:r>
            <a:endParaRPr lang="en-US" sz="900" dirty="0"/>
          </a:p>
        </p:txBody>
      </p:sp>
      <p:sp>
        <p:nvSpPr>
          <p:cNvPr id="5" name="Text 3"/>
          <p:cNvSpPr txBox="1"/>
          <p:nvPr/>
        </p:nvSpPr>
        <p:spPr>
          <a:xfrm>
            <a:off x="11338560" y="6400800"/>
            <a:ext cx="365760" cy="274320"/>
          </a:xfrm>
          <a:prstGeom prst="rect">
            <a:avLst/>
          </a:prstGeom>
          <a:noFill/>
          <a:ln/>
        </p:spPr>
        <p:txBody>
          <a:bodyPr wrap="square" lIns="0" tIns="0" rIns="0" bIns="0" rtlCol="0" anchor="ctr"/>
          <a:lstStyle/>
          <a:p>
            <a:pPr algn="r" indent="0" marL="0">
              <a:buNone/>
            </a:pPr>
            <a:r>
              <a:rPr lang="en-US" sz="1000" dirty="0">
                <a:solidFill>
                  <a:srgbClr val="5A6570"/>
                </a:solidFill>
                <a:latin typeface="Calibri" pitchFamily="34" charset="0"/>
                <a:ea typeface="Calibri" pitchFamily="34" charset="-122"/>
                <a:cs typeface="Calibri" pitchFamily="34" charset="-120"/>
              </a:rPr>
              <a:t>6</a:t>
            </a:r>
            <a:endParaRPr lang="en-US" sz="1000" dirty="0"/>
          </a:p>
        </p:txBody>
      </p:sp>
      <p:pic>
        <p:nvPicPr>
          <p:cNvPr id="6" name="Image 0" descr="img/bpmn_tobe.png">    </p:cNvPr>
          <p:cNvPicPr>
            <a:picLocks noChangeAspect="1"/>
          </p:cNvPicPr>
          <p:nvPr/>
        </p:nvPicPr>
        <p:blipFill>
          <a:blip r:embed="rId1"/>
          <a:srcRect l="0" r="0" t="0" b="0"/>
          <a:stretch/>
        </p:blipFill>
        <p:spPr>
          <a:xfrm>
            <a:off x="411480" y="1298448"/>
            <a:ext cx="11338560" cy="4956048"/>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1064240" cy="566928"/>
          </a:xfrm>
          <a:prstGeom prst="rect">
            <a:avLst/>
          </a:prstGeom>
          <a:noFill/>
          <a:ln/>
        </p:spPr>
        <p:txBody>
          <a:bodyPr wrap="square" lIns="0" tIns="0" rIns="0" bIns="0" rtlCol="0" anchor="ctr"/>
          <a:lstStyle/>
          <a:p>
            <a:pPr indent="0" marL="0">
              <a:buNone/>
            </a:pPr>
            <a:r>
              <a:rPr lang="en-US" sz="3000" b="1" dirty="0">
                <a:solidFill>
                  <a:srgbClr val="1B3A5C"/>
                </a:solidFill>
                <a:latin typeface="Cambria" pitchFamily="34" charset="0"/>
                <a:ea typeface="Cambria" pitchFamily="34" charset="-122"/>
                <a:cs typeface="Cambria" pitchFamily="34" charset="-120"/>
              </a:rPr>
              <a:t>Comparativa del proceso</a:t>
            </a:r>
            <a:endParaRPr lang="en-US" sz="3000" dirty="0"/>
          </a:p>
        </p:txBody>
      </p:sp>
      <p:sp>
        <p:nvSpPr>
          <p:cNvPr id="3" name="Text 1"/>
          <p:cNvSpPr txBox="1"/>
          <p:nvPr/>
        </p:nvSpPr>
        <p:spPr>
          <a:xfrm>
            <a:off x="548640" y="896112"/>
            <a:ext cx="11064240" cy="329184"/>
          </a:xfrm>
          <a:prstGeom prst="rect">
            <a:avLst/>
          </a:prstGeom>
          <a:noFill/>
          <a:ln/>
        </p:spPr>
        <p:txBody>
          <a:bodyPr wrap="square" lIns="0" tIns="0" rIns="0" bIns="0" rtlCol="0" anchor="ctr"/>
          <a:lstStyle/>
          <a:p>
            <a:pPr indent="0" marL="0">
              <a:buNone/>
            </a:pPr>
            <a:r>
              <a:rPr lang="en-US" sz="1350" dirty="0">
                <a:solidFill>
                  <a:srgbClr val="5A6570"/>
                </a:solidFill>
                <a:latin typeface="Calibri" pitchFamily="34" charset="0"/>
                <a:ea typeface="Calibri" pitchFamily="34" charset="-122"/>
                <a:cs typeface="Calibri" pitchFamily="34" charset="-120"/>
              </a:rPr>
              <a:t>Cada punto de fuga identificado y el control que lo sustituye</a:t>
            </a:r>
            <a:endParaRPr lang="en-US" sz="1350" dirty="0"/>
          </a:p>
        </p:txBody>
      </p:sp>
      <p:sp>
        <p:nvSpPr>
          <p:cNvPr id="4" name="Text 2"/>
          <p:cNvSpPr txBox="1"/>
          <p:nvPr/>
        </p:nvSpPr>
        <p:spPr>
          <a:xfrm>
            <a:off x="548640" y="6400800"/>
            <a:ext cx="10058400" cy="274320"/>
          </a:xfrm>
          <a:prstGeom prst="rect">
            <a:avLst/>
          </a:prstGeom>
          <a:noFill/>
          <a:ln/>
        </p:spPr>
        <p:txBody>
          <a:bodyPr wrap="square" lIns="0" tIns="0" rIns="0" bIns="0" rtlCol="0" anchor="ctr"/>
          <a:lstStyle/>
          <a:p>
            <a:pPr indent="0" marL="0">
              <a:buNone/>
            </a:pPr>
            <a:r>
              <a:rPr lang="en-US" sz="900" dirty="0">
                <a:solidFill>
                  <a:srgbClr val="9AA4B0"/>
                </a:solidFill>
                <a:latin typeface="Calibri" pitchFamily="34" charset="0"/>
                <a:ea typeface="Calibri" pitchFamily="34" charset="-122"/>
                <a:cs typeface="Calibri" pitchFamily="34" charset="-120"/>
              </a:rPr>
              <a:t>SGIT-CCTV · Aceros Arequipa, Planta Pisco · Laminación (Trenes 1, 2 y 3)</a:t>
            </a:r>
            <a:endParaRPr lang="en-US" sz="900" dirty="0"/>
          </a:p>
        </p:txBody>
      </p:sp>
      <p:sp>
        <p:nvSpPr>
          <p:cNvPr id="5" name="Text 3"/>
          <p:cNvSpPr txBox="1"/>
          <p:nvPr/>
        </p:nvSpPr>
        <p:spPr>
          <a:xfrm>
            <a:off x="11338560" y="6400800"/>
            <a:ext cx="365760" cy="274320"/>
          </a:xfrm>
          <a:prstGeom prst="rect">
            <a:avLst/>
          </a:prstGeom>
          <a:noFill/>
          <a:ln/>
        </p:spPr>
        <p:txBody>
          <a:bodyPr wrap="square" lIns="0" tIns="0" rIns="0" bIns="0" rtlCol="0" anchor="ctr"/>
          <a:lstStyle/>
          <a:p>
            <a:pPr algn="r" indent="0" marL="0">
              <a:buNone/>
            </a:pPr>
            <a:r>
              <a:rPr lang="en-US" sz="1000" dirty="0">
                <a:solidFill>
                  <a:srgbClr val="5A6570"/>
                </a:solidFill>
                <a:latin typeface="Calibri" pitchFamily="34" charset="0"/>
                <a:ea typeface="Calibri" pitchFamily="34" charset="-122"/>
                <a:cs typeface="Calibri" pitchFamily="34" charset="-120"/>
              </a:rPr>
              <a:t>7</a:t>
            </a:r>
            <a:endParaRPr lang="en-US" sz="1000" dirty="0"/>
          </a:p>
        </p:txBody>
      </p:sp>
      <p:sp>
        <p:nvSpPr>
          <p:cNvPr id="6" name="Shape 4"/>
          <p:cNvSpPr/>
          <p:nvPr/>
        </p:nvSpPr>
        <p:spPr>
          <a:xfrm>
            <a:off x="548640" y="1371600"/>
            <a:ext cx="5440680" cy="457200"/>
          </a:xfrm>
          <a:prstGeom prst="roundRect">
            <a:avLst>
              <a:gd name="adj" fmla="val 16000"/>
            </a:avLst>
          </a:prstGeom>
          <a:solidFill>
            <a:srgbClr val="B02418"/>
          </a:solidFill>
          <a:ln/>
        </p:spPr>
      </p:sp>
      <p:sp>
        <p:nvSpPr>
          <p:cNvPr id="7" name="Text 5"/>
          <p:cNvSpPr txBox="1"/>
          <p:nvPr/>
        </p:nvSpPr>
        <p:spPr>
          <a:xfrm>
            <a:off x="548640" y="1371600"/>
            <a:ext cx="544068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ANTES — sin sistema</a:t>
            </a:r>
            <a:endParaRPr lang="en-US" sz="1400" dirty="0"/>
          </a:p>
        </p:txBody>
      </p:sp>
      <p:sp>
        <p:nvSpPr>
          <p:cNvPr id="8" name="Shape 6"/>
          <p:cNvSpPr/>
          <p:nvPr/>
        </p:nvSpPr>
        <p:spPr>
          <a:xfrm>
            <a:off x="6172200" y="1371600"/>
            <a:ext cx="5440680" cy="457200"/>
          </a:xfrm>
          <a:prstGeom prst="roundRect">
            <a:avLst>
              <a:gd name="adj" fmla="val 16000"/>
            </a:avLst>
          </a:prstGeom>
          <a:solidFill>
            <a:srgbClr val="2E7D32"/>
          </a:solidFill>
          <a:ln/>
        </p:spPr>
      </p:sp>
      <p:sp>
        <p:nvSpPr>
          <p:cNvPr id="9" name="Text 7"/>
          <p:cNvSpPr txBox="1"/>
          <p:nvPr/>
        </p:nvSpPr>
        <p:spPr>
          <a:xfrm>
            <a:off x="6172200" y="1371600"/>
            <a:ext cx="544068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AHORA — con SGIT-CCTV</a:t>
            </a:r>
            <a:endParaRPr lang="en-US" sz="1400" dirty="0"/>
          </a:p>
        </p:txBody>
      </p:sp>
      <p:sp>
        <p:nvSpPr>
          <p:cNvPr id="10" name="Shape 8"/>
          <p:cNvSpPr/>
          <p:nvPr/>
        </p:nvSpPr>
        <p:spPr>
          <a:xfrm>
            <a:off x="548640" y="1938528"/>
            <a:ext cx="5440680" cy="502920"/>
          </a:xfrm>
          <a:prstGeom prst="roundRect">
            <a:avLst>
              <a:gd name="adj" fmla="val 14545"/>
            </a:avLst>
          </a:prstGeom>
          <a:solidFill>
            <a:srgbClr val="FDF1F0"/>
          </a:solidFill>
          <a:ln w="12700">
            <a:solidFill>
              <a:srgbClr val="F0DEDC"/>
            </a:solidFill>
            <a:prstDash val="solid"/>
          </a:ln>
        </p:spPr>
      </p:sp>
      <p:sp>
        <p:nvSpPr>
          <p:cNvPr id="11" name="Text 9"/>
          <p:cNvSpPr txBox="1"/>
          <p:nvPr/>
        </p:nvSpPr>
        <p:spPr>
          <a:xfrm>
            <a:off x="713232" y="1938528"/>
            <a:ext cx="5120640" cy="502920"/>
          </a:xfrm>
          <a:prstGeom prst="rect">
            <a:avLst/>
          </a:prstGeom>
          <a:noFill/>
          <a:ln/>
        </p:spPr>
        <p:txBody>
          <a:bodyPr wrap="square" lIns="0" tIns="0" rIns="0" bIns="0" rtlCol="0" anchor="ctr"/>
          <a:lstStyle/>
          <a:p>
            <a:pPr indent="0" marL="0">
              <a:buNone/>
            </a:pPr>
            <a:r>
              <a:rPr lang="en-US" sz="1100" dirty="0">
                <a:solidFill>
                  <a:srgbClr val="16283C"/>
                </a:solidFill>
                <a:latin typeface="Calibri" pitchFamily="34" charset="0"/>
                <a:ea typeface="Calibri" pitchFamily="34" charset="-122"/>
                <a:cs typeface="Calibri" pitchFamily="34" charset="-120"/>
              </a:rPr>
              <a:t>Aviso verbal y por WhatsApp, sin cola de trabajo</a:t>
            </a:r>
            <a:endParaRPr lang="en-US" sz="1100" dirty="0"/>
          </a:p>
        </p:txBody>
      </p:sp>
      <p:sp>
        <p:nvSpPr>
          <p:cNvPr id="12" name="Shape 10"/>
          <p:cNvSpPr/>
          <p:nvPr/>
        </p:nvSpPr>
        <p:spPr>
          <a:xfrm>
            <a:off x="6172200" y="1938528"/>
            <a:ext cx="5440680" cy="502920"/>
          </a:xfrm>
          <a:prstGeom prst="roundRect">
            <a:avLst>
              <a:gd name="adj" fmla="val 14545"/>
            </a:avLst>
          </a:prstGeom>
          <a:solidFill>
            <a:srgbClr val="EFF8EC"/>
          </a:solidFill>
          <a:ln w="12700">
            <a:solidFill>
              <a:srgbClr val="DCEEDA"/>
            </a:solidFill>
            <a:prstDash val="solid"/>
          </a:ln>
        </p:spPr>
      </p:sp>
      <p:sp>
        <p:nvSpPr>
          <p:cNvPr id="13" name="Text 11"/>
          <p:cNvSpPr txBox="1"/>
          <p:nvPr/>
        </p:nvSpPr>
        <p:spPr>
          <a:xfrm>
            <a:off x="6336792" y="1938528"/>
            <a:ext cx="5120640" cy="502920"/>
          </a:xfrm>
          <a:prstGeom prst="rect">
            <a:avLst/>
          </a:prstGeom>
          <a:noFill/>
          <a:ln/>
        </p:spPr>
        <p:txBody>
          <a:bodyPr wrap="square" lIns="0" tIns="0" rIns="0" bIns="0" rtlCol="0" anchor="ctr"/>
          <a:lstStyle/>
          <a:p>
            <a:pPr indent="0" marL="0">
              <a:buNone/>
            </a:pPr>
            <a:r>
              <a:rPr lang="en-US" sz="1100" dirty="0">
                <a:solidFill>
                  <a:srgbClr val="16283C"/>
                </a:solidFill>
                <a:latin typeface="Calibri" pitchFamily="34" charset="0"/>
                <a:ea typeface="Calibri" pitchFamily="34" charset="-122"/>
                <a:cs typeface="Calibri" pitchFamily="34" charset="-120"/>
              </a:rPr>
              <a:t>Registro obligatorio con autor, marca temporal y origen</a:t>
            </a:r>
            <a:endParaRPr lang="en-US" sz="1100" dirty="0"/>
          </a:p>
        </p:txBody>
      </p:sp>
      <p:sp>
        <p:nvSpPr>
          <p:cNvPr id="14" name="Shape 12"/>
          <p:cNvSpPr/>
          <p:nvPr/>
        </p:nvSpPr>
        <p:spPr>
          <a:xfrm>
            <a:off x="548640" y="2505456"/>
            <a:ext cx="5440680" cy="502920"/>
          </a:xfrm>
          <a:prstGeom prst="roundRect">
            <a:avLst>
              <a:gd name="adj" fmla="val 14545"/>
            </a:avLst>
          </a:prstGeom>
          <a:solidFill>
            <a:srgbClr val="FFFFFF"/>
          </a:solidFill>
          <a:ln w="12700">
            <a:solidFill>
              <a:srgbClr val="F0DEDC"/>
            </a:solidFill>
            <a:prstDash val="solid"/>
          </a:ln>
        </p:spPr>
      </p:sp>
      <p:sp>
        <p:nvSpPr>
          <p:cNvPr id="15" name="Text 13"/>
          <p:cNvSpPr txBox="1"/>
          <p:nvPr/>
        </p:nvSpPr>
        <p:spPr>
          <a:xfrm>
            <a:off x="713232" y="2505456"/>
            <a:ext cx="5120640" cy="502920"/>
          </a:xfrm>
          <a:prstGeom prst="rect">
            <a:avLst/>
          </a:prstGeom>
          <a:noFill/>
          <a:ln/>
        </p:spPr>
        <p:txBody>
          <a:bodyPr wrap="square" lIns="0" tIns="0" rIns="0" bIns="0" rtlCol="0" anchor="ctr"/>
          <a:lstStyle/>
          <a:p>
            <a:pPr indent="0" marL="0">
              <a:buNone/>
            </a:pPr>
            <a:r>
              <a:rPr lang="en-US" sz="1100" dirty="0">
                <a:solidFill>
                  <a:srgbClr val="16283C"/>
                </a:solidFill>
                <a:latin typeface="Calibri" pitchFamily="34" charset="0"/>
                <a:ea typeface="Calibri" pitchFamily="34" charset="-122"/>
                <a:cs typeface="Calibri" pitchFamily="34" charset="-120"/>
              </a:rPr>
              <a:t>Sin marca temporal de caída ni de restitución</a:t>
            </a:r>
            <a:endParaRPr lang="en-US" sz="1100" dirty="0"/>
          </a:p>
        </p:txBody>
      </p:sp>
      <p:sp>
        <p:nvSpPr>
          <p:cNvPr id="16" name="Shape 14"/>
          <p:cNvSpPr/>
          <p:nvPr/>
        </p:nvSpPr>
        <p:spPr>
          <a:xfrm>
            <a:off x="6172200" y="2505456"/>
            <a:ext cx="5440680" cy="502920"/>
          </a:xfrm>
          <a:prstGeom prst="roundRect">
            <a:avLst>
              <a:gd name="adj" fmla="val 14545"/>
            </a:avLst>
          </a:prstGeom>
          <a:solidFill>
            <a:srgbClr val="FFFFFF"/>
          </a:solidFill>
          <a:ln w="12700">
            <a:solidFill>
              <a:srgbClr val="DCEEDA"/>
            </a:solidFill>
            <a:prstDash val="solid"/>
          </a:ln>
        </p:spPr>
      </p:sp>
      <p:sp>
        <p:nvSpPr>
          <p:cNvPr id="17" name="Text 15"/>
          <p:cNvSpPr txBox="1"/>
          <p:nvPr/>
        </p:nvSpPr>
        <p:spPr>
          <a:xfrm>
            <a:off x="6336792" y="2505456"/>
            <a:ext cx="5120640" cy="502920"/>
          </a:xfrm>
          <a:prstGeom prst="rect">
            <a:avLst/>
          </a:prstGeom>
          <a:noFill/>
          <a:ln/>
        </p:spPr>
        <p:txBody>
          <a:bodyPr wrap="square" lIns="0" tIns="0" rIns="0" bIns="0" rtlCol="0" anchor="ctr"/>
          <a:lstStyle/>
          <a:p>
            <a:pPr indent="0" marL="0">
              <a:buNone/>
            </a:pPr>
            <a:r>
              <a:rPr lang="en-US" sz="1100" dirty="0">
                <a:solidFill>
                  <a:srgbClr val="16283C"/>
                </a:solidFill>
                <a:latin typeface="Calibri" pitchFamily="34" charset="0"/>
                <a:ea typeface="Calibri" pitchFamily="34" charset="-122"/>
                <a:cs typeface="Calibri" pitchFamily="34" charset="-120"/>
              </a:rPr>
              <a:t>Ocurrencia, reporte y resolución registradas por separado</a:t>
            </a:r>
            <a:endParaRPr lang="en-US" sz="1100" dirty="0"/>
          </a:p>
        </p:txBody>
      </p:sp>
      <p:sp>
        <p:nvSpPr>
          <p:cNvPr id="18" name="Shape 16"/>
          <p:cNvSpPr/>
          <p:nvPr/>
        </p:nvSpPr>
        <p:spPr>
          <a:xfrm>
            <a:off x="548640" y="3072384"/>
            <a:ext cx="5440680" cy="502920"/>
          </a:xfrm>
          <a:prstGeom prst="roundRect">
            <a:avLst>
              <a:gd name="adj" fmla="val 14545"/>
            </a:avLst>
          </a:prstGeom>
          <a:solidFill>
            <a:srgbClr val="FDF1F0"/>
          </a:solidFill>
          <a:ln w="12700">
            <a:solidFill>
              <a:srgbClr val="F0DEDC"/>
            </a:solidFill>
            <a:prstDash val="solid"/>
          </a:ln>
        </p:spPr>
      </p:sp>
      <p:sp>
        <p:nvSpPr>
          <p:cNvPr id="19" name="Text 17"/>
          <p:cNvSpPr txBox="1"/>
          <p:nvPr/>
        </p:nvSpPr>
        <p:spPr>
          <a:xfrm>
            <a:off x="713232" y="3072384"/>
            <a:ext cx="5120640" cy="502920"/>
          </a:xfrm>
          <a:prstGeom prst="rect">
            <a:avLst/>
          </a:prstGeom>
          <a:noFill/>
          <a:ln/>
        </p:spPr>
        <p:txBody>
          <a:bodyPr wrap="square" lIns="0" tIns="0" rIns="0" bIns="0" rtlCol="0" anchor="ctr"/>
          <a:lstStyle/>
          <a:p>
            <a:pPr indent="0" marL="0">
              <a:buNone/>
            </a:pPr>
            <a:r>
              <a:rPr lang="en-US" sz="1100" dirty="0">
                <a:solidFill>
                  <a:srgbClr val="16283C"/>
                </a:solidFill>
                <a:latin typeface="Calibri" pitchFamily="34" charset="0"/>
                <a:ea typeface="Calibri" pitchFamily="34" charset="-122"/>
                <a:cs typeface="Calibri" pitchFamily="34" charset="-120"/>
              </a:rPr>
              <a:t>Causa raíz transmitida verbalmente</a:t>
            </a:r>
            <a:endParaRPr lang="en-US" sz="1100" dirty="0"/>
          </a:p>
        </p:txBody>
      </p:sp>
      <p:sp>
        <p:nvSpPr>
          <p:cNvPr id="20" name="Shape 18"/>
          <p:cNvSpPr/>
          <p:nvPr/>
        </p:nvSpPr>
        <p:spPr>
          <a:xfrm>
            <a:off x="6172200" y="3072384"/>
            <a:ext cx="5440680" cy="502920"/>
          </a:xfrm>
          <a:prstGeom prst="roundRect">
            <a:avLst>
              <a:gd name="adj" fmla="val 14545"/>
            </a:avLst>
          </a:prstGeom>
          <a:solidFill>
            <a:srgbClr val="EFF8EC"/>
          </a:solidFill>
          <a:ln w="12700">
            <a:solidFill>
              <a:srgbClr val="DCEEDA"/>
            </a:solidFill>
            <a:prstDash val="solid"/>
          </a:ln>
        </p:spPr>
      </p:sp>
      <p:sp>
        <p:nvSpPr>
          <p:cNvPr id="21" name="Text 19"/>
          <p:cNvSpPr txBox="1"/>
          <p:nvPr/>
        </p:nvSpPr>
        <p:spPr>
          <a:xfrm>
            <a:off x="6336792" y="3072384"/>
            <a:ext cx="5120640" cy="502920"/>
          </a:xfrm>
          <a:prstGeom prst="rect">
            <a:avLst/>
          </a:prstGeom>
          <a:noFill/>
          <a:ln/>
        </p:spPr>
        <p:txBody>
          <a:bodyPr wrap="square" lIns="0" tIns="0" rIns="0" bIns="0" rtlCol="0" anchor="ctr"/>
          <a:lstStyle/>
          <a:p>
            <a:pPr indent="0" marL="0">
              <a:buNone/>
            </a:pPr>
            <a:r>
              <a:rPr lang="en-US" sz="1100" dirty="0">
                <a:solidFill>
                  <a:srgbClr val="16283C"/>
                </a:solidFill>
                <a:latin typeface="Calibri" pitchFamily="34" charset="0"/>
                <a:ea typeface="Calibri" pitchFamily="34" charset="-122"/>
                <a:cs typeface="Calibri" pitchFamily="34" charset="-120"/>
              </a:rPr>
              <a:t>Síntoma, causa y acción codificados desde catálogo controlado</a:t>
            </a:r>
            <a:endParaRPr lang="en-US" sz="1100" dirty="0"/>
          </a:p>
        </p:txBody>
      </p:sp>
      <p:sp>
        <p:nvSpPr>
          <p:cNvPr id="22" name="Shape 20"/>
          <p:cNvSpPr/>
          <p:nvPr/>
        </p:nvSpPr>
        <p:spPr>
          <a:xfrm>
            <a:off x="548640" y="3639312"/>
            <a:ext cx="5440680" cy="502920"/>
          </a:xfrm>
          <a:prstGeom prst="roundRect">
            <a:avLst>
              <a:gd name="adj" fmla="val 14545"/>
            </a:avLst>
          </a:prstGeom>
          <a:solidFill>
            <a:srgbClr val="FFFFFF"/>
          </a:solidFill>
          <a:ln w="12700">
            <a:solidFill>
              <a:srgbClr val="F0DEDC"/>
            </a:solidFill>
            <a:prstDash val="solid"/>
          </a:ln>
        </p:spPr>
      </p:sp>
      <p:sp>
        <p:nvSpPr>
          <p:cNvPr id="23" name="Text 21"/>
          <p:cNvSpPr txBox="1"/>
          <p:nvPr/>
        </p:nvSpPr>
        <p:spPr>
          <a:xfrm>
            <a:off x="713232" y="3639312"/>
            <a:ext cx="5120640" cy="502920"/>
          </a:xfrm>
          <a:prstGeom prst="rect">
            <a:avLst/>
          </a:prstGeom>
          <a:noFill/>
          <a:ln/>
        </p:spPr>
        <p:txBody>
          <a:bodyPr wrap="square" lIns="0" tIns="0" rIns="0" bIns="0" rtlCol="0" anchor="ctr"/>
          <a:lstStyle/>
          <a:p>
            <a:pPr indent="0" marL="0">
              <a:buNone/>
            </a:pPr>
            <a:r>
              <a:rPr lang="en-US" sz="1100" dirty="0">
                <a:solidFill>
                  <a:srgbClr val="16283C"/>
                </a:solidFill>
                <a:latin typeface="Calibri" pitchFamily="34" charset="0"/>
                <a:ea typeface="Calibri" pitchFamily="34" charset="-122"/>
                <a:cs typeface="Calibri" pitchFamily="34" charset="-120"/>
              </a:rPr>
              <a:t>Orden abierta en SAP y sin seguimiento posterior</a:t>
            </a:r>
            <a:endParaRPr lang="en-US" sz="1100" dirty="0"/>
          </a:p>
        </p:txBody>
      </p:sp>
      <p:sp>
        <p:nvSpPr>
          <p:cNvPr id="24" name="Shape 22"/>
          <p:cNvSpPr/>
          <p:nvPr/>
        </p:nvSpPr>
        <p:spPr>
          <a:xfrm>
            <a:off x="6172200" y="3639312"/>
            <a:ext cx="5440680" cy="502920"/>
          </a:xfrm>
          <a:prstGeom prst="roundRect">
            <a:avLst>
              <a:gd name="adj" fmla="val 14545"/>
            </a:avLst>
          </a:prstGeom>
          <a:solidFill>
            <a:srgbClr val="FFFFFF"/>
          </a:solidFill>
          <a:ln w="12700">
            <a:solidFill>
              <a:srgbClr val="DCEEDA"/>
            </a:solidFill>
            <a:prstDash val="solid"/>
          </a:ln>
        </p:spPr>
      </p:sp>
      <p:sp>
        <p:nvSpPr>
          <p:cNvPr id="25" name="Text 23"/>
          <p:cNvSpPr txBox="1"/>
          <p:nvPr/>
        </p:nvSpPr>
        <p:spPr>
          <a:xfrm>
            <a:off x="6336792" y="3639312"/>
            <a:ext cx="5120640" cy="502920"/>
          </a:xfrm>
          <a:prstGeom prst="rect">
            <a:avLst/>
          </a:prstGeom>
          <a:noFill/>
          <a:ln/>
        </p:spPr>
        <p:txBody>
          <a:bodyPr wrap="square" lIns="0" tIns="0" rIns="0" bIns="0" rtlCol="0" anchor="ctr"/>
          <a:lstStyle/>
          <a:p>
            <a:pPr indent="0" marL="0">
              <a:buNone/>
            </a:pPr>
            <a:r>
              <a:rPr lang="en-US" sz="1100" dirty="0">
                <a:solidFill>
                  <a:srgbClr val="16283C"/>
                </a:solidFill>
                <a:latin typeface="Calibri" pitchFamily="34" charset="0"/>
                <a:ea typeface="Calibri" pitchFamily="34" charset="-122"/>
                <a:cs typeface="Calibri" pitchFamily="34" charset="-120"/>
              </a:rPr>
              <a:t>Correlativo único por año y control de estado con guarda de concurrencia</a:t>
            </a:r>
            <a:endParaRPr lang="en-US" sz="1100" dirty="0"/>
          </a:p>
        </p:txBody>
      </p:sp>
      <p:sp>
        <p:nvSpPr>
          <p:cNvPr id="26" name="Shape 24"/>
          <p:cNvSpPr/>
          <p:nvPr/>
        </p:nvSpPr>
        <p:spPr>
          <a:xfrm>
            <a:off x="548640" y="4206240"/>
            <a:ext cx="5440680" cy="502920"/>
          </a:xfrm>
          <a:prstGeom prst="roundRect">
            <a:avLst>
              <a:gd name="adj" fmla="val 14545"/>
            </a:avLst>
          </a:prstGeom>
          <a:solidFill>
            <a:srgbClr val="FDF1F0"/>
          </a:solidFill>
          <a:ln w="12700">
            <a:solidFill>
              <a:srgbClr val="F0DEDC"/>
            </a:solidFill>
            <a:prstDash val="solid"/>
          </a:ln>
        </p:spPr>
      </p:sp>
      <p:sp>
        <p:nvSpPr>
          <p:cNvPr id="27" name="Text 25"/>
          <p:cNvSpPr txBox="1"/>
          <p:nvPr/>
        </p:nvSpPr>
        <p:spPr>
          <a:xfrm>
            <a:off x="713232" y="4206240"/>
            <a:ext cx="5120640" cy="502920"/>
          </a:xfrm>
          <a:prstGeom prst="rect">
            <a:avLst/>
          </a:prstGeom>
          <a:noFill/>
          <a:ln/>
        </p:spPr>
        <p:txBody>
          <a:bodyPr wrap="square" lIns="0" tIns="0" rIns="0" bIns="0" rtlCol="0" anchor="ctr"/>
          <a:lstStyle/>
          <a:p>
            <a:pPr indent="0" marL="0">
              <a:buNone/>
            </a:pPr>
            <a:r>
              <a:rPr lang="en-US" sz="1100" dirty="0">
                <a:solidFill>
                  <a:srgbClr val="16283C"/>
                </a:solidFill>
                <a:latin typeface="Calibri" pitchFamily="34" charset="0"/>
                <a:ea typeface="Calibri" pitchFamily="34" charset="-122"/>
                <a:cs typeface="Calibri" pitchFamily="34" charset="-120"/>
              </a:rPr>
              <a:t>Cierre sin control de responsabilidad</a:t>
            </a:r>
            <a:endParaRPr lang="en-US" sz="1100" dirty="0"/>
          </a:p>
        </p:txBody>
      </p:sp>
      <p:sp>
        <p:nvSpPr>
          <p:cNvPr id="28" name="Shape 26"/>
          <p:cNvSpPr/>
          <p:nvPr/>
        </p:nvSpPr>
        <p:spPr>
          <a:xfrm>
            <a:off x="6172200" y="4206240"/>
            <a:ext cx="5440680" cy="502920"/>
          </a:xfrm>
          <a:prstGeom prst="roundRect">
            <a:avLst>
              <a:gd name="adj" fmla="val 14545"/>
            </a:avLst>
          </a:prstGeom>
          <a:solidFill>
            <a:srgbClr val="EFF8EC"/>
          </a:solidFill>
          <a:ln w="12700">
            <a:solidFill>
              <a:srgbClr val="DCEEDA"/>
            </a:solidFill>
            <a:prstDash val="solid"/>
          </a:ln>
        </p:spPr>
      </p:sp>
      <p:sp>
        <p:nvSpPr>
          <p:cNvPr id="29" name="Text 27"/>
          <p:cNvSpPr txBox="1"/>
          <p:nvPr/>
        </p:nvSpPr>
        <p:spPr>
          <a:xfrm>
            <a:off x="6336792" y="4206240"/>
            <a:ext cx="5120640" cy="502920"/>
          </a:xfrm>
          <a:prstGeom prst="rect">
            <a:avLst/>
          </a:prstGeom>
          <a:noFill/>
          <a:ln/>
        </p:spPr>
        <p:txBody>
          <a:bodyPr wrap="square" lIns="0" tIns="0" rIns="0" bIns="0" rtlCol="0" anchor="ctr"/>
          <a:lstStyle/>
          <a:p>
            <a:pPr indent="0" marL="0">
              <a:buNone/>
            </a:pPr>
            <a:r>
              <a:rPr lang="en-US" sz="1100" dirty="0">
                <a:solidFill>
                  <a:srgbClr val="16283C"/>
                </a:solidFill>
                <a:latin typeface="Calibri" pitchFamily="34" charset="0"/>
                <a:ea typeface="Calibri" pitchFamily="34" charset="-122"/>
                <a:cs typeface="Calibri" pitchFamily="34" charset="-120"/>
              </a:rPr>
              <a:t>El cierre requiere firma digital y permiso específico de aprobación</a:t>
            </a:r>
            <a:endParaRPr lang="en-US" sz="1100" dirty="0"/>
          </a:p>
        </p:txBody>
      </p:sp>
      <p:sp>
        <p:nvSpPr>
          <p:cNvPr id="30" name="Shape 28"/>
          <p:cNvSpPr/>
          <p:nvPr/>
        </p:nvSpPr>
        <p:spPr>
          <a:xfrm>
            <a:off x="548640" y="4773168"/>
            <a:ext cx="5440680" cy="502920"/>
          </a:xfrm>
          <a:prstGeom prst="roundRect">
            <a:avLst>
              <a:gd name="adj" fmla="val 14545"/>
            </a:avLst>
          </a:prstGeom>
          <a:solidFill>
            <a:srgbClr val="FFFFFF"/>
          </a:solidFill>
          <a:ln w="12700">
            <a:solidFill>
              <a:srgbClr val="F0DEDC"/>
            </a:solidFill>
            <a:prstDash val="solid"/>
          </a:ln>
        </p:spPr>
      </p:sp>
      <p:sp>
        <p:nvSpPr>
          <p:cNvPr id="31" name="Text 29"/>
          <p:cNvSpPr txBox="1"/>
          <p:nvPr/>
        </p:nvSpPr>
        <p:spPr>
          <a:xfrm>
            <a:off x="713232" y="4773168"/>
            <a:ext cx="5120640" cy="502920"/>
          </a:xfrm>
          <a:prstGeom prst="rect">
            <a:avLst/>
          </a:prstGeom>
          <a:noFill/>
          <a:ln/>
        </p:spPr>
        <p:txBody>
          <a:bodyPr wrap="square" lIns="0" tIns="0" rIns="0" bIns="0" rtlCol="0" anchor="ctr"/>
          <a:lstStyle/>
          <a:p>
            <a:pPr indent="0" marL="0">
              <a:buNone/>
            </a:pPr>
            <a:r>
              <a:rPr lang="en-US" sz="1100" dirty="0">
                <a:solidFill>
                  <a:srgbClr val="16283C"/>
                </a:solidFill>
                <a:latin typeface="Calibri" pitchFamily="34" charset="0"/>
                <a:ea typeface="Calibri" pitchFamily="34" charset="-122"/>
                <a:cs typeface="Calibri" pitchFamily="34" charset="-120"/>
              </a:rPr>
              <a:t>Sin ficha del equipo: intervención lenta y sin planificar</a:t>
            </a:r>
            <a:endParaRPr lang="en-US" sz="1100" dirty="0"/>
          </a:p>
        </p:txBody>
      </p:sp>
      <p:sp>
        <p:nvSpPr>
          <p:cNvPr id="32" name="Shape 30"/>
          <p:cNvSpPr/>
          <p:nvPr/>
        </p:nvSpPr>
        <p:spPr>
          <a:xfrm>
            <a:off x="6172200" y="4773168"/>
            <a:ext cx="5440680" cy="502920"/>
          </a:xfrm>
          <a:prstGeom prst="roundRect">
            <a:avLst>
              <a:gd name="adj" fmla="val 14545"/>
            </a:avLst>
          </a:prstGeom>
          <a:solidFill>
            <a:srgbClr val="FFFFFF"/>
          </a:solidFill>
          <a:ln w="12700">
            <a:solidFill>
              <a:srgbClr val="DCEEDA"/>
            </a:solidFill>
            <a:prstDash val="solid"/>
          </a:ln>
        </p:spPr>
      </p:sp>
      <p:sp>
        <p:nvSpPr>
          <p:cNvPr id="33" name="Text 31"/>
          <p:cNvSpPr txBox="1"/>
          <p:nvPr/>
        </p:nvSpPr>
        <p:spPr>
          <a:xfrm>
            <a:off x="6336792" y="4773168"/>
            <a:ext cx="5120640" cy="502920"/>
          </a:xfrm>
          <a:prstGeom prst="rect">
            <a:avLst/>
          </a:prstGeom>
          <a:noFill/>
          <a:ln/>
        </p:spPr>
        <p:txBody>
          <a:bodyPr wrap="square" lIns="0" tIns="0" rIns="0" bIns="0" rtlCol="0" anchor="ctr"/>
          <a:lstStyle/>
          <a:p>
            <a:pPr indent="0" marL="0">
              <a:buNone/>
            </a:pPr>
            <a:r>
              <a:rPr lang="en-US" sz="1100" dirty="0">
                <a:solidFill>
                  <a:srgbClr val="16283C"/>
                </a:solidFill>
                <a:latin typeface="Calibri" pitchFamily="34" charset="0"/>
                <a:ea typeface="Calibri" pitchFamily="34" charset="-122"/>
                <a:cs typeface="Calibri" pitchFamily="34" charset="-120"/>
              </a:rPr>
              <a:t>Ficha con acceso, criticidad, historial y hoja de ruta antes de subir</a:t>
            </a:r>
            <a:endParaRPr lang="en-US" sz="1100" dirty="0"/>
          </a:p>
        </p:txBody>
      </p:sp>
      <p:sp>
        <p:nvSpPr>
          <p:cNvPr id="34" name="Shape 32"/>
          <p:cNvSpPr/>
          <p:nvPr/>
        </p:nvSpPr>
        <p:spPr>
          <a:xfrm>
            <a:off x="548640" y="5340096"/>
            <a:ext cx="5440680" cy="502920"/>
          </a:xfrm>
          <a:prstGeom prst="roundRect">
            <a:avLst>
              <a:gd name="adj" fmla="val 14545"/>
            </a:avLst>
          </a:prstGeom>
          <a:solidFill>
            <a:srgbClr val="FDF1F0"/>
          </a:solidFill>
          <a:ln w="12700">
            <a:solidFill>
              <a:srgbClr val="F0DEDC"/>
            </a:solidFill>
            <a:prstDash val="solid"/>
          </a:ln>
        </p:spPr>
      </p:sp>
      <p:sp>
        <p:nvSpPr>
          <p:cNvPr id="35" name="Text 33"/>
          <p:cNvSpPr txBox="1"/>
          <p:nvPr/>
        </p:nvSpPr>
        <p:spPr>
          <a:xfrm>
            <a:off x="713232" y="5340096"/>
            <a:ext cx="5120640" cy="502920"/>
          </a:xfrm>
          <a:prstGeom prst="rect">
            <a:avLst/>
          </a:prstGeom>
          <a:noFill/>
          <a:ln/>
        </p:spPr>
        <p:txBody>
          <a:bodyPr wrap="square" lIns="0" tIns="0" rIns="0" bIns="0" rtlCol="0" anchor="ctr"/>
          <a:lstStyle/>
          <a:p>
            <a:pPr indent="0" marL="0">
              <a:buNone/>
            </a:pPr>
            <a:r>
              <a:rPr lang="en-US" sz="1100" dirty="0">
                <a:solidFill>
                  <a:srgbClr val="16283C"/>
                </a:solidFill>
                <a:latin typeface="Calibri" pitchFamily="34" charset="0"/>
                <a:ea typeface="Calibri" pitchFamily="34" charset="-122"/>
                <a:cs typeface="Calibri" pitchFamily="34" charset="-120"/>
              </a:rPr>
              <a:t>Sin informe verificable</a:t>
            </a:r>
            <a:endParaRPr lang="en-US" sz="1100" dirty="0"/>
          </a:p>
        </p:txBody>
      </p:sp>
      <p:sp>
        <p:nvSpPr>
          <p:cNvPr id="36" name="Shape 34"/>
          <p:cNvSpPr/>
          <p:nvPr/>
        </p:nvSpPr>
        <p:spPr>
          <a:xfrm>
            <a:off x="6172200" y="5340096"/>
            <a:ext cx="5440680" cy="502920"/>
          </a:xfrm>
          <a:prstGeom prst="roundRect">
            <a:avLst>
              <a:gd name="adj" fmla="val 14545"/>
            </a:avLst>
          </a:prstGeom>
          <a:solidFill>
            <a:srgbClr val="EFF8EC"/>
          </a:solidFill>
          <a:ln w="12700">
            <a:solidFill>
              <a:srgbClr val="DCEEDA"/>
            </a:solidFill>
            <a:prstDash val="solid"/>
          </a:ln>
        </p:spPr>
      </p:sp>
      <p:sp>
        <p:nvSpPr>
          <p:cNvPr id="37" name="Text 35"/>
          <p:cNvSpPr txBox="1"/>
          <p:nvPr/>
        </p:nvSpPr>
        <p:spPr>
          <a:xfrm>
            <a:off x="6336792" y="5340096"/>
            <a:ext cx="5120640" cy="502920"/>
          </a:xfrm>
          <a:prstGeom prst="rect">
            <a:avLst/>
          </a:prstGeom>
          <a:noFill/>
          <a:ln/>
        </p:spPr>
        <p:txBody>
          <a:bodyPr wrap="square" lIns="0" tIns="0" rIns="0" bIns="0" rtlCol="0" anchor="ctr"/>
          <a:lstStyle/>
          <a:p>
            <a:pPr indent="0" marL="0">
              <a:buNone/>
            </a:pPr>
            <a:r>
              <a:rPr lang="en-US" sz="1100" dirty="0">
                <a:solidFill>
                  <a:srgbClr val="16283C"/>
                </a:solidFill>
                <a:latin typeface="Calibri" pitchFamily="34" charset="0"/>
                <a:ea typeface="Calibri" pitchFamily="34" charset="-122"/>
                <a:cs typeface="Calibri" pitchFamily="34" charset="-120"/>
              </a:rPr>
              <a:t>Informe PDF firmado y exportación íntegra a hoja de cálculo</a:t>
            </a:r>
            <a:endParaRPr lang="en-US" sz="1100" dirty="0"/>
          </a:p>
        </p:txBody>
      </p:sp>
      <p:sp>
        <p:nvSpPr>
          <p:cNvPr id="38" name="Shape 36"/>
          <p:cNvSpPr/>
          <p:nvPr/>
        </p:nvSpPr>
        <p:spPr>
          <a:xfrm>
            <a:off x="548640" y="5907024"/>
            <a:ext cx="5440680" cy="502920"/>
          </a:xfrm>
          <a:prstGeom prst="roundRect">
            <a:avLst>
              <a:gd name="adj" fmla="val 14545"/>
            </a:avLst>
          </a:prstGeom>
          <a:solidFill>
            <a:srgbClr val="FFFFFF"/>
          </a:solidFill>
          <a:ln w="12700">
            <a:solidFill>
              <a:srgbClr val="F0DEDC"/>
            </a:solidFill>
            <a:prstDash val="solid"/>
          </a:ln>
        </p:spPr>
      </p:sp>
      <p:sp>
        <p:nvSpPr>
          <p:cNvPr id="39" name="Text 37"/>
          <p:cNvSpPr txBox="1"/>
          <p:nvPr/>
        </p:nvSpPr>
        <p:spPr>
          <a:xfrm>
            <a:off x="713232" y="5907024"/>
            <a:ext cx="5120640" cy="502920"/>
          </a:xfrm>
          <a:prstGeom prst="rect">
            <a:avLst/>
          </a:prstGeom>
          <a:noFill/>
          <a:ln/>
        </p:spPr>
        <p:txBody>
          <a:bodyPr wrap="square" lIns="0" tIns="0" rIns="0" bIns="0" rtlCol="0" anchor="ctr"/>
          <a:lstStyle/>
          <a:p>
            <a:pPr indent="0" marL="0">
              <a:buNone/>
            </a:pPr>
            <a:r>
              <a:rPr lang="en-US" sz="1100" dirty="0">
                <a:solidFill>
                  <a:srgbClr val="16283C"/>
                </a:solidFill>
                <a:latin typeface="Calibri" pitchFamily="34" charset="0"/>
                <a:ea typeface="Calibri" pitchFamily="34" charset="-122"/>
                <a:cs typeface="Calibri" pitchFamily="34" charset="-120"/>
              </a:rPr>
              <a:t>Mantenimiento exclusivamente reactivo</a:t>
            </a:r>
            <a:endParaRPr lang="en-US" sz="1100" dirty="0"/>
          </a:p>
        </p:txBody>
      </p:sp>
      <p:sp>
        <p:nvSpPr>
          <p:cNvPr id="40" name="Shape 38"/>
          <p:cNvSpPr/>
          <p:nvPr/>
        </p:nvSpPr>
        <p:spPr>
          <a:xfrm>
            <a:off x="6172200" y="5907024"/>
            <a:ext cx="5440680" cy="502920"/>
          </a:xfrm>
          <a:prstGeom prst="roundRect">
            <a:avLst>
              <a:gd name="adj" fmla="val 14545"/>
            </a:avLst>
          </a:prstGeom>
          <a:solidFill>
            <a:srgbClr val="FFFFFF"/>
          </a:solidFill>
          <a:ln w="12700">
            <a:solidFill>
              <a:srgbClr val="DCEEDA"/>
            </a:solidFill>
            <a:prstDash val="solid"/>
          </a:ln>
        </p:spPr>
      </p:sp>
      <p:sp>
        <p:nvSpPr>
          <p:cNvPr id="41" name="Text 39"/>
          <p:cNvSpPr txBox="1"/>
          <p:nvPr/>
        </p:nvSpPr>
        <p:spPr>
          <a:xfrm>
            <a:off x="6336792" y="5907024"/>
            <a:ext cx="5120640" cy="502920"/>
          </a:xfrm>
          <a:prstGeom prst="rect">
            <a:avLst/>
          </a:prstGeom>
          <a:noFill/>
          <a:ln/>
        </p:spPr>
        <p:txBody>
          <a:bodyPr wrap="square" lIns="0" tIns="0" rIns="0" bIns="0" rtlCol="0" anchor="ctr"/>
          <a:lstStyle/>
          <a:p>
            <a:pPr indent="0" marL="0">
              <a:buNone/>
            </a:pPr>
            <a:r>
              <a:rPr lang="en-US" sz="1100" dirty="0">
                <a:solidFill>
                  <a:srgbClr val="16283C"/>
                </a:solidFill>
                <a:latin typeface="Calibri" pitchFamily="34" charset="0"/>
                <a:ea typeface="Calibri" pitchFamily="34" charset="-122"/>
                <a:cs typeface="Calibri" pitchFamily="34" charset="-120"/>
              </a:rPr>
              <a:t>Plan preventivo programado por criticidad A/B/C y hoja de ruta</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1064240" cy="566928"/>
          </a:xfrm>
          <a:prstGeom prst="rect">
            <a:avLst/>
          </a:prstGeom>
          <a:noFill/>
          <a:ln/>
        </p:spPr>
        <p:txBody>
          <a:bodyPr wrap="square" lIns="0" tIns="0" rIns="0" bIns="0" rtlCol="0" anchor="ctr"/>
          <a:lstStyle/>
          <a:p>
            <a:pPr indent="0" marL="0">
              <a:buNone/>
            </a:pPr>
            <a:r>
              <a:rPr lang="en-US" sz="3000" b="1" dirty="0">
                <a:solidFill>
                  <a:srgbClr val="1B3A5C"/>
                </a:solidFill>
                <a:latin typeface="Cambria" pitchFamily="34" charset="0"/>
                <a:ea typeface="Cambria" pitchFamily="34" charset="-122"/>
                <a:cs typeface="Cambria" pitchFamily="34" charset="-120"/>
              </a:rPr>
              <a:t>Dimensión del sistema</a:t>
            </a:r>
            <a:endParaRPr lang="en-US" sz="3000" dirty="0"/>
          </a:p>
        </p:txBody>
      </p:sp>
      <p:sp>
        <p:nvSpPr>
          <p:cNvPr id="3" name="Text 1"/>
          <p:cNvSpPr txBox="1"/>
          <p:nvPr/>
        </p:nvSpPr>
        <p:spPr>
          <a:xfrm>
            <a:off x="548640" y="896112"/>
            <a:ext cx="11064240" cy="329184"/>
          </a:xfrm>
          <a:prstGeom prst="rect">
            <a:avLst/>
          </a:prstGeom>
          <a:noFill/>
          <a:ln/>
        </p:spPr>
        <p:txBody>
          <a:bodyPr wrap="square" lIns="0" tIns="0" rIns="0" bIns="0" rtlCol="0" anchor="ctr"/>
          <a:lstStyle/>
          <a:p>
            <a:pPr indent="0" marL="0">
              <a:buNone/>
            </a:pPr>
            <a:r>
              <a:rPr lang="en-US" sz="1350" dirty="0">
                <a:solidFill>
                  <a:srgbClr val="5A6570"/>
                </a:solidFill>
                <a:latin typeface="Calibri" pitchFamily="34" charset="0"/>
                <a:ea typeface="Calibri" pitchFamily="34" charset="-122"/>
                <a:cs typeface="Calibri" pitchFamily="34" charset="-120"/>
              </a:rPr>
              <a:t>Cifras medidas sobre el repositorio a la fecha de esta presentación</a:t>
            </a:r>
            <a:endParaRPr lang="en-US" sz="1350" dirty="0"/>
          </a:p>
        </p:txBody>
      </p:sp>
      <p:sp>
        <p:nvSpPr>
          <p:cNvPr id="4" name="Text 2"/>
          <p:cNvSpPr txBox="1"/>
          <p:nvPr/>
        </p:nvSpPr>
        <p:spPr>
          <a:xfrm>
            <a:off x="548640" y="6400800"/>
            <a:ext cx="10058400" cy="274320"/>
          </a:xfrm>
          <a:prstGeom prst="rect">
            <a:avLst/>
          </a:prstGeom>
          <a:noFill/>
          <a:ln/>
        </p:spPr>
        <p:txBody>
          <a:bodyPr wrap="square" lIns="0" tIns="0" rIns="0" bIns="0" rtlCol="0" anchor="ctr"/>
          <a:lstStyle/>
          <a:p>
            <a:pPr indent="0" marL="0">
              <a:buNone/>
            </a:pPr>
            <a:r>
              <a:rPr lang="en-US" sz="900" dirty="0">
                <a:solidFill>
                  <a:srgbClr val="9AA4B0"/>
                </a:solidFill>
                <a:latin typeface="Calibri" pitchFamily="34" charset="0"/>
                <a:ea typeface="Calibri" pitchFamily="34" charset="-122"/>
                <a:cs typeface="Calibri" pitchFamily="34" charset="-120"/>
              </a:rPr>
              <a:t>SGIT-CCTV · Aceros Arequipa, Planta Pisco · Laminación (Trenes 1, 2 y 3)</a:t>
            </a:r>
            <a:endParaRPr lang="en-US" sz="900" dirty="0"/>
          </a:p>
        </p:txBody>
      </p:sp>
      <p:sp>
        <p:nvSpPr>
          <p:cNvPr id="5" name="Text 3"/>
          <p:cNvSpPr txBox="1"/>
          <p:nvPr/>
        </p:nvSpPr>
        <p:spPr>
          <a:xfrm>
            <a:off x="11338560" y="6400800"/>
            <a:ext cx="365760" cy="274320"/>
          </a:xfrm>
          <a:prstGeom prst="rect">
            <a:avLst/>
          </a:prstGeom>
          <a:noFill/>
          <a:ln/>
        </p:spPr>
        <p:txBody>
          <a:bodyPr wrap="square" lIns="0" tIns="0" rIns="0" bIns="0" rtlCol="0" anchor="ctr"/>
          <a:lstStyle/>
          <a:p>
            <a:pPr algn="r" indent="0" marL="0">
              <a:buNone/>
            </a:pPr>
            <a:r>
              <a:rPr lang="en-US" sz="1000" dirty="0">
                <a:solidFill>
                  <a:srgbClr val="5A6570"/>
                </a:solidFill>
                <a:latin typeface="Calibri" pitchFamily="34" charset="0"/>
                <a:ea typeface="Calibri" pitchFamily="34" charset="-122"/>
                <a:cs typeface="Calibri" pitchFamily="34" charset="-120"/>
              </a:rPr>
              <a:t>8</a:t>
            </a:r>
            <a:endParaRPr lang="en-US" sz="1000" dirty="0"/>
          </a:p>
        </p:txBody>
      </p:sp>
      <p:sp>
        <p:nvSpPr>
          <p:cNvPr id="6" name="Shape 4"/>
          <p:cNvSpPr/>
          <p:nvPr/>
        </p:nvSpPr>
        <p:spPr>
          <a:xfrm>
            <a:off x="548640" y="1481328"/>
            <a:ext cx="3520440" cy="1371600"/>
          </a:xfrm>
          <a:prstGeom prst="roundRect">
            <a:avLst>
              <a:gd name="adj" fmla="val 5333"/>
            </a:avLst>
          </a:prstGeom>
          <a:solidFill>
            <a:srgbClr val="F4F7FA"/>
          </a:solidFill>
          <a:ln w="12700">
            <a:solidFill>
              <a:srgbClr val="E3E9F0"/>
            </a:solidFill>
            <a:prstDash val="solid"/>
          </a:ln>
        </p:spPr>
      </p:sp>
      <p:sp>
        <p:nvSpPr>
          <p:cNvPr id="7" name="Text 5"/>
          <p:cNvSpPr txBox="1"/>
          <p:nvPr/>
        </p:nvSpPr>
        <p:spPr>
          <a:xfrm>
            <a:off x="731520" y="1645920"/>
            <a:ext cx="3154680" cy="713232"/>
          </a:xfrm>
          <a:prstGeom prst="rect">
            <a:avLst/>
          </a:prstGeom>
          <a:noFill/>
          <a:ln/>
        </p:spPr>
        <p:txBody>
          <a:bodyPr wrap="square" lIns="0" tIns="0" rIns="0" bIns="0" rtlCol="0" anchor="ctr"/>
          <a:lstStyle/>
          <a:p>
            <a:pPr indent="0" marL="0">
              <a:buNone/>
            </a:pPr>
            <a:r>
              <a:rPr lang="en-US" sz="4400" b="1" dirty="0">
                <a:solidFill>
                  <a:srgbClr val="2E75B6"/>
                </a:solidFill>
                <a:latin typeface="Cambria" pitchFamily="34" charset="0"/>
                <a:ea typeface="Cambria" pitchFamily="34" charset="-122"/>
                <a:cs typeface="Cambria" pitchFamily="34" charset="-120"/>
              </a:rPr>
              <a:t>42</a:t>
            </a:r>
            <a:endParaRPr lang="en-US" sz="4400" dirty="0"/>
          </a:p>
        </p:txBody>
      </p:sp>
      <p:sp>
        <p:nvSpPr>
          <p:cNvPr id="8" name="Text 6"/>
          <p:cNvSpPr txBox="1"/>
          <p:nvPr/>
        </p:nvSpPr>
        <p:spPr>
          <a:xfrm>
            <a:off x="731520" y="2395728"/>
            <a:ext cx="3154680" cy="329184"/>
          </a:xfrm>
          <a:prstGeom prst="rect">
            <a:avLst/>
          </a:prstGeom>
          <a:noFill/>
          <a:ln/>
        </p:spPr>
        <p:txBody>
          <a:bodyPr wrap="square" lIns="0" tIns="0" rIns="0" bIns="0" rtlCol="0" anchor="ctr"/>
          <a:lstStyle/>
          <a:p>
            <a:pPr indent="0" marL="0">
              <a:buNone/>
            </a:pPr>
            <a:r>
              <a:rPr lang="en-US" sz="1200" dirty="0">
                <a:solidFill>
                  <a:srgbClr val="5A6570"/>
                </a:solidFill>
                <a:latin typeface="Calibri" pitchFamily="34" charset="0"/>
                <a:ea typeface="Calibri" pitchFamily="34" charset="-122"/>
                <a:cs typeface="Calibri" pitchFamily="34" charset="-120"/>
              </a:rPr>
              <a:t>módulos de negocio</a:t>
            </a:r>
            <a:endParaRPr lang="en-US" sz="1200" dirty="0"/>
          </a:p>
        </p:txBody>
      </p:sp>
      <p:sp>
        <p:nvSpPr>
          <p:cNvPr id="9" name="Shape 7"/>
          <p:cNvSpPr/>
          <p:nvPr/>
        </p:nvSpPr>
        <p:spPr>
          <a:xfrm>
            <a:off x="4270248" y="1481328"/>
            <a:ext cx="3520440" cy="1371600"/>
          </a:xfrm>
          <a:prstGeom prst="roundRect">
            <a:avLst>
              <a:gd name="adj" fmla="val 5333"/>
            </a:avLst>
          </a:prstGeom>
          <a:solidFill>
            <a:srgbClr val="F4F7FA"/>
          </a:solidFill>
          <a:ln w="12700">
            <a:solidFill>
              <a:srgbClr val="E3E9F0"/>
            </a:solidFill>
            <a:prstDash val="solid"/>
          </a:ln>
        </p:spPr>
      </p:sp>
      <p:sp>
        <p:nvSpPr>
          <p:cNvPr id="10" name="Text 8"/>
          <p:cNvSpPr txBox="1"/>
          <p:nvPr/>
        </p:nvSpPr>
        <p:spPr>
          <a:xfrm>
            <a:off x="4453128" y="1645920"/>
            <a:ext cx="3154680" cy="713232"/>
          </a:xfrm>
          <a:prstGeom prst="rect">
            <a:avLst/>
          </a:prstGeom>
          <a:noFill/>
          <a:ln/>
        </p:spPr>
        <p:txBody>
          <a:bodyPr wrap="square" lIns="0" tIns="0" rIns="0" bIns="0" rtlCol="0" anchor="ctr"/>
          <a:lstStyle/>
          <a:p>
            <a:pPr indent="0" marL="0">
              <a:buNone/>
            </a:pPr>
            <a:r>
              <a:rPr lang="en-US" sz="4400" b="1" dirty="0">
                <a:solidFill>
                  <a:srgbClr val="2E75B6"/>
                </a:solidFill>
                <a:latin typeface="Cambria" pitchFamily="34" charset="0"/>
                <a:ea typeface="Cambria" pitchFamily="34" charset="-122"/>
                <a:cs typeface="Cambria" pitchFamily="34" charset="-120"/>
              </a:rPr>
              <a:t>353</a:t>
            </a:r>
            <a:endParaRPr lang="en-US" sz="4400" dirty="0"/>
          </a:p>
        </p:txBody>
      </p:sp>
      <p:sp>
        <p:nvSpPr>
          <p:cNvPr id="11" name="Text 9"/>
          <p:cNvSpPr txBox="1"/>
          <p:nvPr/>
        </p:nvSpPr>
        <p:spPr>
          <a:xfrm>
            <a:off x="4453128" y="2395728"/>
            <a:ext cx="3154680" cy="329184"/>
          </a:xfrm>
          <a:prstGeom prst="rect">
            <a:avLst/>
          </a:prstGeom>
          <a:noFill/>
          <a:ln/>
        </p:spPr>
        <p:txBody>
          <a:bodyPr wrap="square" lIns="0" tIns="0" rIns="0" bIns="0" rtlCol="0" anchor="ctr"/>
          <a:lstStyle/>
          <a:p>
            <a:pPr indent="0" marL="0">
              <a:buNone/>
            </a:pPr>
            <a:r>
              <a:rPr lang="en-US" sz="1200" dirty="0">
                <a:solidFill>
                  <a:srgbClr val="5A6570"/>
                </a:solidFill>
                <a:latin typeface="Calibri" pitchFamily="34" charset="0"/>
                <a:ea typeface="Calibri" pitchFamily="34" charset="-122"/>
                <a:cs typeface="Calibri" pitchFamily="34" charset="-120"/>
              </a:rPr>
              <a:t>endpoints REST</a:t>
            </a:r>
            <a:endParaRPr lang="en-US" sz="1200" dirty="0"/>
          </a:p>
        </p:txBody>
      </p:sp>
      <p:sp>
        <p:nvSpPr>
          <p:cNvPr id="12" name="Shape 10"/>
          <p:cNvSpPr/>
          <p:nvPr/>
        </p:nvSpPr>
        <p:spPr>
          <a:xfrm>
            <a:off x="7991856" y="1481328"/>
            <a:ext cx="3520440" cy="1371600"/>
          </a:xfrm>
          <a:prstGeom prst="roundRect">
            <a:avLst>
              <a:gd name="adj" fmla="val 5333"/>
            </a:avLst>
          </a:prstGeom>
          <a:solidFill>
            <a:srgbClr val="F4F7FA"/>
          </a:solidFill>
          <a:ln w="12700">
            <a:solidFill>
              <a:srgbClr val="E3E9F0"/>
            </a:solidFill>
            <a:prstDash val="solid"/>
          </a:ln>
        </p:spPr>
      </p:sp>
      <p:sp>
        <p:nvSpPr>
          <p:cNvPr id="13" name="Text 11"/>
          <p:cNvSpPr txBox="1"/>
          <p:nvPr/>
        </p:nvSpPr>
        <p:spPr>
          <a:xfrm>
            <a:off x="8174736" y="1645920"/>
            <a:ext cx="3154680" cy="713232"/>
          </a:xfrm>
          <a:prstGeom prst="rect">
            <a:avLst/>
          </a:prstGeom>
          <a:noFill/>
          <a:ln/>
        </p:spPr>
        <p:txBody>
          <a:bodyPr wrap="square" lIns="0" tIns="0" rIns="0" bIns="0" rtlCol="0" anchor="ctr"/>
          <a:lstStyle/>
          <a:p>
            <a:pPr indent="0" marL="0">
              <a:buNone/>
            </a:pPr>
            <a:r>
              <a:rPr lang="en-US" sz="4400" b="1" dirty="0">
                <a:solidFill>
                  <a:srgbClr val="2E75B6"/>
                </a:solidFill>
                <a:latin typeface="Cambria" pitchFamily="34" charset="0"/>
                <a:ea typeface="Cambria" pitchFamily="34" charset="-122"/>
                <a:cs typeface="Cambria" pitchFamily="34" charset="-120"/>
              </a:rPr>
              <a:t>78</a:t>
            </a:r>
            <a:endParaRPr lang="en-US" sz="4400" dirty="0"/>
          </a:p>
        </p:txBody>
      </p:sp>
      <p:sp>
        <p:nvSpPr>
          <p:cNvPr id="14" name="Text 12"/>
          <p:cNvSpPr txBox="1"/>
          <p:nvPr/>
        </p:nvSpPr>
        <p:spPr>
          <a:xfrm>
            <a:off x="8174736" y="2395728"/>
            <a:ext cx="3154680" cy="329184"/>
          </a:xfrm>
          <a:prstGeom prst="rect">
            <a:avLst/>
          </a:prstGeom>
          <a:noFill/>
          <a:ln/>
        </p:spPr>
        <p:txBody>
          <a:bodyPr wrap="square" lIns="0" tIns="0" rIns="0" bIns="0" rtlCol="0" anchor="ctr"/>
          <a:lstStyle/>
          <a:p>
            <a:pPr indent="0" marL="0">
              <a:buNone/>
            </a:pPr>
            <a:r>
              <a:rPr lang="en-US" sz="1200" dirty="0">
                <a:solidFill>
                  <a:srgbClr val="5A6570"/>
                </a:solidFill>
                <a:latin typeface="Calibri" pitchFamily="34" charset="0"/>
                <a:ea typeface="Calibri" pitchFamily="34" charset="-122"/>
                <a:cs typeface="Calibri" pitchFamily="34" charset="-120"/>
              </a:rPr>
              <a:t>modelos de datos</a:t>
            </a:r>
            <a:endParaRPr lang="en-US" sz="1200" dirty="0"/>
          </a:p>
        </p:txBody>
      </p:sp>
      <p:sp>
        <p:nvSpPr>
          <p:cNvPr id="15" name="Shape 13"/>
          <p:cNvSpPr/>
          <p:nvPr/>
        </p:nvSpPr>
        <p:spPr>
          <a:xfrm>
            <a:off x="548640" y="3054096"/>
            <a:ext cx="3520440" cy="1371600"/>
          </a:xfrm>
          <a:prstGeom prst="roundRect">
            <a:avLst>
              <a:gd name="adj" fmla="val 5333"/>
            </a:avLst>
          </a:prstGeom>
          <a:solidFill>
            <a:srgbClr val="F4F7FA"/>
          </a:solidFill>
          <a:ln w="12700">
            <a:solidFill>
              <a:srgbClr val="E3E9F0"/>
            </a:solidFill>
            <a:prstDash val="solid"/>
          </a:ln>
        </p:spPr>
      </p:sp>
      <p:sp>
        <p:nvSpPr>
          <p:cNvPr id="16" name="Text 14"/>
          <p:cNvSpPr txBox="1"/>
          <p:nvPr/>
        </p:nvSpPr>
        <p:spPr>
          <a:xfrm>
            <a:off x="731520" y="3218688"/>
            <a:ext cx="3154680" cy="713232"/>
          </a:xfrm>
          <a:prstGeom prst="rect">
            <a:avLst/>
          </a:prstGeom>
          <a:noFill/>
          <a:ln/>
        </p:spPr>
        <p:txBody>
          <a:bodyPr wrap="square" lIns="0" tIns="0" rIns="0" bIns="0" rtlCol="0" anchor="ctr"/>
          <a:lstStyle/>
          <a:p>
            <a:pPr indent="0" marL="0">
              <a:buNone/>
            </a:pPr>
            <a:r>
              <a:rPr lang="en-US" sz="4400" b="1" dirty="0">
                <a:solidFill>
                  <a:srgbClr val="D9642B"/>
                </a:solidFill>
                <a:latin typeface="Cambria" pitchFamily="34" charset="0"/>
                <a:ea typeface="Cambria" pitchFamily="34" charset="-122"/>
                <a:cs typeface="Cambria" pitchFamily="34" charset="-120"/>
              </a:rPr>
              <a:t>52</a:t>
            </a:r>
            <a:endParaRPr lang="en-US" sz="4400" dirty="0"/>
          </a:p>
        </p:txBody>
      </p:sp>
      <p:sp>
        <p:nvSpPr>
          <p:cNvPr id="17" name="Text 15"/>
          <p:cNvSpPr txBox="1"/>
          <p:nvPr/>
        </p:nvSpPr>
        <p:spPr>
          <a:xfrm>
            <a:off x="731520" y="3968496"/>
            <a:ext cx="3154680" cy="329184"/>
          </a:xfrm>
          <a:prstGeom prst="rect">
            <a:avLst/>
          </a:prstGeom>
          <a:noFill/>
          <a:ln/>
        </p:spPr>
        <p:txBody>
          <a:bodyPr wrap="square" lIns="0" tIns="0" rIns="0" bIns="0" rtlCol="0" anchor="ctr"/>
          <a:lstStyle/>
          <a:p>
            <a:pPr indent="0" marL="0">
              <a:buNone/>
            </a:pPr>
            <a:r>
              <a:rPr lang="en-US" sz="1200" dirty="0">
                <a:solidFill>
                  <a:srgbClr val="5A6570"/>
                </a:solidFill>
                <a:latin typeface="Calibri" pitchFamily="34" charset="0"/>
                <a:ea typeface="Calibri" pitchFamily="34" charset="-122"/>
                <a:cs typeface="Calibri" pitchFamily="34" charset="-120"/>
              </a:rPr>
              <a:t>pantallas en el menú</a:t>
            </a:r>
            <a:endParaRPr lang="en-US" sz="1200" dirty="0"/>
          </a:p>
        </p:txBody>
      </p:sp>
      <p:sp>
        <p:nvSpPr>
          <p:cNvPr id="18" name="Shape 16"/>
          <p:cNvSpPr/>
          <p:nvPr/>
        </p:nvSpPr>
        <p:spPr>
          <a:xfrm>
            <a:off x="4270248" y="3054096"/>
            <a:ext cx="3520440" cy="1371600"/>
          </a:xfrm>
          <a:prstGeom prst="roundRect">
            <a:avLst>
              <a:gd name="adj" fmla="val 5333"/>
            </a:avLst>
          </a:prstGeom>
          <a:solidFill>
            <a:srgbClr val="F4F7FA"/>
          </a:solidFill>
          <a:ln w="12700">
            <a:solidFill>
              <a:srgbClr val="E3E9F0"/>
            </a:solidFill>
            <a:prstDash val="solid"/>
          </a:ln>
        </p:spPr>
      </p:sp>
      <p:sp>
        <p:nvSpPr>
          <p:cNvPr id="19" name="Text 17"/>
          <p:cNvSpPr txBox="1"/>
          <p:nvPr/>
        </p:nvSpPr>
        <p:spPr>
          <a:xfrm>
            <a:off x="4453128" y="3218688"/>
            <a:ext cx="3154680" cy="713232"/>
          </a:xfrm>
          <a:prstGeom prst="rect">
            <a:avLst/>
          </a:prstGeom>
          <a:noFill/>
          <a:ln/>
        </p:spPr>
        <p:txBody>
          <a:bodyPr wrap="square" lIns="0" tIns="0" rIns="0" bIns="0" rtlCol="0" anchor="ctr"/>
          <a:lstStyle/>
          <a:p>
            <a:pPr indent="0" marL="0">
              <a:buNone/>
            </a:pPr>
            <a:r>
              <a:rPr lang="en-US" sz="4400" b="1" dirty="0">
                <a:solidFill>
                  <a:srgbClr val="D9642B"/>
                </a:solidFill>
                <a:latin typeface="Cambria" pitchFamily="34" charset="0"/>
                <a:ea typeface="Cambria" pitchFamily="34" charset="-122"/>
                <a:cs typeface="Cambria" pitchFamily="34" charset="-120"/>
              </a:rPr>
              <a:t>52</a:t>
            </a:r>
            <a:endParaRPr lang="en-US" sz="4400" dirty="0"/>
          </a:p>
        </p:txBody>
      </p:sp>
      <p:sp>
        <p:nvSpPr>
          <p:cNvPr id="20" name="Text 18"/>
          <p:cNvSpPr txBox="1"/>
          <p:nvPr/>
        </p:nvSpPr>
        <p:spPr>
          <a:xfrm>
            <a:off x="4453128" y="3968496"/>
            <a:ext cx="3154680" cy="329184"/>
          </a:xfrm>
          <a:prstGeom prst="rect">
            <a:avLst/>
          </a:prstGeom>
          <a:noFill/>
          <a:ln/>
        </p:spPr>
        <p:txBody>
          <a:bodyPr wrap="square" lIns="0" tIns="0" rIns="0" bIns="0" rtlCol="0" anchor="ctr"/>
          <a:lstStyle/>
          <a:p>
            <a:pPr indent="0" marL="0">
              <a:buNone/>
            </a:pPr>
            <a:r>
              <a:rPr lang="en-US" sz="1200" dirty="0">
                <a:solidFill>
                  <a:srgbClr val="5A6570"/>
                </a:solidFill>
                <a:latin typeface="Calibri" pitchFamily="34" charset="0"/>
                <a:ea typeface="Calibri" pitchFamily="34" charset="-122"/>
                <a:cs typeface="Calibri" pitchFamily="34" charset="-120"/>
              </a:rPr>
              <a:t>migraciones aplicadas</a:t>
            </a:r>
            <a:endParaRPr lang="en-US" sz="1200" dirty="0"/>
          </a:p>
        </p:txBody>
      </p:sp>
      <p:sp>
        <p:nvSpPr>
          <p:cNvPr id="21" name="Shape 19"/>
          <p:cNvSpPr/>
          <p:nvPr/>
        </p:nvSpPr>
        <p:spPr>
          <a:xfrm>
            <a:off x="7991856" y="3054096"/>
            <a:ext cx="3520440" cy="1371600"/>
          </a:xfrm>
          <a:prstGeom prst="roundRect">
            <a:avLst>
              <a:gd name="adj" fmla="val 5333"/>
            </a:avLst>
          </a:prstGeom>
          <a:solidFill>
            <a:srgbClr val="F4F7FA"/>
          </a:solidFill>
          <a:ln w="12700">
            <a:solidFill>
              <a:srgbClr val="E3E9F0"/>
            </a:solidFill>
            <a:prstDash val="solid"/>
          </a:ln>
        </p:spPr>
      </p:sp>
      <p:sp>
        <p:nvSpPr>
          <p:cNvPr id="22" name="Text 20"/>
          <p:cNvSpPr txBox="1"/>
          <p:nvPr/>
        </p:nvSpPr>
        <p:spPr>
          <a:xfrm>
            <a:off x="8174736" y="3218688"/>
            <a:ext cx="3154680" cy="713232"/>
          </a:xfrm>
          <a:prstGeom prst="rect">
            <a:avLst/>
          </a:prstGeom>
          <a:noFill/>
          <a:ln/>
        </p:spPr>
        <p:txBody>
          <a:bodyPr wrap="square" lIns="0" tIns="0" rIns="0" bIns="0" rtlCol="0" anchor="ctr"/>
          <a:lstStyle/>
          <a:p>
            <a:pPr indent="0" marL="0">
              <a:buNone/>
            </a:pPr>
            <a:r>
              <a:rPr lang="en-US" sz="4400" b="1" dirty="0">
                <a:solidFill>
                  <a:srgbClr val="D9642B"/>
                </a:solidFill>
                <a:latin typeface="Cambria" pitchFamily="34" charset="0"/>
                <a:ea typeface="Cambria" pitchFamily="34" charset="-122"/>
                <a:cs typeface="Cambria" pitchFamily="34" charset="-120"/>
              </a:rPr>
              <a:t>44</a:t>
            </a:r>
            <a:endParaRPr lang="en-US" sz="4400" dirty="0"/>
          </a:p>
        </p:txBody>
      </p:sp>
      <p:sp>
        <p:nvSpPr>
          <p:cNvPr id="23" name="Text 21"/>
          <p:cNvSpPr txBox="1"/>
          <p:nvPr/>
        </p:nvSpPr>
        <p:spPr>
          <a:xfrm>
            <a:off x="8174736" y="3968496"/>
            <a:ext cx="3154680" cy="329184"/>
          </a:xfrm>
          <a:prstGeom prst="rect">
            <a:avLst/>
          </a:prstGeom>
          <a:noFill/>
          <a:ln/>
        </p:spPr>
        <p:txBody>
          <a:bodyPr wrap="square" lIns="0" tIns="0" rIns="0" bIns="0" rtlCol="0" anchor="ctr"/>
          <a:lstStyle/>
          <a:p>
            <a:pPr indent="0" marL="0">
              <a:buNone/>
            </a:pPr>
            <a:r>
              <a:rPr lang="en-US" sz="1200" dirty="0">
                <a:solidFill>
                  <a:srgbClr val="5A6570"/>
                </a:solidFill>
                <a:latin typeface="Calibri" pitchFamily="34" charset="0"/>
                <a:ea typeface="Calibri" pitchFamily="34" charset="-122"/>
                <a:cs typeface="Calibri" pitchFamily="34" charset="-120"/>
              </a:rPr>
              <a:t>permisos de catálogo</a:t>
            </a:r>
            <a:endParaRPr lang="en-US" sz="1200" dirty="0"/>
          </a:p>
        </p:txBody>
      </p:sp>
      <p:sp>
        <p:nvSpPr>
          <p:cNvPr id="24" name="Shape 22"/>
          <p:cNvSpPr/>
          <p:nvPr/>
        </p:nvSpPr>
        <p:spPr>
          <a:xfrm>
            <a:off x="548640" y="4626864"/>
            <a:ext cx="3520440" cy="1371600"/>
          </a:xfrm>
          <a:prstGeom prst="roundRect">
            <a:avLst>
              <a:gd name="adj" fmla="val 5333"/>
            </a:avLst>
          </a:prstGeom>
          <a:solidFill>
            <a:srgbClr val="F4F7FA"/>
          </a:solidFill>
          <a:ln w="12700">
            <a:solidFill>
              <a:srgbClr val="E3E9F0"/>
            </a:solidFill>
            <a:prstDash val="solid"/>
          </a:ln>
        </p:spPr>
      </p:sp>
      <p:sp>
        <p:nvSpPr>
          <p:cNvPr id="25" name="Text 23"/>
          <p:cNvSpPr txBox="1"/>
          <p:nvPr/>
        </p:nvSpPr>
        <p:spPr>
          <a:xfrm>
            <a:off x="731520" y="4791456"/>
            <a:ext cx="3154680" cy="713232"/>
          </a:xfrm>
          <a:prstGeom prst="rect">
            <a:avLst/>
          </a:prstGeom>
          <a:noFill/>
          <a:ln/>
        </p:spPr>
        <p:txBody>
          <a:bodyPr wrap="square" lIns="0" tIns="0" rIns="0" bIns="0" rtlCol="0" anchor="ctr"/>
          <a:lstStyle/>
          <a:p>
            <a:pPr indent="0" marL="0">
              <a:buNone/>
            </a:pPr>
            <a:r>
              <a:rPr lang="en-US" sz="4400" b="1" dirty="0">
                <a:solidFill>
                  <a:srgbClr val="2E7D32"/>
                </a:solidFill>
                <a:latin typeface="Cambria" pitchFamily="34" charset="0"/>
                <a:ea typeface="Cambria" pitchFamily="34" charset="-122"/>
                <a:cs typeface="Cambria" pitchFamily="34" charset="-120"/>
              </a:rPr>
              <a:t>797</a:t>
            </a:r>
            <a:endParaRPr lang="en-US" sz="4400" dirty="0"/>
          </a:p>
        </p:txBody>
      </p:sp>
      <p:sp>
        <p:nvSpPr>
          <p:cNvPr id="26" name="Text 24"/>
          <p:cNvSpPr txBox="1"/>
          <p:nvPr/>
        </p:nvSpPr>
        <p:spPr>
          <a:xfrm>
            <a:off x="731520" y="5541264"/>
            <a:ext cx="3154680" cy="329184"/>
          </a:xfrm>
          <a:prstGeom prst="rect">
            <a:avLst/>
          </a:prstGeom>
          <a:noFill/>
          <a:ln/>
        </p:spPr>
        <p:txBody>
          <a:bodyPr wrap="square" lIns="0" tIns="0" rIns="0" bIns="0" rtlCol="0" anchor="ctr"/>
          <a:lstStyle/>
          <a:p>
            <a:pPr indent="0" marL="0">
              <a:buNone/>
            </a:pPr>
            <a:r>
              <a:rPr lang="en-US" sz="1200" dirty="0">
                <a:solidFill>
                  <a:srgbClr val="5A6570"/>
                </a:solidFill>
                <a:latin typeface="Calibri" pitchFamily="34" charset="0"/>
                <a:ea typeface="Calibri" pitchFamily="34" charset="-122"/>
                <a:cs typeface="Calibri" pitchFamily="34" charset="-120"/>
              </a:rPr>
              <a:t>pruebas automáticas</a:t>
            </a:r>
            <a:endParaRPr lang="en-US" sz="1200" dirty="0"/>
          </a:p>
        </p:txBody>
      </p:sp>
      <p:sp>
        <p:nvSpPr>
          <p:cNvPr id="27" name="Shape 25"/>
          <p:cNvSpPr/>
          <p:nvPr/>
        </p:nvSpPr>
        <p:spPr>
          <a:xfrm>
            <a:off x="4270248" y="4626864"/>
            <a:ext cx="3520440" cy="1371600"/>
          </a:xfrm>
          <a:prstGeom prst="roundRect">
            <a:avLst>
              <a:gd name="adj" fmla="val 5333"/>
            </a:avLst>
          </a:prstGeom>
          <a:solidFill>
            <a:srgbClr val="F4F7FA"/>
          </a:solidFill>
          <a:ln w="12700">
            <a:solidFill>
              <a:srgbClr val="E3E9F0"/>
            </a:solidFill>
            <a:prstDash val="solid"/>
          </a:ln>
        </p:spPr>
      </p:sp>
      <p:sp>
        <p:nvSpPr>
          <p:cNvPr id="28" name="Text 26"/>
          <p:cNvSpPr txBox="1"/>
          <p:nvPr/>
        </p:nvSpPr>
        <p:spPr>
          <a:xfrm>
            <a:off x="4453128" y="4791456"/>
            <a:ext cx="3154680" cy="713232"/>
          </a:xfrm>
          <a:prstGeom prst="rect">
            <a:avLst/>
          </a:prstGeom>
          <a:noFill/>
          <a:ln/>
        </p:spPr>
        <p:txBody>
          <a:bodyPr wrap="square" lIns="0" tIns="0" rIns="0" bIns="0" rtlCol="0" anchor="ctr"/>
          <a:lstStyle/>
          <a:p>
            <a:pPr indent="0" marL="0">
              <a:buNone/>
            </a:pPr>
            <a:r>
              <a:rPr lang="en-US" sz="4400" b="1" dirty="0">
                <a:solidFill>
                  <a:srgbClr val="2E7D32"/>
                </a:solidFill>
                <a:latin typeface="Cambria" pitchFamily="34" charset="0"/>
                <a:ea typeface="Cambria" pitchFamily="34" charset="-122"/>
                <a:cs typeface="Cambria" pitchFamily="34" charset="-120"/>
              </a:rPr>
              <a:t>30</a:t>
            </a:r>
            <a:endParaRPr lang="en-US" sz="4400" dirty="0"/>
          </a:p>
        </p:txBody>
      </p:sp>
      <p:sp>
        <p:nvSpPr>
          <p:cNvPr id="29" name="Text 27"/>
          <p:cNvSpPr txBox="1"/>
          <p:nvPr/>
        </p:nvSpPr>
        <p:spPr>
          <a:xfrm>
            <a:off x="4453128" y="5541264"/>
            <a:ext cx="3154680" cy="329184"/>
          </a:xfrm>
          <a:prstGeom prst="rect">
            <a:avLst/>
          </a:prstGeom>
          <a:noFill/>
          <a:ln/>
        </p:spPr>
        <p:txBody>
          <a:bodyPr wrap="square" lIns="0" tIns="0" rIns="0" bIns="0" rtlCol="0" anchor="ctr"/>
          <a:lstStyle/>
          <a:p>
            <a:pPr indent="0" marL="0">
              <a:buNone/>
            </a:pPr>
            <a:r>
              <a:rPr lang="en-US" sz="1200" dirty="0">
                <a:solidFill>
                  <a:srgbClr val="5A6570"/>
                </a:solidFill>
                <a:latin typeface="Calibri" pitchFamily="34" charset="0"/>
                <a:ea typeface="Calibri" pitchFamily="34" charset="-122"/>
                <a:cs typeface="Calibri" pitchFamily="34" charset="-120"/>
              </a:rPr>
              <a:t>verificadores propios</a:t>
            </a:r>
            <a:endParaRPr lang="en-US" sz="1200" dirty="0"/>
          </a:p>
        </p:txBody>
      </p:sp>
      <p:sp>
        <p:nvSpPr>
          <p:cNvPr id="30" name="Shape 28"/>
          <p:cNvSpPr/>
          <p:nvPr/>
        </p:nvSpPr>
        <p:spPr>
          <a:xfrm>
            <a:off x="7991856" y="4626864"/>
            <a:ext cx="3520440" cy="1371600"/>
          </a:xfrm>
          <a:prstGeom prst="roundRect">
            <a:avLst>
              <a:gd name="adj" fmla="val 5333"/>
            </a:avLst>
          </a:prstGeom>
          <a:solidFill>
            <a:srgbClr val="F4F7FA"/>
          </a:solidFill>
          <a:ln w="12700">
            <a:solidFill>
              <a:srgbClr val="E3E9F0"/>
            </a:solidFill>
            <a:prstDash val="solid"/>
          </a:ln>
        </p:spPr>
      </p:sp>
      <p:sp>
        <p:nvSpPr>
          <p:cNvPr id="31" name="Text 29"/>
          <p:cNvSpPr txBox="1"/>
          <p:nvPr/>
        </p:nvSpPr>
        <p:spPr>
          <a:xfrm>
            <a:off x="8174736" y="4791456"/>
            <a:ext cx="3154680" cy="713232"/>
          </a:xfrm>
          <a:prstGeom prst="rect">
            <a:avLst/>
          </a:prstGeom>
          <a:noFill/>
          <a:ln/>
        </p:spPr>
        <p:txBody>
          <a:bodyPr wrap="square" lIns="0" tIns="0" rIns="0" bIns="0" rtlCol="0" anchor="ctr"/>
          <a:lstStyle/>
          <a:p>
            <a:pPr indent="0" marL="0">
              <a:buNone/>
            </a:pPr>
            <a:r>
              <a:rPr lang="en-US" sz="4400" b="1" dirty="0">
                <a:solidFill>
                  <a:srgbClr val="2E7D32"/>
                </a:solidFill>
                <a:latin typeface="Cambria" pitchFamily="34" charset="0"/>
                <a:ea typeface="Cambria" pitchFamily="34" charset="-122"/>
                <a:cs typeface="Cambria" pitchFamily="34" charset="-120"/>
              </a:rPr>
              <a:t>73k</a:t>
            </a:r>
            <a:endParaRPr lang="en-US" sz="4400" dirty="0"/>
          </a:p>
        </p:txBody>
      </p:sp>
      <p:sp>
        <p:nvSpPr>
          <p:cNvPr id="32" name="Text 30"/>
          <p:cNvSpPr txBox="1"/>
          <p:nvPr/>
        </p:nvSpPr>
        <p:spPr>
          <a:xfrm>
            <a:off x="8174736" y="5541264"/>
            <a:ext cx="3154680" cy="329184"/>
          </a:xfrm>
          <a:prstGeom prst="rect">
            <a:avLst/>
          </a:prstGeom>
          <a:noFill/>
          <a:ln/>
        </p:spPr>
        <p:txBody>
          <a:bodyPr wrap="square" lIns="0" tIns="0" rIns="0" bIns="0" rtlCol="0" anchor="ctr"/>
          <a:lstStyle/>
          <a:p>
            <a:pPr indent="0" marL="0">
              <a:buNone/>
            </a:pPr>
            <a:r>
              <a:rPr lang="en-US" sz="1200" dirty="0">
                <a:solidFill>
                  <a:srgbClr val="5A6570"/>
                </a:solidFill>
                <a:latin typeface="Calibri" pitchFamily="34" charset="0"/>
                <a:ea typeface="Calibri" pitchFamily="34" charset="-122"/>
                <a:cs typeface="Calibri" pitchFamily="34" charset="-120"/>
              </a:rPr>
              <a:t>líneas de código</a:t>
            </a:r>
            <a:endParaRPr lang="en-US" sz="1200" dirty="0"/>
          </a:p>
        </p:txBody>
      </p:sp>
      <p:sp>
        <p:nvSpPr>
          <p:cNvPr id="33" name="Text 31"/>
          <p:cNvSpPr txBox="1"/>
          <p:nvPr/>
        </p:nvSpPr>
        <p:spPr>
          <a:xfrm>
            <a:off x="548640" y="6144768"/>
            <a:ext cx="11064240" cy="365760"/>
          </a:xfrm>
          <a:prstGeom prst="rect">
            <a:avLst/>
          </a:prstGeom>
          <a:noFill/>
          <a:ln/>
        </p:spPr>
        <p:txBody>
          <a:bodyPr wrap="square" lIns="0" tIns="0" rIns="0" bIns="0" rtlCol="0" anchor="ctr"/>
          <a:lstStyle/>
          <a:p>
            <a:pPr indent="0" marL="0">
              <a:buNone/>
            </a:pPr>
            <a:r>
              <a:rPr lang="en-US" sz="1100" dirty="0">
                <a:solidFill>
                  <a:srgbClr val="5A6570"/>
                </a:solidFill>
                <a:latin typeface="Calibri" pitchFamily="34" charset="0"/>
                <a:ea typeface="Calibri" pitchFamily="34" charset="-122"/>
                <a:cs typeface="Calibri" pitchFamily="34" charset="-120"/>
              </a:rPr>
              <a:t>Arquitectura: NestJS + TypeScript + Prisma sobre PostgreSQL 18 · React + Vite · despliegue continuo en Railway · almacenamiento de fotos e informes en MinIO</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1064240" cy="566928"/>
          </a:xfrm>
          <a:prstGeom prst="rect">
            <a:avLst/>
          </a:prstGeom>
          <a:noFill/>
          <a:ln/>
        </p:spPr>
        <p:txBody>
          <a:bodyPr wrap="square" lIns="0" tIns="0" rIns="0" bIns="0" rtlCol="0" anchor="ctr"/>
          <a:lstStyle/>
          <a:p>
            <a:pPr indent="0" marL="0">
              <a:buNone/>
            </a:pPr>
            <a:r>
              <a:rPr lang="en-US" sz="3000" b="1" dirty="0">
                <a:solidFill>
                  <a:srgbClr val="1B3A5C"/>
                </a:solidFill>
                <a:latin typeface="Cambria" pitchFamily="34" charset="0"/>
                <a:ea typeface="Cambria" pitchFamily="34" charset="-122"/>
                <a:cs typeface="Cambria" pitchFamily="34" charset="-120"/>
              </a:rPr>
              <a:t>Modelo UML — Diagrama de casos de uso GENERAL</a:t>
            </a:r>
            <a:endParaRPr lang="en-US" sz="3000" dirty="0"/>
          </a:p>
        </p:txBody>
      </p:sp>
      <p:sp>
        <p:nvSpPr>
          <p:cNvPr id="3" name="Text 1"/>
          <p:cNvSpPr txBox="1"/>
          <p:nvPr/>
        </p:nvSpPr>
        <p:spPr>
          <a:xfrm>
            <a:off x="548640" y="896112"/>
            <a:ext cx="11064240" cy="329184"/>
          </a:xfrm>
          <a:prstGeom prst="rect">
            <a:avLst/>
          </a:prstGeom>
          <a:noFill/>
          <a:ln/>
        </p:spPr>
        <p:txBody>
          <a:bodyPr wrap="square" lIns="0" tIns="0" rIns="0" bIns="0" rtlCol="0" anchor="ctr"/>
          <a:lstStyle/>
          <a:p>
            <a:pPr indent="0" marL="0">
              <a:buNone/>
            </a:pPr>
            <a:r>
              <a:rPr lang="en-US" sz="1350" dirty="0">
                <a:solidFill>
                  <a:srgbClr val="5A6570"/>
                </a:solidFill>
                <a:latin typeface="Calibri" pitchFamily="34" charset="0"/>
                <a:ea typeface="Calibri" pitchFamily="34" charset="-122"/>
                <a:cs typeface="Calibri" pitchFamily="34" charset="-120"/>
              </a:rPr>
              <a:t>Notación UML 2.5 · StarUML — actores, casos de uso, asociaciones y frontera del sistema</a:t>
            </a:r>
            <a:endParaRPr lang="en-US" sz="1350" dirty="0"/>
          </a:p>
        </p:txBody>
      </p:sp>
      <p:sp>
        <p:nvSpPr>
          <p:cNvPr id="4" name="Text 2"/>
          <p:cNvSpPr txBox="1"/>
          <p:nvPr/>
        </p:nvSpPr>
        <p:spPr>
          <a:xfrm>
            <a:off x="548640" y="6400800"/>
            <a:ext cx="10058400" cy="274320"/>
          </a:xfrm>
          <a:prstGeom prst="rect">
            <a:avLst/>
          </a:prstGeom>
          <a:noFill/>
          <a:ln/>
        </p:spPr>
        <p:txBody>
          <a:bodyPr wrap="square" lIns="0" tIns="0" rIns="0" bIns="0" rtlCol="0" anchor="ctr"/>
          <a:lstStyle/>
          <a:p>
            <a:pPr indent="0" marL="0">
              <a:buNone/>
            </a:pPr>
            <a:r>
              <a:rPr lang="en-US" sz="900" dirty="0">
                <a:solidFill>
                  <a:srgbClr val="9AA4B0"/>
                </a:solidFill>
                <a:latin typeface="Calibri" pitchFamily="34" charset="0"/>
                <a:ea typeface="Calibri" pitchFamily="34" charset="-122"/>
                <a:cs typeface="Calibri" pitchFamily="34" charset="-120"/>
              </a:rPr>
              <a:t>SGIT-CCTV · Aceros Arequipa, Planta Pisco · Laminación (Trenes 1, 2 y 3)</a:t>
            </a:r>
            <a:endParaRPr lang="en-US" sz="900" dirty="0"/>
          </a:p>
        </p:txBody>
      </p:sp>
      <p:sp>
        <p:nvSpPr>
          <p:cNvPr id="5" name="Text 3"/>
          <p:cNvSpPr txBox="1"/>
          <p:nvPr/>
        </p:nvSpPr>
        <p:spPr>
          <a:xfrm>
            <a:off x="11338560" y="6400800"/>
            <a:ext cx="365760" cy="274320"/>
          </a:xfrm>
          <a:prstGeom prst="rect">
            <a:avLst/>
          </a:prstGeom>
          <a:noFill/>
          <a:ln/>
        </p:spPr>
        <p:txBody>
          <a:bodyPr wrap="square" lIns="0" tIns="0" rIns="0" bIns="0" rtlCol="0" anchor="ctr"/>
          <a:lstStyle/>
          <a:p>
            <a:pPr algn="r" indent="0" marL="0">
              <a:buNone/>
            </a:pPr>
            <a:r>
              <a:rPr lang="en-US" sz="1000" dirty="0">
                <a:solidFill>
                  <a:srgbClr val="5A6570"/>
                </a:solidFill>
                <a:latin typeface="Calibri" pitchFamily="34" charset="0"/>
                <a:ea typeface="Calibri" pitchFamily="34" charset="-122"/>
                <a:cs typeface="Calibri" pitchFamily="34" charset="-120"/>
              </a:rPr>
              <a:t>9</a:t>
            </a:r>
            <a:endParaRPr lang="en-US" sz="1000" dirty="0"/>
          </a:p>
        </p:txBody>
      </p:sp>
      <p:pic>
        <p:nvPicPr>
          <p:cNvPr id="6" name="Image 0" descr="img/uc_general.png">    </p:cNvPr>
          <p:cNvPicPr>
            <a:picLocks noChangeAspect="1"/>
          </p:cNvPicPr>
          <p:nvPr/>
        </p:nvPicPr>
        <p:blipFill>
          <a:blip r:embed="rId1"/>
          <a:srcRect l="0" r="0" t="0" b="0"/>
          <a:stretch/>
        </p:blipFill>
        <p:spPr>
          <a:xfrm>
            <a:off x="411480" y="1298448"/>
            <a:ext cx="11338560" cy="4956048"/>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1064240" cy="566928"/>
          </a:xfrm>
          <a:prstGeom prst="rect">
            <a:avLst/>
          </a:prstGeom>
          <a:noFill/>
          <a:ln/>
        </p:spPr>
        <p:txBody>
          <a:bodyPr wrap="square" lIns="0" tIns="0" rIns="0" bIns="0" rtlCol="0" anchor="ctr"/>
          <a:lstStyle/>
          <a:p>
            <a:pPr indent="0" marL="0">
              <a:buNone/>
            </a:pPr>
            <a:r>
              <a:rPr lang="en-US" sz="3000" b="1" dirty="0">
                <a:solidFill>
                  <a:srgbClr val="1B3A5C"/>
                </a:solidFill>
                <a:latin typeface="Cambria" pitchFamily="34" charset="0"/>
                <a:ea typeface="Cambria" pitchFamily="34" charset="-122"/>
                <a:cs typeface="Cambria" pitchFamily="34" charset="-120"/>
              </a:rPr>
              <a:t>Casos de uso por módulo — INCIDENCIAS</a:t>
            </a:r>
            <a:endParaRPr lang="en-US" sz="3000" dirty="0"/>
          </a:p>
        </p:txBody>
      </p:sp>
      <p:sp>
        <p:nvSpPr>
          <p:cNvPr id="3" name="Text 1"/>
          <p:cNvSpPr txBox="1"/>
          <p:nvPr/>
        </p:nvSpPr>
        <p:spPr>
          <a:xfrm>
            <a:off x="548640" y="896112"/>
            <a:ext cx="11064240" cy="329184"/>
          </a:xfrm>
          <a:prstGeom prst="rect">
            <a:avLst/>
          </a:prstGeom>
          <a:noFill/>
          <a:ln/>
        </p:spPr>
        <p:txBody>
          <a:bodyPr wrap="square" lIns="0" tIns="0" rIns="0" bIns="0" rtlCol="0" anchor="ctr"/>
          <a:lstStyle/>
          <a:p>
            <a:pPr indent="0" marL="0">
              <a:buNone/>
            </a:pPr>
            <a:r>
              <a:rPr lang="en-US" sz="1350" dirty="0">
                <a:solidFill>
                  <a:srgbClr val="5A6570"/>
                </a:solidFill>
                <a:latin typeface="Calibri" pitchFamily="34" charset="0"/>
                <a:ea typeface="Calibri" pitchFamily="34" charset="-122"/>
                <a:cs typeface="Calibri" pitchFamily="34" charset="-120"/>
              </a:rPr>
              <a:t>La bitácora de planta: lo que se cae, quién lo vio y qué evidencia hay</a:t>
            </a:r>
            <a:endParaRPr lang="en-US" sz="1350" dirty="0"/>
          </a:p>
        </p:txBody>
      </p:sp>
      <p:sp>
        <p:nvSpPr>
          <p:cNvPr id="4" name="Text 2"/>
          <p:cNvSpPr txBox="1"/>
          <p:nvPr/>
        </p:nvSpPr>
        <p:spPr>
          <a:xfrm>
            <a:off x="548640" y="6400800"/>
            <a:ext cx="10058400" cy="274320"/>
          </a:xfrm>
          <a:prstGeom prst="rect">
            <a:avLst/>
          </a:prstGeom>
          <a:noFill/>
          <a:ln/>
        </p:spPr>
        <p:txBody>
          <a:bodyPr wrap="square" lIns="0" tIns="0" rIns="0" bIns="0" rtlCol="0" anchor="ctr"/>
          <a:lstStyle/>
          <a:p>
            <a:pPr indent="0" marL="0">
              <a:buNone/>
            </a:pPr>
            <a:r>
              <a:rPr lang="en-US" sz="900" dirty="0">
                <a:solidFill>
                  <a:srgbClr val="9AA4B0"/>
                </a:solidFill>
                <a:latin typeface="Calibri" pitchFamily="34" charset="0"/>
                <a:ea typeface="Calibri" pitchFamily="34" charset="-122"/>
                <a:cs typeface="Calibri" pitchFamily="34" charset="-120"/>
              </a:rPr>
              <a:t>SGIT-CCTV · Aceros Arequipa, Planta Pisco · Laminación (Trenes 1, 2 y 3)</a:t>
            </a:r>
            <a:endParaRPr lang="en-US" sz="900" dirty="0"/>
          </a:p>
        </p:txBody>
      </p:sp>
      <p:sp>
        <p:nvSpPr>
          <p:cNvPr id="5" name="Text 3"/>
          <p:cNvSpPr txBox="1"/>
          <p:nvPr/>
        </p:nvSpPr>
        <p:spPr>
          <a:xfrm>
            <a:off x="11338560" y="6400800"/>
            <a:ext cx="365760" cy="274320"/>
          </a:xfrm>
          <a:prstGeom prst="rect">
            <a:avLst/>
          </a:prstGeom>
          <a:noFill/>
          <a:ln/>
        </p:spPr>
        <p:txBody>
          <a:bodyPr wrap="square" lIns="0" tIns="0" rIns="0" bIns="0" rtlCol="0" anchor="ctr"/>
          <a:lstStyle/>
          <a:p>
            <a:pPr algn="r" indent="0" marL="0">
              <a:buNone/>
            </a:pPr>
            <a:r>
              <a:rPr lang="en-US" sz="1000" dirty="0">
                <a:solidFill>
                  <a:srgbClr val="5A6570"/>
                </a:solidFill>
                <a:latin typeface="Calibri" pitchFamily="34" charset="0"/>
                <a:ea typeface="Calibri" pitchFamily="34" charset="-122"/>
                <a:cs typeface="Calibri" pitchFamily="34" charset="-120"/>
              </a:rPr>
              <a:t>10</a:t>
            </a:r>
            <a:endParaRPr lang="en-US" sz="1000" dirty="0"/>
          </a:p>
        </p:txBody>
      </p:sp>
      <p:pic>
        <p:nvPicPr>
          <p:cNvPr id="6" name="Image 0" descr="img/uc_incidencias.png">    </p:cNvPr>
          <p:cNvPicPr>
            <a:picLocks noChangeAspect="1"/>
          </p:cNvPicPr>
          <p:nvPr/>
        </p:nvPicPr>
        <p:blipFill>
          <a:blip r:embed="rId1"/>
          <a:srcRect l="0" r="0" t="0" b="0"/>
          <a:stretch/>
        </p:blipFill>
        <p:spPr>
          <a:xfrm>
            <a:off x="411480" y="1298448"/>
            <a:ext cx="11338560" cy="4956048"/>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1064240" cy="566928"/>
          </a:xfrm>
          <a:prstGeom prst="rect">
            <a:avLst/>
          </a:prstGeom>
          <a:noFill/>
          <a:ln/>
        </p:spPr>
        <p:txBody>
          <a:bodyPr wrap="square" lIns="0" tIns="0" rIns="0" bIns="0" rtlCol="0" anchor="ctr"/>
          <a:lstStyle/>
          <a:p>
            <a:pPr indent="0" marL="0">
              <a:buNone/>
            </a:pPr>
            <a:r>
              <a:rPr lang="en-US" sz="3000" b="1" dirty="0">
                <a:solidFill>
                  <a:srgbClr val="1B3A5C"/>
                </a:solidFill>
                <a:latin typeface="Cambria" pitchFamily="34" charset="0"/>
                <a:ea typeface="Cambria" pitchFamily="34" charset="-122"/>
                <a:cs typeface="Cambria" pitchFamily="34" charset="-120"/>
              </a:rPr>
              <a:t>Casos de uso por módulo — ÓRDENES DE MANTENIMIENTO</a:t>
            </a:r>
            <a:endParaRPr lang="en-US" sz="3000" dirty="0"/>
          </a:p>
        </p:txBody>
      </p:sp>
      <p:sp>
        <p:nvSpPr>
          <p:cNvPr id="3" name="Text 1"/>
          <p:cNvSpPr txBox="1"/>
          <p:nvPr/>
        </p:nvSpPr>
        <p:spPr>
          <a:xfrm>
            <a:off x="548640" y="896112"/>
            <a:ext cx="11064240" cy="329184"/>
          </a:xfrm>
          <a:prstGeom prst="rect">
            <a:avLst/>
          </a:prstGeom>
          <a:noFill/>
          <a:ln/>
        </p:spPr>
        <p:txBody>
          <a:bodyPr wrap="square" lIns="0" tIns="0" rIns="0" bIns="0" rtlCol="0" anchor="ctr"/>
          <a:lstStyle/>
          <a:p>
            <a:pPr indent="0" marL="0">
              <a:buNone/>
            </a:pPr>
            <a:r>
              <a:rPr lang="en-US" sz="1350" dirty="0">
                <a:solidFill>
                  <a:srgbClr val="5A6570"/>
                </a:solidFill>
                <a:latin typeface="Calibri" pitchFamily="34" charset="0"/>
                <a:ea typeface="Calibri" pitchFamily="34" charset="-122"/>
                <a:cs typeface="Calibri" pitchFamily="34" charset="-120"/>
              </a:rPr>
              <a:t>El expediente del trabajo: quién lo pidió, quién lo hizo, con qué y cuándo</a:t>
            </a:r>
            <a:endParaRPr lang="en-US" sz="1350" dirty="0"/>
          </a:p>
        </p:txBody>
      </p:sp>
      <p:sp>
        <p:nvSpPr>
          <p:cNvPr id="4" name="Text 2"/>
          <p:cNvSpPr txBox="1"/>
          <p:nvPr/>
        </p:nvSpPr>
        <p:spPr>
          <a:xfrm>
            <a:off x="548640" y="6400800"/>
            <a:ext cx="10058400" cy="274320"/>
          </a:xfrm>
          <a:prstGeom prst="rect">
            <a:avLst/>
          </a:prstGeom>
          <a:noFill/>
          <a:ln/>
        </p:spPr>
        <p:txBody>
          <a:bodyPr wrap="square" lIns="0" tIns="0" rIns="0" bIns="0" rtlCol="0" anchor="ctr"/>
          <a:lstStyle/>
          <a:p>
            <a:pPr indent="0" marL="0">
              <a:buNone/>
            </a:pPr>
            <a:r>
              <a:rPr lang="en-US" sz="900" dirty="0">
                <a:solidFill>
                  <a:srgbClr val="9AA4B0"/>
                </a:solidFill>
                <a:latin typeface="Calibri" pitchFamily="34" charset="0"/>
                <a:ea typeface="Calibri" pitchFamily="34" charset="-122"/>
                <a:cs typeface="Calibri" pitchFamily="34" charset="-120"/>
              </a:rPr>
              <a:t>SGIT-CCTV · Aceros Arequipa, Planta Pisco · Laminación (Trenes 1, 2 y 3)</a:t>
            </a:r>
            <a:endParaRPr lang="en-US" sz="900" dirty="0"/>
          </a:p>
        </p:txBody>
      </p:sp>
      <p:sp>
        <p:nvSpPr>
          <p:cNvPr id="5" name="Text 3"/>
          <p:cNvSpPr txBox="1"/>
          <p:nvPr/>
        </p:nvSpPr>
        <p:spPr>
          <a:xfrm>
            <a:off x="11338560" y="6400800"/>
            <a:ext cx="365760" cy="274320"/>
          </a:xfrm>
          <a:prstGeom prst="rect">
            <a:avLst/>
          </a:prstGeom>
          <a:noFill/>
          <a:ln/>
        </p:spPr>
        <p:txBody>
          <a:bodyPr wrap="square" lIns="0" tIns="0" rIns="0" bIns="0" rtlCol="0" anchor="ctr"/>
          <a:lstStyle/>
          <a:p>
            <a:pPr algn="r" indent="0" marL="0">
              <a:buNone/>
            </a:pPr>
            <a:r>
              <a:rPr lang="en-US" sz="1000" dirty="0">
                <a:solidFill>
                  <a:srgbClr val="5A6570"/>
                </a:solidFill>
                <a:latin typeface="Calibri" pitchFamily="34" charset="0"/>
                <a:ea typeface="Calibri" pitchFamily="34" charset="-122"/>
                <a:cs typeface="Calibri" pitchFamily="34" charset="-120"/>
              </a:rPr>
              <a:t>11</a:t>
            </a:r>
            <a:endParaRPr lang="en-US" sz="1000" dirty="0"/>
          </a:p>
        </p:txBody>
      </p:sp>
      <p:pic>
        <p:nvPicPr>
          <p:cNvPr id="6" name="Image 0" descr="img/uc_om.png">    </p:cNvPr>
          <p:cNvPicPr>
            <a:picLocks noChangeAspect="1"/>
          </p:cNvPicPr>
          <p:nvPr/>
        </p:nvPicPr>
        <p:blipFill>
          <a:blip r:embed="rId1"/>
          <a:srcRect l="0" r="0" t="0" b="0"/>
          <a:stretch/>
        </p:blipFill>
        <p:spPr>
          <a:xfrm>
            <a:off x="411480" y="1298448"/>
            <a:ext cx="11338560" cy="4956048"/>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1064240" cy="566928"/>
          </a:xfrm>
          <a:prstGeom prst="rect">
            <a:avLst/>
          </a:prstGeom>
          <a:noFill/>
          <a:ln/>
        </p:spPr>
        <p:txBody>
          <a:bodyPr wrap="square" lIns="0" tIns="0" rIns="0" bIns="0" rtlCol="0" anchor="ctr"/>
          <a:lstStyle/>
          <a:p>
            <a:pPr indent="0" marL="0">
              <a:buNone/>
            </a:pPr>
            <a:r>
              <a:rPr lang="en-US" sz="3000" b="1" dirty="0">
                <a:solidFill>
                  <a:srgbClr val="1B3A5C"/>
                </a:solidFill>
                <a:latin typeface="Cambria" pitchFamily="34" charset="0"/>
                <a:ea typeface="Cambria" pitchFamily="34" charset="-122"/>
                <a:cs typeface="Cambria" pitchFamily="34" charset="-120"/>
              </a:rPr>
              <a:t>Casos de uso por módulo — ACTIVOS y CRITICIDAD</a:t>
            </a:r>
            <a:endParaRPr lang="en-US" sz="3000" dirty="0"/>
          </a:p>
        </p:txBody>
      </p:sp>
      <p:sp>
        <p:nvSpPr>
          <p:cNvPr id="3" name="Text 1"/>
          <p:cNvSpPr txBox="1"/>
          <p:nvPr/>
        </p:nvSpPr>
        <p:spPr>
          <a:xfrm>
            <a:off x="548640" y="896112"/>
            <a:ext cx="11064240" cy="329184"/>
          </a:xfrm>
          <a:prstGeom prst="rect">
            <a:avLst/>
          </a:prstGeom>
          <a:noFill/>
          <a:ln/>
        </p:spPr>
        <p:txBody>
          <a:bodyPr wrap="square" lIns="0" tIns="0" rIns="0" bIns="0" rtlCol="0" anchor="ctr"/>
          <a:lstStyle/>
          <a:p>
            <a:pPr indent="0" marL="0">
              <a:buNone/>
            </a:pPr>
            <a:r>
              <a:rPr lang="en-US" sz="1350" dirty="0">
                <a:solidFill>
                  <a:srgbClr val="5A6570"/>
                </a:solidFill>
                <a:latin typeface="Calibri" pitchFamily="34" charset="0"/>
                <a:ea typeface="Calibri" pitchFamily="34" charset="-122"/>
                <a:cs typeface="Calibri" pitchFamily="34" charset="-120"/>
              </a:rPr>
              <a:t>El árbol de planta y la letra A/B/C que decide cada cuánto se revisa</a:t>
            </a:r>
            <a:endParaRPr lang="en-US" sz="1350" dirty="0"/>
          </a:p>
        </p:txBody>
      </p:sp>
      <p:sp>
        <p:nvSpPr>
          <p:cNvPr id="4" name="Text 2"/>
          <p:cNvSpPr txBox="1"/>
          <p:nvPr/>
        </p:nvSpPr>
        <p:spPr>
          <a:xfrm>
            <a:off x="548640" y="6400800"/>
            <a:ext cx="10058400" cy="274320"/>
          </a:xfrm>
          <a:prstGeom prst="rect">
            <a:avLst/>
          </a:prstGeom>
          <a:noFill/>
          <a:ln/>
        </p:spPr>
        <p:txBody>
          <a:bodyPr wrap="square" lIns="0" tIns="0" rIns="0" bIns="0" rtlCol="0" anchor="ctr"/>
          <a:lstStyle/>
          <a:p>
            <a:pPr indent="0" marL="0">
              <a:buNone/>
            </a:pPr>
            <a:r>
              <a:rPr lang="en-US" sz="900" dirty="0">
                <a:solidFill>
                  <a:srgbClr val="9AA4B0"/>
                </a:solidFill>
                <a:latin typeface="Calibri" pitchFamily="34" charset="0"/>
                <a:ea typeface="Calibri" pitchFamily="34" charset="-122"/>
                <a:cs typeface="Calibri" pitchFamily="34" charset="-120"/>
              </a:rPr>
              <a:t>SGIT-CCTV · Aceros Arequipa, Planta Pisco · Laminación (Trenes 1, 2 y 3)</a:t>
            </a:r>
            <a:endParaRPr lang="en-US" sz="900" dirty="0"/>
          </a:p>
        </p:txBody>
      </p:sp>
      <p:sp>
        <p:nvSpPr>
          <p:cNvPr id="5" name="Text 3"/>
          <p:cNvSpPr txBox="1"/>
          <p:nvPr/>
        </p:nvSpPr>
        <p:spPr>
          <a:xfrm>
            <a:off x="11338560" y="6400800"/>
            <a:ext cx="365760" cy="274320"/>
          </a:xfrm>
          <a:prstGeom prst="rect">
            <a:avLst/>
          </a:prstGeom>
          <a:noFill/>
          <a:ln/>
        </p:spPr>
        <p:txBody>
          <a:bodyPr wrap="square" lIns="0" tIns="0" rIns="0" bIns="0" rtlCol="0" anchor="ctr"/>
          <a:lstStyle/>
          <a:p>
            <a:pPr algn="r" indent="0" marL="0">
              <a:buNone/>
            </a:pPr>
            <a:r>
              <a:rPr lang="en-US" sz="1000" dirty="0">
                <a:solidFill>
                  <a:srgbClr val="5A6570"/>
                </a:solidFill>
                <a:latin typeface="Calibri" pitchFamily="34" charset="0"/>
                <a:ea typeface="Calibri" pitchFamily="34" charset="-122"/>
                <a:cs typeface="Calibri" pitchFamily="34" charset="-120"/>
              </a:rPr>
              <a:t>12</a:t>
            </a:r>
            <a:endParaRPr lang="en-US" sz="1000" dirty="0"/>
          </a:p>
        </p:txBody>
      </p:sp>
      <p:pic>
        <p:nvPicPr>
          <p:cNvPr id="6" name="Image 0" descr="img/uc_activos.png">    </p:cNvPr>
          <p:cNvPicPr>
            <a:picLocks noChangeAspect="1"/>
          </p:cNvPicPr>
          <p:nvPr/>
        </p:nvPicPr>
        <p:blipFill>
          <a:blip r:embed="rId1"/>
          <a:srcRect l="0" r="0" t="0" b="0"/>
          <a:stretch/>
        </p:blipFill>
        <p:spPr>
          <a:xfrm>
            <a:off x="411480" y="1298448"/>
            <a:ext cx="11338560" cy="4956048"/>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1064240" cy="566928"/>
          </a:xfrm>
          <a:prstGeom prst="rect">
            <a:avLst/>
          </a:prstGeom>
          <a:noFill/>
          <a:ln/>
        </p:spPr>
        <p:txBody>
          <a:bodyPr wrap="square" lIns="0" tIns="0" rIns="0" bIns="0" rtlCol="0" anchor="ctr"/>
          <a:lstStyle/>
          <a:p>
            <a:pPr indent="0" marL="0">
              <a:buNone/>
            </a:pPr>
            <a:r>
              <a:rPr lang="en-US" sz="3000" b="1" dirty="0">
                <a:solidFill>
                  <a:srgbClr val="1B3A5C"/>
                </a:solidFill>
                <a:latin typeface="Cambria" pitchFamily="34" charset="0"/>
                <a:ea typeface="Cambria" pitchFamily="34" charset="-122"/>
                <a:cs typeface="Cambria" pitchFamily="34" charset="-120"/>
              </a:rPr>
              <a:t>Casos de uso por módulo — PREVENTIVO y HOJAS DE RUTA</a:t>
            </a:r>
            <a:endParaRPr lang="en-US" sz="3000" dirty="0"/>
          </a:p>
        </p:txBody>
      </p:sp>
      <p:sp>
        <p:nvSpPr>
          <p:cNvPr id="3" name="Text 1"/>
          <p:cNvSpPr txBox="1"/>
          <p:nvPr/>
        </p:nvSpPr>
        <p:spPr>
          <a:xfrm>
            <a:off x="548640" y="896112"/>
            <a:ext cx="11064240" cy="329184"/>
          </a:xfrm>
          <a:prstGeom prst="rect">
            <a:avLst/>
          </a:prstGeom>
          <a:noFill/>
          <a:ln/>
        </p:spPr>
        <p:txBody>
          <a:bodyPr wrap="square" lIns="0" tIns="0" rIns="0" bIns="0" rtlCol="0" anchor="ctr"/>
          <a:lstStyle/>
          <a:p>
            <a:pPr indent="0" marL="0">
              <a:buNone/>
            </a:pPr>
            <a:r>
              <a:rPr lang="en-US" sz="1350" dirty="0">
                <a:solidFill>
                  <a:srgbClr val="5A6570"/>
                </a:solidFill>
                <a:latin typeface="Calibri" pitchFamily="34" charset="0"/>
                <a:ea typeface="Calibri" pitchFamily="34" charset="-122"/>
                <a:cs typeface="Calibri" pitchFamily="34" charset="-120"/>
              </a:rPr>
              <a:t>Cuándo tocar el equipo, qué hacer y cuándo se puede entrar a la línea</a:t>
            </a:r>
            <a:endParaRPr lang="en-US" sz="1350" dirty="0"/>
          </a:p>
        </p:txBody>
      </p:sp>
      <p:sp>
        <p:nvSpPr>
          <p:cNvPr id="4" name="Text 2"/>
          <p:cNvSpPr txBox="1"/>
          <p:nvPr/>
        </p:nvSpPr>
        <p:spPr>
          <a:xfrm>
            <a:off x="548640" y="6400800"/>
            <a:ext cx="10058400" cy="274320"/>
          </a:xfrm>
          <a:prstGeom prst="rect">
            <a:avLst/>
          </a:prstGeom>
          <a:noFill/>
          <a:ln/>
        </p:spPr>
        <p:txBody>
          <a:bodyPr wrap="square" lIns="0" tIns="0" rIns="0" bIns="0" rtlCol="0" anchor="ctr"/>
          <a:lstStyle/>
          <a:p>
            <a:pPr indent="0" marL="0">
              <a:buNone/>
            </a:pPr>
            <a:r>
              <a:rPr lang="en-US" sz="900" dirty="0">
                <a:solidFill>
                  <a:srgbClr val="9AA4B0"/>
                </a:solidFill>
                <a:latin typeface="Calibri" pitchFamily="34" charset="0"/>
                <a:ea typeface="Calibri" pitchFamily="34" charset="-122"/>
                <a:cs typeface="Calibri" pitchFamily="34" charset="-120"/>
              </a:rPr>
              <a:t>SGIT-CCTV · Aceros Arequipa, Planta Pisco · Laminación (Trenes 1, 2 y 3)</a:t>
            </a:r>
            <a:endParaRPr lang="en-US" sz="900" dirty="0"/>
          </a:p>
        </p:txBody>
      </p:sp>
      <p:sp>
        <p:nvSpPr>
          <p:cNvPr id="5" name="Text 3"/>
          <p:cNvSpPr txBox="1"/>
          <p:nvPr/>
        </p:nvSpPr>
        <p:spPr>
          <a:xfrm>
            <a:off x="11338560" y="6400800"/>
            <a:ext cx="365760" cy="274320"/>
          </a:xfrm>
          <a:prstGeom prst="rect">
            <a:avLst/>
          </a:prstGeom>
          <a:noFill/>
          <a:ln/>
        </p:spPr>
        <p:txBody>
          <a:bodyPr wrap="square" lIns="0" tIns="0" rIns="0" bIns="0" rtlCol="0" anchor="ctr"/>
          <a:lstStyle/>
          <a:p>
            <a:pPr algn="r" indent="0" marL="0">
              <a:buNone/>
            </a:pPr>
            <a:r>
              <a:rPr lang="en-US" sz="1000" dirty="0">
                <a:solidFill>
                  <a:srgbClr val="5A6570"/>
                </a:solidFill>
                <a:latin typeface="Calibri" pitchFamily="34" charset="0"/>
                <a:ea typeface="Calibri" pitchFamily="34" charset="-122"/>
                <a:cs typeface="Calibri" pitchFamily="34" charset="-120"/>
              </a:rPr>
              <a:t>13</a:t>
            </a:r>
            <a:endParaRPr lang="en-US" sz="1000" dirty="0"/>
          </a:p>
        </p:txBody>
      </p:sp>
      <p:pic>
        <p:nvPicPr>
          <p:cNvPr id="6" name="Image 0" descr="img/uc_preventivo.png">    </p:cNvPr>
          <p:cNvPicPr>
            <a:picLocks noChangeAspect="1"/>
          </p:cNvPicPr>
          <p:nvPr/>
        </p:nvPicPr>
        <p:blipFill>
          <a:blip r:embed="rId1"/>
          <a:srcRect l="0" r="0" t="0" b="0"/>
          <a:stretch/>
        </p:blipFill>
        <p:spPr>
          <a:xfrm>
            <a:off x="411480" y="1298448"/>
            <a:ext cx="11338560" cy="4956048"/>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1064240" cy="566928"/>
          </a:xfrm>
          <a:prstGeom prst="rect">
            <a:avLst/>
          </a:prstGeom>
          <a:noFill/>
          <a:ln/>
        </p:spPr>
        <p:txBody>
          <a:bodyPr wrap="square" lIns="0" tIns="0" rIns="0" bIns="0" rtlCol="0" anchor="ctr"/>
          <a:lstStyle/>
          <a:p>
            <a:pPr indent="0" marL="0">
              <a:buNone/>
            </a:pPr>
            <a:r>
              <a:rPr lang="en-US" sz="3000" b="1" dirty="0">
                <a:solidFill>
                  <a:srgbClr val="1B3A5C"/>
                </a:solidFill>
                <a:latin typeface="Cambria" pitchFamily="34" charset="0"/>
                <a:ea typeface="Cambria" pitchFamily="34" charset="-122"/>
                <a:cs typeface="Cambria" pitchFamily="34" charset="-120"/>
              </a:rPr>
              <a:t>Casos de uso por módulo — ALMACÉN e INVENTARIO</a:t>
            </a:r>
            <a:endParaRPr lang="en-US" sz="3000" dirty="0"/>
          </a:p>
        </p:txBody>
      </p:sp>
      <p:sp>
        <p:nvSpPr>
          <p:cNvPr id="3" name="Text 1"/>
          <p:cNvSpPr txBox="1"/>
          <p:nvPr/>
        </p:nvSpPr>
        <p:spPr>
          <a:xfrm>
            <a:off x="548640" y="896112"/>
            <a:ext cx="11064240" cy="329184"/>
          </a:xfrm>
          <a:prstGeom prst="rect">
            <a:avLst/>
          </a:prstGeom>
          <a:noFill/>
          <a:ln/>
        </p:spPr>
        <p:txBody>
          <a:bodyPr wrap="square" lIns="0" tIns="0" rIns="0" bIns="0" rtlCol="0" anchor="ctr"/>
          <a:lstStyle/>
          <a:p>
            <a:pPr indent="0" marL="0">
              <a:buNone/>
            </a:pPr>
            <a:r>
              <a:rPr lang="en-US" sz="1350" dirty="0">
                <a:solidFill>
                  <a:srgbClr val="5A6570"/>
                </a:solidFill>
                <a:latin typeface="Calibri" pitchFamily="34" charset="0"/>
                <a:ea typeface="Calibri" pitchFamily="34" charset="-122"/>
                <a:cs typeface="Calibri" pitchFamily="34" charset="-120"/>
              </a:rPr>
              <a:t>Repuestos, stock mínimo y trazabilidad del material que sale para una orden</a:t>
            </a:r>
            <a:endParaRPr lang="en-US" sz="1350" dirty="0"/>
          </a:p>
        </p:txBody>
      </p:sp>
      <p:sp>
        <p:nvSpPr>
          <p:cNvPr id="4" name="Text 2"/>
          <p:cNvSpPr txBox="1"/>
          <p:nvPr/>
        </p:nvSpPr>
        <p:spPr>
          <a:xfrm>
            <a:off x="548640" y="6400800"/>
            <a:ext cx="10058400" cy="274320"/>
          </a:xfrm>
          <a:prstGeom prst="rect">
            <a:avLst/>
          </a:prstGeom>
          <a:noFill/>
          <a:ln/>
        </p:spPr>
        <p:txBody>
          <a:bodyPr wrap="square" lIns="0" tIns="0" rIns="0" bIns="0" rtlCol="0" anchor="ctr"/>
          <a:lstStyle/>
          <a:p>
            <a:pPr indent="0" marL="0">
              <a:buNone/>
            </a:pPr>
            <a:r>
              <a:rPr lang="en-US" sz="900" dirty="0">
                <a:solidFill>
                  <a:srgbClr val="9AA4B0"/>
                </a:solidFill>
                <a:latin typeface="Calibri" pitchFamily="34" charset="0"/>
                <a:ea typeface="Calibri" pitchFamily="34" charset="-122"/>
                <a:cs typeface="Calibri" pitchFamily="34" charset="-120"/>
              </a:rPr>
              <a:t>SGIT-CCTV · Aceros Arequipa, Planta Pisco · Laminación (Trenes 1, 2 y 3)</a:t>
            </a:r>
            <a:endParaRPr lang="en-US" sz="900" dirty="0"/>
          </a:p>
        </p:txBody>
      </p:sp>
      <p:sp>
        <p:nvSpPr>
          <p:cNvPr id="5" name="Text 3"/>
          <p:cNvSpPr txBox="1"/>
          <p:nvPr/>
        </p:nvSpPr>
        <p:spPr>
          <a:xfrm>
            <a:off x="11338560" y="6400800"/>
            <a:ext cx="365760" cy="274320"/>
          </a:xfrm>
          <a:prstGeom prst="rect">
            <a:avLst/>
          </a:prstGeom>
          <a:noFill/>
          <a:ln/>
        </p:spPr>
        <p:txBody>
          <a:bodyPr wrap="square" lIns="0" tIns="0" rIns="0" bIns="0" rtlCol="0" anchor="ctr"/>
          <a:lstStyle/>
          <a:p>
            <a:pPr algn="r" indent="0" marL="0">
              <a:buNone/>
            </a:pPr>
            <a:r>
              <a:rPr lang="en-US" sz="1000" dirty="0">
                <a:solidFill>
                  <a:srgbClr val="5A6570"/>
                </a:solidFill>
                <a:latin typeface="Calibri" pitchFamily="34" charset="0"/>
                <a:ea typeface="Calibri" pitchFamily="34" charset="-122"/>
                <a:cs typeface="Calibri" pitchFamily="34" charset="-120"/>
              </a:rPr>
              <a:t>14</a:t>
            </a:r>
            <a:endParaRPr lang="en-US" sz="1000" dirty="0"/>
          </a:p>
        </p:txBody>
      </p:sp>
      <p:pic>
        <p:nvPicPr>
          <p:cNvPr id="6" name="Image 0" descr="img/uc_almacen.png">    </p:cNvPr>
          <p:cNvPicPr>
            <a:picLocks noChangeAspect="1"/>
          </p:cNvPicPr>
          <p:nvPr/>
        </p:nvPicPr>
        <p:blipFill>
          <a:blip r:embed="rId1"/>
          <a:srcRect l="0" r="0" t="0" b="0"/>
          <a:stretch/>
        </p:blipFill>
        <p:spPr>
          <a:xfrm>
            <a:off x="411480" y="1298448"/>
            <a:ext cx="11338560" cy="4956048"/>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1064240" cy="566928"/>
          </a:xfrm>
          <a:prstGeom prst="rect">
            <a:avLst/>
          </a:prstGeom>
          <a:noFill/>
          <a:ln/>
        </p:spPr>
        <p:txBody>
          <a:bodyPr wrap="square" lIns="0" tIns="0" rIns="0" bIns="0" rtlCol="0" anchor="ctr"/>
          <a:lstStyle/>
          <a:p>
            <a:pPr indent="0" marL="0">
              <a:buNone/>
            </a:pPr>
            <a:r>
              <a:rPr lang="en-US" sz="3000" b="1" dirty="0">
                <a:solidFill>
                  <a:srgbClr val="1B3A5C"/>
                </a:solidFill>
                <a:latin typeface="Cambria" pitchFamily="34" charset="0"/>
                <a:ea typeface="Cambria" pitchFamily="34" charset="-122"/>
                <a:cs typeface="Cambria" pitchFamily="34" charset="-120"/>
              </a:rPr>
              <a:t>Casos de uso por módulo — INDICADORES</a:t>
            </a:r>
            <a:endParaRPr lang="en-US" sz="3000" dirty="0"/>
          </a:p>
        </p:txBody>
      </p:sp>
      <p:sp>
        <p:nvSpPr>
          <p:cNvPr id="3" name="Text 1"/>
          <p:cNvSpPr txBox="1"/>
          <p:nvPr/>
        </p:nvSpPr>
        <p:spPr>
          <a:xfrm>
            <a:off x="548640" y="896112"/>
            <a:ext cx="11064240" cy="329184"/>
          </a:xfrm>
          <a:prstGeom prst="rect">
            <a:avLst/>
          </a:prstGeom>
          <a:noFill/>
          <a:ln/>
        </p:spPr>
        <p:txBody>
          <a:bodyPr wrap="square" lIns="0" tIns="0" rIns="0" bIns="0" rtlCol="0" anchor="ctr"/>
          <a:lstStyle/>
          <a:p>
            <a:pPr indent="0" marL="0">
              <a:buNone/>
            </a:pPr>
            <a:r>
              <a:rPr lang="en-US" sz="1350" dirty="0">
                <a:solidFill>
                  <a:srgbClr val="5A6570"/>
                </a:solidFill>
                <a:latin typeface="Calibri" pitchFamily="34" charset="0"/>
                <a:ea typeface="Calibri" pitchFamily="34" charset="-122"/>
                <a:cs typeface="Calibri" pitchFamily="34" charset="-120"/>
              </a:rPr>
              <a:t>Los números de la reunión: MTTR, backlog, cumplimiento y reparto</a:t>
            </a:r>
            <a:endParaRPr lang="en-US" sz="1350" dirty="0"/>
          </a:p>
        </p:txBody>
      </p:sp>
      <p:sp>
        <p:nvSpPr>
          <p:cNvPr id="4" name="Text 2"/>
          <p:cNvSpPr txBox="1"/>
          <p:nvPr/>
        </p:nvSpPr>
        <p:spPr>
          <a:xfrm>
            <a:off x="548640" y="6400800"/>
            <a:ext cx="10058400" cy="274320"/>
          </a:xfrm>
          <a:prstGeom prst="rect">
            <a:avLst/>
          </a:prstGeom>
          <a:noFill/>
          <a:ln/>
        </p:spPr>
        <p:txBody>
          <a:bodyPr wrap="square" lIns="0" tIns="0" rIns="0" bIns="0" rtlCol="0" anchor="ctr"/>
          <a:lstStyle/>
          <a:p>
            <a:pPr indent="0" marL="0">
              <a:buNone/>
            </a:pPr>
            <a:r>
              <a:rPr lang="en-US" sz="900" dirty="0">
                <a:solidFill>
                  <a:srgbClr val="9AA4B0"/>
                </a:solidFill>
                <a:latin typeface="Calibri" pitchFamily="34" charset="0"/>
                <a:ea typeface="Calibri" pitchFamily="34" charset="-122"/>
                <a:cs typeface="Calibri" pitchFamily="34" charset="-120"/>
              </a:rPr>
              <a:t>SGIT-CCTV · Aceros Arequipa, Planta Pisco · Laminación (Trenes 1, 2 y 3)</a:t>
            </a:r>
            <a:endParaRPr lang="en-US" sz="900" dirty="0"/>
          </a:p>
        </p:txBody>
      </p:sp>
      <p:sp>
        <p:nvSpPr>
          <p:cNvPr id="5" name="Text 3"/>
          <p:cNvSpPr txBox="1"/>
          <p:nvPr/>
        </p:nvSpPr>
        <p:spPr>
          <a:xfrm>
            <a:off x="11338560" y="6400800"/>
            <a:ext cx="365760" cy="274320"/>
          </a:xfrm>
          <a:prstGeom prst="rect">
            <a:avLst/>
          </a:prstGeom>
          <a:noFill/>
          <a:ln/>
        </p:spPr>
        <p:txBody>
          <a:bodyPr wrap="square" lIns="0" tIns="0" rIns="0" bIns="0" rtlCol="0" anchor="ctr"/>
          <a:lstStyle/>
          <a:p>
            <a:pPr algn="r" indent="0" marL="0">
              <a:buNone/>
            </a:pPr>
            <a:r>
              <a:rPr lang="en-US" sz="1000" dirty="0">
                <a:solidFill>
                  <a:srgbClr val="5A6570"/>
                </a:solidFill>
                <a:latin typeface="Calibri" pitchFamily="34" charset="0"/>
                <a:ea typeface="Calibri" pitchFamily="34" charset="-122"/>
                <a:cs typeface="Calibri" pitchFamily="34" charset="-120"/>
              </a:rPr>
              <a:t>15</a:t>
            </a:r>
            <a:endParaRPr lang="en-US" sz="1000" dirty="0"/>
          </a:p>
        </p:txBody>
      </p:sp>
      <p:pic>
        <p:nvPicPr>
          <p:cNvPr id="6" name="Image 0" descr="img/uc_indicadores.png">    </p:cNvPr>
          <p:cNvPicPr>
            <a:picLocks noChangeAspect="1"/>
          </p:cNvPicPr>
          <p:nvPr/>
        </p:nvPicPr>
        <p:blipFill>
          <a:blip r:embed="rId1"/>
          <a:srcRect l="0" r="0" t="0" b="0"/>
          <a:stretch/>
        </p:blipFill>
        <p:spPr>
          <a:xfrm>
            <a:off x="411480" y="1298448"/>
            <a:ext cx="11338560" cy="4956048"/>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1064240" cy="566928"/>
          </a:xfrm>
          <a:prstGeom prst="rect">
            <a:avLst/>
          </a:prstGeom>
          <a:noFill/>
          <a:ln/>
        </p:spPr>
        <p:txBody>
          <a:bodyPr wrap="square" lIns="0" tIns="0" rIns="0" bIns="0" rtlCol="0" anchor="ctr"/>
          <a:lstStyle/>
          <a:p>
            <a:pPr indent="0" marL="0">
              <a:buNone/>
            </a:pPr>
            <a:r>
              <a:rPr lang="en-US" sz="3000" b="1" dirty="0">
                <a:solidFill>
                  <a:srgbClr val="1B3A5C"/>
                </a:solidFill>
                <a:latin typeface="Cambria" pitchFamily="34" charset="0"/>
                <a:ea typeface="Cambria" pitchFamily="34" charset="-122"/>
                <a:cs typeface="Cambria" pitchFamily="34" charset="-120"/>
              </a:rPr>
              <a:t>Casos de uso por módulo — SEGURIDAD, ROLES y AUDITORÍA</a:t>
            </a:r>
            <a:endParaRPr lang="en-US" sz="3000" dirty="0"/>
          </a:p>
        </p:txBody>
      </p:sp>
      <p:sp>
        <p:nvSpPr>
          <p:cNvPr id="3" name="Text 1"/>
          <p:cNvSpPr txBox="1"/>
          <p:nvPr/>
        </p:nvSpPr>
        <p:spPr>
          <a:xfrm>
            <a:off x="548640" y="896112"/>
            <a:ext cx="11064240" cy="329184"/>
          </a:xfrm>
          <a:prstGeom prst="rect">
            <a:avLst/>
          </a:prstGeom>
          <a:noFill/>
          <a:ln/>
        </p:spPr>
        <p:txBody>
          <a:bodyPr wrap="square" lIns="0" tIns="0" rIns="0" bIns="0" rtlCol="0" anchor="ctr"/>
          <a:lstStyle/>
          <a:p>
            <a:pPr indent="0" marL="0">
              <a:buNone/>
            </a:pPr>
            <a:r>
              <a:rPr lang="en-US" sz="1350" dirty="0">
                <a:solidFill>
                  <a:srgbClr val="5A6570"/>
                </a:solidFill>
                <a:latin typeface="Calibri" pitchFamily="34" charset="0"/>
                <a:ea typeface="Calibri" pitchFamily="34" charset="-122"/>
                <a:cs typeface="Calibri" pitchFamily="34" charset="-120"/>
              </a:rPr>
              <a:t>Quién puede qué, quién está dentro y qué hizo cada uno</a:t>
            </a:r>
            <a:endParaRPr lang="en-US" sz="1350" dirty="0"/>
          </a:p>
        </p:txBody>
      </p:sp>
      <p:sp>
        <p:nvSpPr>
          <p:cNvPr id="4" name="Text 2"/>
          <p:cNvSpPr txBox="1"/>
          <p:nvPr/>
        </p:nvSpPr>
        <p:spPr>
          <a:xfrm>
            <a:off x="548640" y="6400800"/>
            <a:ext cx="10058400" cy="274320"/>
          </a:xfrm>
          <a:prstGeom prst="rect">
            <a:avLst/>
          </a:prstGeom>
          <a:noFill/>
          <a:ln/>
        </p:spPr>
        <p:txBody>
          <a:bodyPr wrap="square" lIns="0" tIns="0" rIns="0" bIns="0" rtlCol="0" anchor="ctr"/>
          <a:lstStyle/>
          <a:p>
            <a:pPr indent="0" marL="0">
              <a:buNone/>
            </a:pPr>
            <a:r>
              <a:rPr lang="en-US" sz="900" dirty="0">
                <a:solidFill>
                  <a:srgbClr val="9AA4B0"/>
                </a:solidFill>
                <a:latin typeface="Calibri" pitchFamily="34" charset="0"/>
                <a:ea typeface="Calibri" pitchFamily="34" charset="-122"/>
                <a:cs typeface="Calibri" pitchFamily="34" charset="-120"/>
              </a:rPr>
              <a:t>SGIT-CCTV · Aceros Arequipa, Planta Pisco · Laminación (Trenes 1, 2 y 3)</a:t>
            </a:r>
            <a:endParaRPr lang="en-US" sz="900" dirty="0"/>
          </a:p>
        </p:txBody>
      </p:sp>
      <p:sp>
        <p:nvSpPr>
          <p:cNvPr id="5" name="Text 3"/>
          <p:cNvSpPr txBox="1"/>
          <p:nvPr/>
        </p:nvSpPr>
        <p:spPr>
          <a:xfrm>
            <a:off x="11338560" y="6400800"/>
            <a:ext cx="365760" cy="274320"/>
          </a:xfrm>
          <a:prstGeom prst="rect">
            <a:avLst/>
          </a:prstGeom>
          <a:noFill/>
          <a:ln/>
        </p:spPr>
        <p:txBody>
          <a:bodyPr wrap="square" lIns="0" tIns="0" rIns="0" bIns="0" rtlCol="0" anchor="ctr"/>
          <a:lstStyle/>
          <a:p>
            <a:pPr algn="r" indent="0" marL="0">
              <a:buNone/>
            </a:pPr>
            <a:r>
              <a:rPr lang="en-US" sz="1000" dirty="0">
                <a:solidFill>
                  <a:srgbClr val="5A6570"/>
                </a:solidFill>
                <a:latin typeface="Calibri" pitchFamily="34" charset="0"/>
                <a:ea typeface="Calibri" pitchFamily="34" charset="-122"/>
                <a:cs typeface="Calibri" pitchFamily="34" charset="-120"/>
              </a:rPr>
              <a:t>16</a:t>
            </a:r>
            <a:endParaRPr lang="en-US" sz="1000" dirty="0"/>
          </a:p>
        </p:txBody>
      </p:sp>
      <p:pic>
        <p:nvPicPr>
          <p:cNvPr id="6" name="Image 0" descr="img/uc_seguridad.png">    </p:cNvPr>
          <p:cNvPicPr>
            <a:picLocks noChangeAspect="1"/>
          </p:cNvPicPr>
          <p:nvPr/>
        </p:nvPicPr>
        <p:blipFill>
          <a:blip r:embed="rId1"/>
          <a:srcRect l="0" r="0" t="0" b="0"/>
          <a:stretch/>
        </p:blipFill>
        <p:spPr>
          <a:xfrm>
            <a:off x="411480" y="1298448"/>
            <a:ext cx="11338560" cy="4956048"/>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1064240" cy="566928"/>
          </a:xfrm>
          <a:prstGeom prst="rect">
            <a:avLst/>
          </a:prstGeom>
          <a:noFill/>
          <a:ln/>
        </p:spPr>
        <p:txBody>
          <a:bodyPr wrap="square" lIns="0" tIns="0" rIns="0" bIns="0" rtlCol="0" anchor="ctr"/>
          <a:lstStyle/>
          <a:p>
            <a:pPr indent="0" marL="0">
              <a:buNone/>
            </a:pPr>
            <a:r>
              <a:rPr lang="en-US" sz="3000" b="1" dirty="0">
                <a:solidFill>
                  <a:srgbClr val="1B3A5C"/>
                </a:solidFill>
                <a:latin typeface="Cambria" pitchFamily="34" charset="0"/>
                <a:ea typeface="Cambria" pitchFamily="34" charset="-122"/>
                <a:cs typeface="Cambria" pitchFamily="34" charset="-120"/>
              </a:rPr>
              <a:t>Modelo UML — Diagrama de CLASES</a:t>
            </a:r>
            <a:endParaRPr lang="en-US" sz="3000" dirty="0"/>
          </a:p>
        </p:txBody>
      </p:sp>
      <p:sp>
        <p:nvSpPr>
          <p:cNvPr id="3" name="Text 1"/>
          <p:cNvSpPr txBox="1"/>
          <p:nvPr/>
        </p:nvSpPr>
        <p:spPr>
          <a:xfrm>
            <a:off x="548640" y="896112"/>
            <a:ext cx="11064240" cy="329184"/>
          </a:xfrm>
          <a:prstGeom prst="rect">
            <a:avLst/>
          </a:prstGeom>
          <a:noFill/>
          <a:ln/>
        </p:spPr>
        <p:txBody>
          <a:bodyPr wrap="square" lIns="0" tIns="0" rIns="0" bIns="0" rtlCol="0" anchor="ctr"/>
          <a:lstStyle/>
          <a:p>
            <a:pPr indent="0" marL="0">
              <a:buNone/>
            </a:pPr>
            <a:r>
              <a:rPr lang="en-US" sz="1350" dirty="0">
                <a:solidFill>
                  <a:srgbClr val="5A6570"/>
                </a:solidFill>
                <a:latin typeface="Calibri" pitchFamily="34" charset="0"/>
                <a:ea typeface="Calibri" pitchFamily="34" charset="-122"/>
                <a:cs typeface="Calibri" pitchFamily="34" charset="-120"/>
              </a:rPr>
              <a:t>Extracto de los 78 modelos del esquema · las claves foráneas y las multiplicidades son las reales del sistema</a:t>
            </a:r>
            <a:endParaRPr lang="en-US" sz="1350" dirty="0"/>
          </a:p>
        </p:txBody>
      </p:sp>
      <p:sp>
        <p:nvSpPr>
          <p:cNvPr id="4" name="Text 2"/>
          <p:cNvSpPr txBox="1"/>
          <p:nvPr/>
        </p:nvSpPr>
        <p:spPr>
          <a:xfrm>
            <a:off x="548640" y="6400800"/>
            <a:ext cx="10058400" cy="274320"/>
          </a:xfrm>
          <a:prstGeom prst="rect">
            <a:avLst/>
          </a:prstGeom>
          <a:noFill/>
          <a:ln/>
        </p:spPr>
        <p:txBody>
          <a:bodyPr wrap="square" lIns="0" tIns="0" rIns="0" bIns="0" rtlCol="0" anchor="ctr"/>
          <a:lstStyle/>
          <a:p>
            <a:pPr indent="0" marL="0">
              <a:buNone/>
            </a:pPr>
            <a:r>
              <a:rPr lang="en-US" sz="900" dirty="0">
                <a:solidFill>
                  <a:srgbClr val="9AA4B0"/>
                </a:solidFill>
                <a:latin typeface="Calibri" pitchFamily="34" charset="0"/>
                <a:ea typeface="Calibri" pitchFamily="34" charset="-122"/>
                <a:cs typeface="Calibri" pitchFamily="34" charset="-120"/>
              </a:rPr>
              <a:t>SGIT-CCTV · Aceros Arequipa, Planta Pisco · Laminación (Trenes 1, 2 y 3)</a:t>
            </a:r>
            <a:endParaRPr lang="en-US" sz="900" dirty="0"/>
          </a:p>
        </p:txBody>
      </p:sp>
      <p:sp>
        <p:nvSpPr>
          <p:cNvPr id="5" name="Text 3"/>
          <p:cNvSpPr txBox="1"/>
          <p:nvPr/>
        </p:nvSpPr>
        <p:spPr>
          <a:xfrm>
            <a:off x="11338560" y="6400800"/>
            <a:ext cx="365760" cy="274320"/>
          </a:xfrm>
          <a:prstGeom prst="rect">
            <a:avLst/>
          </a:prstGeom>
          <a:noFill/>
          <a:ln/>
        </p:spPr>
        <p:txBody>
          <a:bodyPr wrap="square" lIns="0" tIns="0" rIns="0" bIns="0" rtlCol="0" anchor="ctr"/>
          <a:lstStyle/>
          <a:p>
            <a:pPr algn="r" indent="0" marL="0">
              <a:buNone/>
            </a:pPr>
            <a:r>
              <a:rPr lang="en-US" sz="1000" dirty="0">
                <a:solidFill>
                  <a:srgbClr val="5A6570"/>
                </a:solidFill>
                <a:latin typeface="Calibri" pitchFamily="34" charset="0"/>
                <a:ea typeface="Calibri" pitchFamily="34" charset="-122"/>
                <a:cs typeface="Calibri" pitchFamily="34" charset="-120"/>
              </a:rPr>
              <a:t>17</a:t>
            </a:r>
            <a:endParaRPr lang="en-US" sz="1000" dirty="0"/>
          </a:p>
        </p:txBody>
      </p:sp>
      <p:pic>
        <p:nvPicPr>
          <p:cNvPr id="6" name="Image 0" descr="img/cls_dominio.png">    </p:cNvPr>
          <p:cNvPicPr>
            <a:picLocks noChangeAspect="1"/>
          </p:cNvPicPr>
          <p:nvPr/>
        </p:nvPicPr>
        <p:blipFill>
          <a:blip r:embed="rId1"/>
          <a:srcRect l="0" r="0" t="0" b="0"/>
          <a:stretch/>
        </p:blipFill>
        <p:spPr>
          <a:xfrm>
            <a:off x="411480" y="1298448"/>
            <a:ext cx="11338560" cy="4956048"/>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1064240" cy="566928"/>
          </a:xfrm>
          <a:prstGeom prst="rect">
            <a:avLst/>
          </a:prstGeom>
          <a:noFill/>
          <a:ln/>
        </p:spPr>
        <p:txBody>
          <a:bodyPr wrap="square" lIns="0" tIns="0" rIns="0" bIns="0" rtlCol="0" anchor="ctr"/>
          <a:lstStyle/>
          <a:p>
            <a:pPr indent="0" marL="0">
              <a:buNone/>
            </a:pPr>
            <a:r>
              <a:rPr lang="en-US" sz="3000" b="1" dirty="0">
                <a:solidFill>
                  <a:srgbClr val="1B3A5C"/>
                </a:solidFill>
                <a:latin typeface="Cambria" pitchFamily="34" charset="0"/>
                <a:ea typeface="Cambria" pitchFamily="34" charset="-122"/>
                <a:cs typeface="Cambria" pitchFamily="34" charset="-120"/>
              </a:rPr>
              <a:t>Modelo UML — Diagrama de SECUENCIA</a:t>
            </a:r>
            <a:endParaRPr lang="en-US" sz="3000" dirty="0"/>
          </a:p>
        </p:txBody>
      </p:sp>
      <p:sp>
        <p:nvSpPr>
          <p:cNvPr id="3" name="Text 1"/>
          <p:cNvSpPr txBox="1"/>
          <p:nvPr/>
        </p:nvSpPr>
        <p:spPr>
          <a:xfrm>
            <a:off x="548640" y="896112"/>
            <a:ext cx="11064240" cy="329184"/>
          </a:xfrm>
          <a:prstGeom prst="rect">
            <a:avLst/>
          </a:prstGeom>
          <a:noFill/>
          <a:ln/>
        </p:spPr>
        <p:txBody>
          <a:bodyPr wrap="square" lIns="0" tIns="0" rIns="0" bIns="0" rtlCol="0" anchor="ctr"/>
          <a:lstStyle/>
          <a:p>
            <a:pPr indent="0" marL="0">
              <a:buNone/>
            </a:pPr>
            <a:r>
              <a:rPr lang="en-US" sz="1350" dirty="0">
                <a:solidFill>
                  <a:srgbClr val="5A6570"/>
                </a:solidFill>
                <a:latin typeface="Calibri" pitchFamily="34" charset="0"/>
                <a:ea typeface="Calibri" pitchFamily="34" charset="-122"/>
                <a:cs typeface="Calibri" pitchFamily="34" charset="-120"/>
              </a:rPr>
              <a:t>De la caída de una cámara al informe firmado · con la cadena de guardas de seguridad en su orden exacto</a:t>
            </a:r>
            <a:endParaRPr lang="en-US" sz="1350" dirty="0"/>
          </a:p>
        </p:txBody>
      </p:sp>
      <p:sp>
        <p:nvSpPr>
          <p:cNvPr id="4" name="Text 2"/>
          <p:cNvSpPr txBox="1"/>
          <p:nvPr/>
        </p:nvSpPr>
        <p:spPr>
          <a:xfrm>
            <a:off x="548640" y="6400800"/>
            <a:ext cx="10058400" cy="274320"/>
          </a:xfrm>
          <a:prstGeom prst="rect">
            <a:avLst/>
          </a:prstGeom>
          <a:noFill/>
          <a:ln/>
        </p:spPr>
        <p:txBody>
          <a:bodyPr wrap="square" lIns="0" tIns="0" rIns="0" bIns="0" rtlCol="0" anchor="ctr"/>
          <a:lstStyle/>
          <a:p>
            <a:pPr indent="0" marL="0">
              <a:buNone/>
            </a:pPr>
            <a:r>
              <a:rPr lang="en-US" sz="900" dirty="0">
                <a:solidFill>
                  <a:srgbClr val="9AA4B0"/>
                </a:solidFill>
                <a:latin typeface="Calibri" pitchFamily="34" charset="0"/>
                <a:ea typeface="Calibri" pitchFamily="34" charset="-122"/>
                <a:cs typeface="Calibri" pitchFamily="34" charset="-120"/>
              </a:rPr>
              <a:t>SGIT-CCTV · Aceros Arequipa, Planta Pisco · Laminación (Trenes 1, 2 y 3)</a:t>
            </a:r>
            <a:endParaRPr lang="en-US" sz="900" dirty="0"/>
          </a:p>
        </p:txBody>
      </p:sp>
      <p:sp>
        <p:nvSpPr>
          <p:cNvPr id="5" name="Text 3"/>
          <p:cNvSpPr txBox="1"/>
          <p:nvPr/>
        </p:nvSpPr>
        <p:spPr>
          <a:xfrm>
            <a:off x="11338560" y="6400800"/>
            <a:ext cx="365760" cy="274320"/>
          </a:xfrm>
          <a:prstGeom prst="rect">
            <a:avLst/>
          </a:prstGeom>
          <a:noFill/>
          <a:ln/>
        </p:spPr>
        <p:txBody>
          <a:bodyPr wrap="square" lIns="0" tIns="0" rIns="0" bIns="0" rtlCol="0" anchor="ctr"/>
          <a:lstStyle/>
          <a:p>
            <a:pPr algn="r" indent="0" marL="0">
              <a:buNone/>
            </a:pPr>
            <a:r>
              <a:rPr lang="en-US" sz="1000" dirty="0">
                <a:solidFill>
                  <a:srgbClr val="5A6570"/>
                </a:solidFill>
                <a:latin typeface="Calibri" pitchFamily="34" charset="0"/>
                <a:ea typeface="Calibri" pitchFamily="34" charset="-122"/>
                <a:cs typeface="Calibri" pitchFamily="34" charset="-120"/>
              </a:rPr>
              <a:t>18</a:t>
            </a:r>
            <a:endParaRPr lang="en-US" sz="1000" dirty="0"/>
          </a:p>
        </p:txBody>
      </p:sp>
      <p:pic>
        <p:nvPicPr>
          <p:cNvPr id="6" name="Image 0" descr="img/seq_incidencia.png">    </p:cNvPr>
          <p:cNvPicPr>
            <a:picLocks noChangeAspect="1"/>
          </p:cNvPicPr>
          <p:nvPr/>
        </p:nvPicPr>
        <p:blipFill>
          <a:blip r:embed="rId1"/>
          <a:srcRect l="0" r="0" t="0" b="0"/>
          <a:stretch/>
        </p:blipFill>
        <p:spPr>
          <a:xfrm>
            <a:off x="411480" y="1298448"/>
            <a:ext cx="11338560" cy="4956048"/>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1064240" cy="566928"/>
          </a:xfrm>
          <a:prstGeom prst="rect">
            <a:avLst/>
          </a:prstGeom>
          <a:noFill/>
          <a:ln/>
        </p:spPr>
        <p:txBody>
          <a:bodyPr wrap="square" lIns="0" tIns="0" rIns="0" bIns="0" rtlCol="0" anchor="ctr"/>
          <a:lstStyle/>
          <a:p>
            <a:pPr indent="0" marL="0">
              <a:buNone/>
            </a:pPr>
            <a:r>
              <a:rPr lang="en-US" sz="3000" b="1" dirty="0">
                <a:solidFill>
                  <a:srgbClr val="1B3A5C"/>
                </a:solidFill>
                <a:latin typeface="Cambria" pitchFamily="34" charset="0"/>
                <a:ea typeface="Cambria" pitchFamily="34" charset="-122"/>
                <a:cs typeface="Cambria" pitchFamily="34" charset="-120"/>
              </a:rPr>
              <a:t>Modelo UML — Diagrama de ACTIVIDAD</a:t>
            </a:r>
            <a:endParaRPr lang="en-US" sz="3000" dirty="0"/>
          </a:p>
        </p:txBody>
      </p:sp>
      <p:sp>
        <p:nvSpPr>
          <p:cNvPr id="3" name="Text 1"/>
          <p:cNvSpPr txBox="1"/>
          <p:nvPr/>
        </p:nvSpPr>
        <p:spPr>
          <a:xfrm>
            <a:off x="548640" y="896112"/>
            <a:ext cx="11064240" cy="329184"/>
          </a:xfrm>
          <a:prstGeom prst="rect">
            <a:avLst/>
          </a:prstGeom>
          <a:noFill/>
          <a:ln/>
        </p:spPr>
        <p:txBody>
          <a:bodyPr wrap="square" lIns="0" tIns="0" rIns="0" bIns="0" rtlCol="0" anchor="ctr"/>
          <a:lstStyle/>
          <a:p>
            <a:pPr indent="0" marL="0">
              <a:buNone/>
            </a:pPr>
            <a:r>
              <a:rPr lang="en-US" sz="1350" dirty="0">
                <a:solidFill>
                  <a:srgbClr val="5A6570"/>
                </a:solidFill>
                <a:latin typeface="Calibri" pitchFamily="34" charset="0"/>
                <a:ea typeface="Calibri" pitchFamily="34" charset="-122"/>
                <a:cs typeface="Calibri" pitchFamily="34" charset="-120"/>
              </a:rPr>
              <a:t>Ciclo completo de gestión con particiones por responsable</a:t>
            </a:r>
            <a:endParaRPr lang="en-US" sz="1350" dirty="0"/>
          </a:p>
        </p:txBody>
      </p:sp>
      <p:sp>
        <p:nvSpPr>
          <p:cNvPr id="4" name="Text 2"/>
          <p:cNvSpPr txBox="1"/>
          <p:nvPr/>
        </p:nvSpPr>
        <p:spPr>
          <a:xfrm>
            <a:off x="548640" y="6400800"/>
            <a:ext cx="10058400" cy="274320"/>
          </a:xfrm>
          <a:prstGeom prst="rect">
            <a:avLst/>
          </a:prstGeom>
          <a:noFill/>
          <a:ln/>
        </p:spPr>
        <p:txBody>
          <a:bodyPr wrap="square" lIns="0" tIns="0" rIns="0" bIns="0" rtlCol="0" anchor="ctr"/>
          <a:lstStyle/>
          <a:p>
            <a:pPr indent="0" marL="0">
              <a:buNone/>
            </a:pPr>
            <a:r>
              <a:rPr lang="en-US" sz="900" dirty="0">
                <a:solidFill>
                  <a:srgbClr val="9AA4B0"/>
                </a:solidFill>
                <a:latin typeface="Calibri" pitchFamily="34" charset="0"/>
                <a:ea typeface="Calibri" pitchFamily="34" charset="-122"/>
                <a:cs typeface="Calibri" pitchFamily="34" charset="-120"/>
              </a:rPr>
              <a:t>SGIT-CCTV · Aceros Arequipa, Planta Pisco · Laminación (Trenes 1, 2 y 3)</a:t>
            </a:r>
            <a:endParaRPr lang="en-US" sz="900" dirty="0"/>
          </a:p>
        </p:txBody>
      </p:sp>
      <p:sp>
        <p:nvSpPr>
          <p:cNvPr id="5" name="Text 3"/>
          <p:cNvSpPr txBox="1"/>
          <p:nvPr/>
        </p:nvSpPr>
        <p:spPr>
          <a:xfrm>
            <a:off x="11338560" y="6400800"/>
            <a:ext cx="365760" cy="274320"/>
          </a:xfrm>
          <a:prstGeom prst="rect">
            <a:avLst/>
          </a:prstGeom>
          <a:noFill/>
          <a:ln/>
        </p:spPr>
        <p:txBody>
          <a:bodyPr wrap="square" lIns="0" tIns="0" rIns="0" bIns="0" rtlCol="0" anchor="ctr"/>
          <a:lstStyle/>
          <a:p>
            <a:pPr algn="r" indent="0" marL="0">
              <a:buNone/>
            </a:pPr>
            <a:r>
              <a:rPr lang="en-US" sz="1000" dirty="0">
                <a:solidFill>
                  <a:srgbClr val="5A6570"/>
                </a:solidFill>
                <a:latin typeface="Calibri" pitchFamily="34" charset="0"/>
                <a:ea typeface="Calibri" pitchFamily="34" charset="-122"/>
                <a:cs typeface="Calibri" pitchFamily="34" charset="-120"/>
              </a:rPr>
              <a:t>19</a:t>
            </a:r>
            <a:endParaRPr lang="en-US" sz="1000" dirty="0"/>
          </a:p>
        </p:txBody>
      </p:sp>
      <p:pic>
        <p:nvPicPr>
          <p:cNvPr id="6" name="Image 0" descr="img/act_ciclo.png">    </p:cNvPr>
          <p:cNvPicPr>
            <a:picLocks noChangeAspect="1"/>
          </p:cNvPicPr>
          <p:nvPr/>
        </p:nvPicPr>
        <p:blipFill>
          <a:blip r:embed="rId1"/>
          <a:srcRect l="0" r="0" t="0" b="0"/>
          <a:stretch/>
        </p:blipFill>
        <p:spPr>
          <a:xfrm>
            <a:off x="411480" y="1298448"/>
            <a:ext cx="11338560" cy="4956048"/>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1064240" cy="566928"/>
          </a:xfrm>
          <a:prstGeom prst="rect">
            <a:avLst/>
          </a:prstGeom>
          <a:noFill/>
          <a:ln/>
        </p:spPr>
        <p:txBody>
          <a:bodyPr wrap="square" lIns="0" tIns="0" rIns="0" bIns="0" rtlCol="0" anchor="ctr"/>
          <a:lstStyle/>
          <a:p>
            <a:pPr indent="0" marL="0">
              <a:buNone/>
            </a:pPr>
            <a:r>
              <a:rPr lang="en-US" sz="3000" b="1" dirty="0">
                <a:solidFill>
                  <a:srgbClr val="1B3A5C"/>
                </a:solidFill>
                <a:latin typeface="Cambria" pitchFamily="34" charset="0"/>
                <a:ea typeface="Cambria" pitchFamily="34" charset="-122"/>
                <a:cs typeface="Cambria" pitchFamily="34" charset="-120"/>
              </a:rPr>
              <a:t>Modelo UML — Diagrama de ESTADOS</a:t>
            </a:r>
            <a:endParaRPr lang="en-US" sz="3000" dirty="0"/>
          </a:p>
        </p:txBody>
      </p:sp>
      <p:sp>
        <p:nvSpPr>
          <p:cNvPr id="3" name="Text 1"/>
          <p:cNvSpPr txBox="1"/>
          <p:nvPr/>
        </p:nvSpPr>
        <p:spPr>
          <a:xfrm>
            <a:off x="548640" y="896112"/>
            <a:ext cx="11064240" cy="329184"/>
          </a:xfrm>
          <a:prstGeom prst="rect">
            <a:avLst/>
          </a:prstGeom>
          <a:noFill/>
          <a:ln/>
        </p:spPr>
        <p:txBody>
          <a:bodyPr wrap="square" lIns="0" tIns="0" rIns="0" bIns="0" rtlCol="0" anchor="ctr"/>
          <a:lstStyle/>
          <a:p>
            <a:pPr indent="0" marL="0">
              <a:buNone/>
            </a:pPr>
            <a:r>
              <a:rPr lang="en-US" sz="1350" dirty="0">
                <a:solidFill>
                  <a:srgbClr val="5A6570"/>
                </a:solidFill>
                <a:latin typeface="Calibri" pitchFamily="34" charset="0"/>
                <a:ea typeface="Calibri" pitchFamily="34" charset="-122"/>
                <a:cs typeface="Calibri" pitchFamily="34" charset="-120"/>
              </a:rPr>
              <a:t>Ciclo de vida de una Orden de Mantenimiento · las guardas son las que aplica de verdad el servicio</a:t>
            </a:r>
            <a:endParaRPr lang="en-US" sz="1350" dirty="0"/>
          </a:p>
        </p:txBody>
      </p:sp>
      <p:sp>
        <p:nvSpPr>
          <p:cNvPr id="4" name="Text 2"/>
          <p:cNvSpPr txBox="1"/>
          <p:nvPr/>
        </p:nvSpPr>
        <p:spPr>
          <a:xfrm>
            <a:off x="548640" y="6400800"/>
            <a:ext cx="10058400" cy="274320"/>
          </a:xfrm>
          <a:prstGeom prst="rect">
            <a:avLst/>
          </a:prstGeom>
          <a:noFill/>
          <a:ln/>
        </p:spPr>
        <p:txBody>
          <a:bodyPr wrap="square" lIns="0" tIns="0" rIns="0" bIns="0" rtlCol="0" anchor="ctr"/>
          <a:lstStyle/>
          <a:p>
            <a:pPr indent="0" marL="0">
              <a:buNone/>
            </a:pPr>
            <a:r>
              <a:rPr lang="en-US" sz="900" dirty="0">
                <a:solidFill>
                  <a:srgbClr val="9AA4B0"/>
                </a:solidFill>
                <a:latin typeface="Calibri" pitchFamily="34" charset="0"/>
                <a:ea typeface="Calibri" pitchFamily="34" charset="-122"/>
                <a:cs typeface="Calibri" pitchFamily="34" charset="-120"/>
              </a:rPr>
              <a:t>SGIT-CCTV · Aceros Arequipa, Planta Pisco · Laminación (Trenes 1, 2 y 3)</a:t>
            </a:r>
            <a:endParaRPr lang="en-US" sz="900" dirty="0"/>
          </a:p>
        </p:txBody>
      </p:sp>
      <p:sp>
        <p:nvSpPr>
          <p:cNvPr id="5" name="Text 3"/>
          <p:cNvSpPr txBox="1"/>
          <p:nvPr/>
        </p:nvSpPr>
        <p:spPr>
          <a:xfrm>
            <a:off x="11338560" y="6400800"/>
            <a:ext cx="365760" cy="274320"/>
          </a:xfrm>
          <a:prstGeom prst="rect">
            <a:avLst/>
          </a:prstGeom>
          <a:noFill/>
          <a:ln/>
        </p:spPr>
        <p:txBody>
          <a:bodyPr wrap="square" lIns="0" tIns="0" rIns="0" bIns="0" rtlCol="0" anchor="ctr"/>
          <a:lstStyle/>
          <a:p>
            <a:pPr algn="r" indent="0" marL="0">
              <a:buNone/>
            </a:pPr>
            <a:r>
              <a:rPr lang="en-US" sz="1000" dirty="0">
                <a:solidFill>
                  <a:srgbClr val="5A6570"/>
                </a:solidFill>
                <a:latin typeface="Calibri" pitchFamily="34" charset="0"/>
                <a:ea typeface="Calibri" pitchFamily="34" charset="-122"/>
                <a:cs typeface="Calibri" pitchFamily="34" charset="-120"/>
              </a:rPr>
              <a:t>20</a:t>
            </a:r>
            <a:endParaRPr lang="en-US" sz="1000" dirty="0"/>
          </a:p>
        </p:txBody>
      </p:sp>
      <p:pic>
        <p:nvPicPr>
          <p:cNvPr id="6" name="Image 0" descr="img/sta_om.png">    </p:cNvPr>
          <p:cNvPicPr>
            <a:picLocks noChangeAspect="1"/>
          </p:cNvPicPr>
          <p:nvPr/>
        </p:nvPicPr>
        <p:blipFill>
          <a:blip r:embed="rId1"/>
          <a:srcRect l="0" r="0" t="0" b="0"/>
          <a:stretch/>
        </p:blipFill>
        <p:spPr>
          <a:xfrm>
            <a:off x="411480" y="1298448"/>
            <a:ext cx="11338560" cy="4956048"/>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1064240" cy="566928"/>
          </a:xfrm>
          <a:prstGeom prst="rect">
            <a:avLst/>
          </a:prstGeom>
          <a:noFill/>
          <a:ln/>
        </p:spPr>
        <p:txBody>
          <a:bodyPr wrap="square" lIns="0" tIns="0" rIns="0" bIns="0" rtlCol="0" anchor="ctr"/>
          <a:lstStyle/>
          <a:p>
            <a:pPr indent="0" marL="0">
              <a:buNone/>
            </a:pPr>
            <a:r>
              <a:rPr lang="en-US" sz="3000" b="1" dirty="0">
                <a:solidFill>
                  <a:srgbClr val="1B3A5C"/>
                </a:solidFill>
                <a:latin typeface="Cambria" pitchFamily="34" charset="0"/>
                <a:ea typeface="Cambria" pitchFamily="34" charset="-122"/>
                <a:cs typeface="Cambria" pitchFamily="34" charset="-120"/>
              </a:rPr>
              <a:t>Seguridad y trazabilidad</a:t>
            </a:r>
            <a:endParaRPr lang="en-US" sz="3000" dirty="0"/>
          </a:p>
        </p:txBody>
      </p:sp>
      <p:sp>
        <p:nvSpPr>
          <p:cNvPr id="3" name="Text 1"/>
          <p:cNvSpPr txBox="1"/>
          <p:nvPr/>
        </p:nvSpPr>
        <p:spPr>
          <a:xfrm>
            <a:off x="548640" y="896112"/>
            <a:ext cx="11064240" cy="329184"/>
          </a:xfrm>
          <a:prstGeom prst="rect">
            <a:avLst/>
          </a:prstGeom>
          <a:noFill/>
          <a:ln/>
        </p:spPr>
        <p:txBody>
          <a:bodyPr wrap="square" lIns="0" tIns="0" rIns="0" bIns="0" rtlCol="0" anchor="ctr"/>
          <a:lstStyle/>
          <a:p>
            <a:pPr indent="0" marL="0">
              <a:buNone/>
            </a:pPr>
            <a:r>
              <a:rPr lang="en-US" sz="1350" dirty="0">
                <a:solidFill>
                  <a:srgbClr val="5A6570"/>
                </a:solidFill>
                <a:latin typeface="Calibri" pitchFamily="34" charset="0"/>
                <a:ea typeface="Calibri" pitchFamily="34" charset="-122"/>
                <a:cs typeface="Calibri" pitchFamily="34" charset="-120"/>
              </a:rPr>
              <a:t>Toda operación de escritura queda atribuida a un usuario, con marca temporal y origen</a:t>
            </a:r>
            <a:endParaRPr lang="en-US" sz="1350" dirty="0"/>
          </a:p>
        </p:txBody>
      </p:sp>
      <p:sp>
        <p:nvSpPr>
          <p:cNvPr id="4" name="Text 2"/>
          <p:cNvSpPr txBox="1"/>
          <p:nvPr/>
        </p:nvSpPr>
        <p:spPr>
          <a:xfrm>
            <a:off x="548640" y="6400800"/>
            <a:ext cx="10058400" cy="274320"/>
          </a:xfrm>
          <a:prstGeom prst="rect">
            <a:avLst/>
          </a:prstGeom>
          <a:noFill/>
          <a:ln/>
        </p:spPr>
        <p:txBody>
          <a:bodyPr wrap="square" lIns="0" tIns="0" rIns="0" bIns="0" rtlCol="0" anchor="ctr"/>
          <a:lstStyle/>
          <a:p>
            <a:pPr indent="0" marL="0">
              <a:buNone/>
            </a:pPr>
            <a:r>
              <a:rPr lang="en-US" sz="900" dirty="0">
                <a:solidFill>
                  <a:srgbClr val="9AA4B0"/>
                </a:solidFill>
                <a:latin typeface="Calibri" pitchFamily="34" charset="0"/>
                <a:ea typeface="Calibri" pitchFamily="34" charset="-122"/>
                <a:cs typeface="Calibri" pitchFamily="34" charset="-120"/>
              </a:rPr>
              <a:t>SGIT-CCTV · Aceros Arequipa, Planta Pisco · Laminación (Trenes 1, 2 y 3)</a:t>
            </a:r>
            <a:endParaRPr lang="en-US" sz="900" dirty="0"/>
          </a:p>
        </p:txBody>
      </p:sp>
      <p:sp>
        <p:nvSpPr>
          <p:cNvPr id="5" name="Text 3"/>
          <p:cNvSpPr txBox="1"/>
          <p:nvPr/>
        </p:nvSpPr>
        <p:spPr>
          <a:xfrm>
            <a:off x="11338560" y="6400800"/>
            <a:ext cx="365760" cy="274320"/>
          </a:xfrm>
          <a:prstGeom prst="rect">
            <a:avLst/>
          </a:prstGeom>
          <a:noFill/>
          <a:ln/>
        </p:spPr>
        <p:txBody>
          <a:bodyPr wrap="square" lIns="0" tIns="0" rIns="0" bIns="0" rtlCol="0" anchor="ctr"/>
          <a:lstStyle/>
          <a:p>
            <a:pPr algn="r" indent="0" marL="0">
              <a:buNone/>
            </a:pPr>
            <a:r>
              <a:rPr lang="en-US" sz="1000" dirty="0">
                <a:solidFill>
                  <a:srgbClr val="5A6570"/>
                </a:solidFill>
                <a:latin typeface="Calibri" pitchFamily="34" charset="0"/>
                <a:ea typeface="Calibri" pitchFamily="34" charset="-122"/>
                <a:cs typeface="Calibri" pitchFamily="34" charset="-120"/>
              </a:rPr>
              <a:t>21</a:t>
            </a:r>
            <a:endParaRPr lang="en-US" sz="1000" dirty="0"/>
          </a:p>
        </p:txBody>
      </p:sp>
      <p:sp>
        <p:nvSpPr>
          <p:cNvPr id="6" name="Shape 4"/>
          <p:cNvSpPr/>
          <p:nvPr/>
        </p:nvSpPr>
        <p:spPr>
          <a:xfrm>
            <a:off x="548640" y="1481328"/>
            <a:ext cx="5440680" cy="1417320"/>
          </a:xfrm>
          <a:prstGeom prst="roundRect">
            <a:avLst>
              <a:gd name="adj" fmla="val 5161"/>
            </a:avLst>
          </a:prstGeom>
          <a:solidFill>
            <a:srgbClr val="F4F7FA"/>
          </a:solidFill>
          <a:ln w="12700">
            <a:solidFill>
              <a:srgbClr val="E3E9F0"/>
            </a:solidFill>
            <a:prstDash val="solid"/>
          </a:ln>
        </p:spPr>
      </p:sp>
      <p:sp>
        <p:nvSpPr>
          <p:cNvPr id="7" name="Shape 5"/>
          <p:cNvSpPr/>
          <p:nvPr/>
        </p:nvSpPr>
        <p:spPr>
          <a:xfrm>
            <a:off x="777240" y="1709928"/>
            <a:ext cx="329184" cy="329184"/>
          </a:xfrm>
          <a:prstGeom prst="ellipse">
            <a:avLst/>
          </a:prstGeom>
          <a:solidFill>
            <a:srgbClr val="1B3A5C"/>
          </a:solidFill>
          <a:ln/>
        </p:spPr>
      </p:sp>
      <p:sp>
        <p:nvSpPr>
          <p:cNvPr id="8" name="Text 6"/>
          <p:cNvSpPr txBox="1"/>
          <p:nvPr/>
        </p:nvSpPr>
        <p:spPr>
          <a:xfrm>
            <a:off x="777240" y="1709928"/>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t>
            </a:r>
            <a:endParaRPr lang="en-US" sz="1300" dirty="0"/>
          </a:p>
        </p:txBody>
      </p:sp>
      <p:sp>
        <p:nvSpPr>
          <p:cNvPr id="9" name="Text 7"/>
          <p:cNvSpPr txBox="1"/>
          <p:nvPr/>
        </p:nvSpPr>
        <p:spPr>
          <a:xfrm>
            <a:off x="1207008" y="1682496"/>
            <a:ext cx="4572000" cy="365760"/>
          </a:xfrm>
          <a:prstGeom prst="rect">
            <a:avLst/>
          </a:prstGeom>
          <a:noFill/>
          <a:ln/>
        </p:spPr>
        <p:txBody>
          <a:bodyPr wrap="square" lIns="0" tIns="0" rIns="0" bIns="0" rtlCol="0" anchor="ctr"/>
          <a:lstStyle/>
          <a:p>
            <a:pPr indent="0" marL="0">
              <a:buNone/>
            </a:pPr>
            <a:r>
              <a:rPr lang="en-US" sz="1300" b="1" dirty="0">
                <a:solidFill>
                  <a:srgbClr val="1B3A5C"/>
                </a:solidFill>
                <a:latin typeface="Calibri" pitchFamily="34" charset="0"/>
                <a:ea typeface="Calibri" pitchFamily="34" charset="-122"/>
                <a:cs typeface="Calibri" pitchFamily="34" charset="-120"/>
              </a:rPr>
              <a:t>Control de acceso por CAPACIDAD</a:t>
            </a:r>
            <a:endParaRPr lang="en-US" sz="1300" dirty="0"/>
          </a:p>
        </p:txBody>
      </p:sp>
      <p:sp>
        <p:nvSpPr>
          <p:cNvPr id="10" name="Text 8"/>
          <p:cNvSpPr txBox="1"/>
          <p:nvPr/>
        </p:nvSpPr>
        <p:spPr>
          <a:xfrm>
            <a:off x="777240" y="2139696"/>
            <a:ext cx="5029200" cy="658368"/>
          </a:xfrm>
          <a:prstGeom prst="rect">
            <a:avLst/>
          </a:prstGeom>
          <a:noFill/>
          <a:ln/>
        </p:spPr>
        <p:txBody>
          <a:bodyPr wrap="square" lIns="0" tIns="0" rIns="0" bIns="0" rtlCol="0" anchor="ctr"/>
          <a:lstStyle/>
          <a:p>
            <a:pPr indent="0" marL="0">
              <a:buNone/>
            </a:pPr>
            <a:r>
              <a:rPr lang="en-US" sz="1080" dirty="0">
                <a:solidFill>
                  <a:srgbClr val="5A6570"/>
                </a:solidFill>
                <a:latin typeface="Calibri" pitchFamily="34" charset="0"/>
                <a:ea typeface="Calibri" pitchFamily="34" charset="-122"/>
                <a:cs typeface="Calibri" pitchFamily="34" charset="-120"/>
              </a:rPr>
              <a:t>La autorización se otorga por capacidad funcional del puesto, no por denominación del rol. 44 permisos y 13 plantillas.</a:t>
            </a:r>
            <a:endParaRPr lang="en-US" sz="1080" dirty="0"/>
          </a:p>
        </p:txBody>
      </p:sp>
      <p:sp>
        <p:nvSpPr>
          <p:cNvPr id="11" name="Shape 9"/>
          <p:cNvSpPr/>
          <p:nvPr/>
        </p:nvSpPr>
        <p:spPr>
          <a:xfrm>
            <a:off x="6172200" y="1481328"/>
            <a:ext cx="5440680" cy="1417320"/>
          </a:xfrm>
          <a:prstGeom prst="roundRect">
            <a:avLst>
              <a:gd name="adj" fmla="val 5161"/>
            </a:avLst>
          </a:prstGeom>
          <a:solidFill>
            <a:srgbClr val="F4F7FA"/>
          </a:solidFill>
          <a:ln w="12700">
            <a:solidFill>
              <a:srgbClr val="E3E9F0"/>
            </a:solidFill>
            <a:prstDash val="solid"/>
          </a:ln>
        </p:spPr>
      </p:sp>
      <p:sp>
        <p:nvSpPr>
          <p:cNvPr id="12" name="Shape 10"/>
          <p:cNvSpPr/>
          <p:nvPr/>
        </p:nvSpPr>
        <p:spPr>
          <a:xfrm>
            <a:off x="6400800" y="1709928"/>
            <a:ext cx="329184" cy="329184"/>
          </a:xfrm>
          <a:prstGeom prst="ellipse">
            <a:avLst/>
          </a:prstGeom>
          <a:solidFill>
            <a:srgbClr val="1B3A5C"/>
          </a:solidFill>
          <a:ln/>
        </p:spPr>
      </p:sp>
      <p:sp>
        <p:nvSpPr>
          <p:cNvPr id="13" name="Text 11"/>
          <p:cNvSpPr txBox="1"/>
          <p:nvPr/>
        </p:nvSpPr>
        <p:spPr>
          <a:xfrm>
            <a:off x="6400800" y="1709928"/>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t>
            </a:r>
            <a:endParaRPr lang="en-US" sz="1300" dirty="0"/>
          </a:p>
        </p:txBody>
      </p:sp>
      <p:sp>
        <p:nvSpPr>
          <p:cNvPr id="14" name="Text 12"/>
          <p:cNvSpPr txBox="1"/>
          <p:nvPr/>
        </p:nvSpPr>
        <p:spPr>
          <a:xfrm>
            <a:off x="6830568" y="1682496"/>
            <a:ext cx="4572000" cy="365760"/>
          </a:xfrm>
          <a:prstGeom prst="rect">
            <a:avLst/>
          </a:prstGeom>
          <a:noFill/>
          <a:ln/>
        </p:spPr>
        <p:txBody>
          <a:bodyPr wrap="square" lIns="0" tIns="0" rIns="0" bIns="0" rtlCol="0" anchor="ctr"/>
          <a:lstStyle/>
          <a:p>
            <a:pPr indent="0" marL="0">
              <a:buNone/>
            </a:pPr>
            <a:r>
              <a:rPr lang="en-US" sz="1300" b="1" dirty="0">
                <a:solidFill>
                  <a:srgbClr val="1B3A5C"/>
                </a:solidFill>
                <a:latin typeface="Calibri" pitchFamily="34" charset="0"/>
                <a:ea typeface="Calibri" pitchFamily="34" charset="-122"/>
                <a:cs typeface="Calibri" pitchFamily="34" charset="-120"/>
              </a:rPr>
              <a:t>Cadena de cinco guardas</a:t>
            </a:r>
            <a:endParaRPr lang="en-US" sz="1300" dirty="0"/>
          </a:p>
        </p:txBody>
      </p:sp>
      <p:sp>
        <p:nvSpPr>
          <p:cNvPr id="15" name="Text 13"/>
          <p:cNvSpPr txBox="1"/>
          <p:nvPr/>
        </p:nvSpPr>
        <p:spPr>
          <a:xfrm>
            <a:off x="6400800" y="2139696"/>
            <a:ext cx="5029200" cy="658368"/>
          </a:xfrm>
          <a:prstGeom prst="rect">
            <a:avLst/>
          </a:prstGeom>
          <a:noFill/>
          <a:ln/>
        </p:spPr>
        <p:txBody>
          <a:bodyPr wrap="square" lIns="0" tIns="0" rIns="0" bIns="0" rtlCol="0" anchor="ctr"/>
          <a:lstStyle/>
          <a:p>
            <a:pPr indent="0" marL="0">
              <a:buNone/>
            </a:pPr>
            <a:r>
              <a:rPr lang="en-US" sz="1080" dirty="0">
                <a:solidFill>
                  <a:srgbClr val="5A6570"/>
                </a:solidFill>
                <a:latin typeface="Calibri" pitchFamily="34" charset="0"/>
                <a:ea typeface="Calibri" pitchFamily="34" charset="-122"/>
                <a:cs typeface="Calibri" pitchFamily="34" charset="-120"/>
              </a:rPr>
              <a:t>Límite de peticiones, identidad, vigencia de sesión, permiso y ámbito de tren. El alcance se restringe por unidad productiva.</a:t>
            </a:r>
            <a:endParaRPr lang="en-US" sz="1080" dirty="0"/>
          </a:p>
        </p:txBody>
      </p:sp>
      <p:sp>
        <p:nvSpPr>
          <p:cNvPr id="16" name="Shape 14"/>
          <p:cNvSpPr/>
          <p:nvPr/>
        </p:nvSpPr>
        <p:spPr>
          <a:xfrm>
            <a:off x="548640" y="3081528"/>
            <a:ext cx="5440680" cy="1417320"/>
          </a:xfrm>
          <a:prstGeom prst="roundRect">
            <a:avLst>
              <a:gd name="adj" fmla="val 5161"/>
            </a:avLst>
          </a:prstGeom>
          <a:solidFill>
            <a:srgbClr val="F4F7FA"/>
          </a:solidFill>
          <a:ln w="12700">
            <a:solidFill>
              <a:srgbClr val="E3E9F0"/>
            </a:solidFill>
            <a:prstDash val="solid"/>
          </a:ln>
        </p:spPr>
      </p:sp>
      <p:sp>
        <p:nvSpPr>
          <p:cNvPr id="17" name="Shape 15"/>
          <p:cNvSpPr/>
          <p:nvPr/>
        </p:nvSpPr>
        <p:spPr>
          <a:xfrm>
            <a:off x="777240" y="3310128"/>
            <a:ext cx="329184" cy="329184"/>
          </a:xfrm>
          <a:prstGeom prst="ellipse">
            <a:avLst/>
          </a:prstGeom>
          <a:solidFill>
            <a:srgbClr val="1B3A5C"/>
          </a:solidFill>
          <a:ln/>
        </p:spPr>
      </p:sp>
      <p:sp>
        <p:nvSpPr>
          <p:cNvPr id="18" name="Text 16"/>
          <p:cNvSpPr txBox="1"/>
          <p:nvPr/>
        </p:nvSpPr>
        <p:spPr>
          <a:xfrm>
            <a:off x="777240" y="3310128"/>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t>
            </a:r>
            <a:endParaRPr lang="en-US" sz="1300" dirty="0"/>
          </a:p>
        </p:txBody>
      </p:sp>
      <p:sp>
        <p:nvSpPr>
          <p:cNvPr id="19" name="Text 17"/>
          <p:cNvSpPr txBox="1"/>
          <p:nvPr/>
        </p:nvSpPr>
        <p:spPr>
          <a:xfrm>
            <a:off x="1207008" y="3282696"/>
            <a:ext cx="4572000" cy="365760"/>
          </a:xfrm>
          <a:prstGeom prst="rect">
            <a:avLst/>
          </a:prstGeom>
          <a:noFill/>
          <a:ln/>
        </p:spPr>
        <p:txBody>
          <a:bodyPr wrap="square" lIns="0" tIns="0" rIns="0" bIns="0" rtlCol="0" anchor="ctr"/>
          <a:lstStyle/>
          <a:p>
            <a:pPr indent="0" marL="0">
              <a:buNone/>
            </a:pPr>
            <a:r>
              <a:rPr lang="en-US" sz="1300" b="1" dirty="0">
                <a:solidFill>
                  <a:srgbClr val="1B3A5C"/>
                </a:solidFill>
                <a:latin typeface="Calibri" pitchFamily="34" charset="0"/>
                <a:ea typeface="Calibri" pitchFamily="34" charset="-122"/>
                <a:cs typeface="Calibri" pitchFamily="34" charset="-120"/>
              </a:rPr>
              <a:t>Firma digital en lo irreversible</a:t>
            </a:r>
            <a:endParaRPr lang="en-US" sz="1300" dirty="0"/>
          </a:p>
        </p:txBody>
      </p:sp>
      <p:sp>
        <p:nvSpPr>
          <p:cNvPr id="20" name="Text 18"/>
          <p:cNvSpPr txBox="1"/>
          <p:nvPr/>
        </p:nvSpPr>
        <p:spPr>
          <a:xfrm>
            <a:off x="777240" y="3739896"/>
            <a:ext cx="5029200" cy="658368"/>
          </a:xfrm>
          <a:prstGeom prst="rect">
            <a:avLst/>
          </a:prstGeom>
          <a:noFill/>
          <a:ln/>
        </p:spPr>
        <p:txBody>
          <a:bodyPr wrap="square" lIns="0" tIns="0" rIns="0" bIns="0" rtlCol="0" anchor="ctr"/>
          <a:lstStyle/>
          <a:p>
            <a:pPr indent="0" marL="0">
              <a:buNone/>
            </a:pPr>
            <a:r>
              <a:rPr lang="en-US" sz="1080" dirty="0">
                <a:solidFill>
                  <a:srgbClr val="5A6570"/>
                </a:solidFill>
                <a:latin typeface="Calibri" pitchFamily="34" charset="0"/>
                <a:ea typeface="Calibri" pitchFamily="34" charset="-122"/>
                <a:cs typeface="Calibri" pitchFamily="34" charset="-120"/>
              </a:rPr>
              <a:t>El arranque, la resolución y el cierre requieren reautenticación. Se registra el firmante y la marca temporal.</a:t>
            </a:r>
            <a:endParaRPr lang="en-US" sz="1080" dirty="0"/>
          </a:p>
        </p:txBody>
      </p:sp>
      <p:sp>
        <p:nvSpPr>
          <p:cNvPr id="21" name="Shape 19"/>
          <p:cNvSpPr/>
          <p:nvPr/>
        </p:nvSpPr>
        <p:spPr>
          <a:xfrm>
            <a:off x="6172200" y="3081528"/>
            <a:ext cx="5440680" cy="1417320"/>
          </a:xfrm>
          <a:prstGeom prst="roundRect">
            <a:avLst>
              <a:gd name="adj" fmla="val 5161"/>
            </a:avLst>
          </a:prstGeom>
          <a:solidFill>
            <a:srgbClr val="F4F7FA"/>
          </a:solidFill>
          <a:ln w="12700">
            <a:solidFill>
              <a:srgbClr val="E3E9F0"/>
            </a:solidFill>
            <a:prstDash val="solid"/>
          </a:ln>
        </p:spPr>
      </p:sp>
      <p:sp>
        <p:nvSpPr>
          <p:cNvPr id="22" name="Shape 20"/>
          <p:cNvSpPr/>
          <p:nvPr/>
        </p:nvSpPr>
        <p:spPr>
          <a:xfrm>
            <a:off x="6400800" y="3310128"/>
            <a:ext cx="329184" cy="329184"/>
          </a:xfrm>
          <a:prstGeom prst="ellipse">
            <a:avLst/>
          </a:prstGeom>
          <a:solidFill>
            <a:srgbClr val="1B3A5C"/>
          </a:solidFill>
          <a:ln/>
        </p:spPr>
      </p:sp>
      <p:sp>
        <p:nvSpPr>
          <p:cNvPr id="23" name="Text 21"/>
          <p:cNvSpPr txBox="1"/>
          <p:nvPr/>
        </p:nvSpPr>
        <p:spPr>
          <a:xfrm>
            <a:off x="6400800" y="3310128"/>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t>
            </a:r>
            <a:endParaRPr lang="en-US" sz="1300" dirty="0"/>
          </a:p>
        </p:txBody>
      </p:sp>
      <p:sp>
        <p:nvSpPr>
          <p:cNvPr id="24" name="Text 22"/>
          <p:cNvSpPr txBox="1"/>
          <p:nvPr/>
        </p:nvSpPr>
        <p:spPr>
          <a:xfrm>
            <a:off x="6830568" y="3282696"/>
            <a:ext cx="4572000" cy="365760"/>
          </a:xfrm>
          <a:prstGeom prst="rect">
            <a:avLst/>
          </a:prstGeom>
          <a:noFill/>
          <a:ln/>
        </p:spPr>
        <p:txBody>
          <a:bodyPr wrap="square" lIns="0" tIns="0" rIns="0" bIns="0" rtlCol="0" anchor="ctr"/>
          <a:lstStyle/>
          <a:p>
            <a:pPr indent="0" marL="0">
              <a:buNone/>
            </a:pPr>
            <a:r>
              <a:rPr lang="en-US" sz="1300" b="1" dirty="0">
                <a:solidFill>
                  <a:srgbClr val="1B3A5C"/>
                </a:solidFill>
                <a:latin typeface="Calibri" pitchFamily="34" charset="0"/>
                <a:ea typeface="Calibri" pitchFamily="34" charset="-122"/>
                <a:cs typeface="Calibri" pitchFamily="34" charset="-120"/>
              </a:rPr>
              <a:t>Auditoría global</a:t>
            </a:r>
            <a:endParaRPr lang="en-US" sz="1300" dirty="0"/>
          </a:p>
        </p:txBody>
      </p:sp>
      <p:sp>
        <p:nvSpPr>
          <p:cNvPr id="25" name="Text 23"/>
          <p:cNvSpPr txBox="1"/>
          <p:nvPr/>
        </p:nvSpPr>
        <p:spPr>
          <a:xfrm>
            <a:off x="6400800" y="3739896"/>
            <a:ext cx="5029200" cy="658368"/>
          </a:xfrm>
          <a:prstGeom prst="rect">
            <a:avLst/>
          </a:prstGeom>
          <a:noFill/>
          <a:ln/>
        </p:spPr>
        <p:txBody>
          <a:bodyPr wrap="square" lIns="0" tIns="0" rIns="0" bIns="0" rtlCol="0" anchor="ctr"/>
          <a:lstStyle/>
          <a:p>
            <a:pPr indent="0" marL="0">
              <a:buNone/>
            </a:pPr>
            <a:r>
              <a:rPr lang="en-US" sz="1080" dirty="0">
                <a:solidFill>
                  <a:srgbClr val="5A6570"/>
                </a:solidFill>
                <a:latin typeface="Calibri" pitchFamily="34" charset="0"/>
                <a:ea typeface="Calibri" pitchFamily="34" charset="-122"/>
                <a:cs typeface="Calibri" pitchFamily="34" charset="-120"/>
              </a:rPr>
              <a:t>Toda operación de escritura queda registrada con usuario, recurso, marca temporal, dirección de origen y equipo.</a:t>
            </a:r>
            <a:endParaRPr lang="en-US" sz="1080" dirty="0"/>
          </a:p>
        </p:txBody>
      </p:sp>
      <p:sp>
        <p:nvSpPr>
          <p:cNvPr id="26" name="Shape 24"/>
          <p:cNvSpPr/>
          <p:nvPr/>
        </p:nvSpPr>
        <p:spPr>
          <a:xfrm>
            <a:off x="548640" y="4681728"/>
            <a:ext cx="5440680" cy="1417320"/>
          </a:xfrm>
          <a:prstGeom prst="roundRect">
            <a:avLst>
              <a:gd name="adj" fmla="val 5161"/>
            </a:avLst>
          </a:prstGeom>
          <a:solidFill>
            <a:srgbClr val="F4F7FA"/>
          </a:solidFill>
          <a:ln w="12700">
            <a:solidFill>
              <a:srgbClr val="E3E9F0"/>
            </a:solidFill>
            <a:prstDash val="solid"/>
          </a:ln>
        </p:spPr>
      </p:sp>
      <p:sp>
        <p:nvSpPr>
          <p:cNvPr id="27" name="Shape 25"/>
          <p:cNvSpPr/>
          <p:nvPr/>
        </p:nvSpPr>
        <p:spPr>
          <a:xfrm>
            <a:off x="777240" y="4910328"/>
            <a:ext cx="329184" cy="329184"/>
          </a:xfrm>
          <a:prstGeom prst="ellipse">
            <a:avLst/>
          </a:prstGeom>
          <a:solidFill>
            <a:srgbClr val="1B3A5C"/>
          </a:solidFill>
          <a:ln/>
        </p:spPr>
      </p:sp>
      <p:sp>
        <p:nvSpPr>
          <p:cNvPr id="28" name="Text 26"/>
          <p:cNvSpPr txBox="1"/>
          <p:nvPr/>
        </p:nvSpPr>
        <p:spPr>
          <a:xfrm>
            <a:off x="777240" y="4910328"/>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t>
            </a:r>
            <a:endParaRPr lang="en-US" sz="1300" dirty="0"/>
          </a:p>
        </p:txBody>
      </p:sp>
      <p:sp>
        <p:nvSpPr>
          <p:cNvPr id="29" name="Text 27"/>
          <p:cNvSpPr txBox="1"/>
          <p:nvPr/>
        </p:nvSpPr>
        <p:spPr>
          <a:xfrm>
            <a:off x="1207008" y="4882896"/>
            <a:ext cx="4572000" cy="365760"/>
          </a:xfrm>
          <a:prstGeom prst="rect">
            <a:avLst/>
          </a:prstGeom>
          <a:noFill/>
          <a:ln/>
        </p:spPr>
        <p:txBody>
          <a:bodyPr wrap="square" lIns="0" tIns="0" rIns="0" bIns="0" rtlCol="0" anchor="ctr"/>
          <a:lstStyle/>
          <a:p>
            <a:pPr indent="0" marL="0">
              <a:buNone/>
            </a:pPr>
            <a:r>
              <a:rPr lang="en-US" sz="1300" b="1" dirty="0">
                <a:solidFill>
                  <a:srgbClr val="1B3A5C"/>
                </a:solidFill>
                <a:latin typeface="Calibri" pitchFamily="34" charset="0"/>
                <a:ea typeface="Calibri" pitchFamily="34" charset="-122"/>
                <a:cs typeface="Calibri" pitchFamily="34" charset="-120"/>
              </a:rPr>
              <a:t>Corte de acceso inmediato</a:t>
            </a:r>
            <a:endParaRPr lang="en-US" sz="1300" dirty="0"/>
          </a:p>
        </p:txBody>
      </p:sp>
      <p:sp>
        <p:nvSpPr>
          <p:cNvPr id="30" name="Text 28"/>
          <p:cNvSpPr txBox="1"/>
          <p:nvPr/>
        </p:nvSpPr>
        <p:spPr>
          <a:xfrm>
            <a:off x="777240" y="5340096"/>
            <a:ext cx="5029200" cy="658368"/>
          </a:xfrm>
          <a:prstGeom prst="rect">
            <a:avLst/>
          </a:prstGeom>
          <a:noFill/>
          <a:ln/>
        </p:spPr>
        <p:txBody>
          <a:bodyPr wrap="square" lIns="0" tIns="0" rIns="0" bIns="0" rtlCol="0" anchor="ctr"/>
          <a:lstStyle/>
          <a:p>
            <a:pPr indent="0" marL="0">
              <a:buNone/>
            </a:pPr>
            <a:r>
              <a:rPr lang="en-US" sz="1080" dirty="0">
                <a:solidFill>
                  <a:srgbClr val="5A6570"/>
                </a:solidFill>
                <a:latin typeface="Calibri" pitchFamily="34" charset="0"/>
                <a:ea typeface="Calibri" pitchFamily="34" charset="-122"/>
                <a:cs typeface="Calibri" pitchFamily="34" charset="-120"/>
              </a:rPr>
              <a:t>La revocación de acceso de un usuario surte efecto en la petición siguiente, sin esperar la caducidad de la sesión.</a:t>
            </a:r>
            <a:endParaRPr lang="en-US" sz="1080" dirty="0"/>
          </a:p>
        </p:txBody>
      </p:sp>
      <p:sp>
        <p:nvSpPr>
          <p:cNvPr id="31" name="Shape 29"/>
          <p:cNvSpPr/>
          <p:nvPr/>
        </p:nvSpPr>
        <p:spPr>
          <a:xfrm>
            <a:off x="6172200" y="4681728"/>
            <a:ext cx="5440680" cy="1417320"/>
          </a:xfrm>
          <a:prstGeom prst="roundRect">
            <a:avLst>
              <a:gd name="adj" fmla="val 5161"/>
            </a:avLst>
          </a:prstGeom>
          <a:solidFill>
            <a:srgbClr val="F4F7FA"/>
          </a:solidFill>
          <a:ln w="12700">
            <a:solidFill>
              <a:srgbClr val="E3E9F0"/>
            </a:solidFill>
            <a:prstDash val="solid"/>
          </a:ln>
        </p:spPr>
      </p:sp>
      <p:sp>
        <p:nvSpPr>
          <p:cNvPr id="32" name="Shape 30"/>
          <p:cNvSpPr/>
          <p:nvPr/>
        </p:nvSpPr>
        <p:spPr>
          <a:xfrm>
            <a:off x="6400800" y="4910328"/>
            <a:ext cx="329184" cy="329184"/>
          </a:xfrm>
          <a:prstGeom prst="ellipse">
            <a:avLst/>
          </a:prstGeom>
          <a:solidFill>
            <a:srgbClr val="1B3A5C"/>
          </a:solidFill>
          <a:ln/>
        </p:spPr>
      </p:sp>
      <p:sp>
        <p:nvSpPr>
          <p:cNvPr id="33" name="Text 31"/>
          <p:cNvSpPr txBox="1"/>
          <p:nvPr/>
        </p:nvSpPr>
        <p:spPr>
          <a:xfrm>
            <a:off x="6400800" y="4910328"/>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t>
            </a:r>
            <a:endParaRPr lang="en-US" sz="1300" dirty="0"/>
          </a:p>
        </p:txBody>
      </p:sp>
      <p:sp>
        <p:nvSpPr>
          <p:cNvPr id="34" name="Text 32"/>
          <p:cNvSpPr txBox="1"/>
          <p:nvPr/>
        </p:nvSpPr>
        <p:spPr>
          <a:xfrm>
            <a:off x="6830568" y="4882896"/>
            <a:ext cx="4572000" cy="365760"/>
          </a:xfrm>
          <a:prstGeom prst="rect">
            <a:avLst/>
          </a:prstGeom>
          <a:noFill/>
          <a:ln/>
        </p:spPr>
        <p:txBody>
          <a:bodyPr wrap="square" lIns="0" tIns="0" rIns="0" bIns="0" rtlCol="0" anchor="ctr"/>
          <a:lstStyle/>
          <a:p>
            <a:pPr indent="0" marL="0">
              <a:buNone/>
            </a:pPr>
            <a:r>
              <a:rPr lang="en-US" sz="1300" b="1" dirty="0">
                <a:solidFill>
                  <a:srgbClr val="1B3A5C"/>
                </a:solidFill>
                <a:latin typeface="Calibri" pitchFamily="34" charset="0"/>
                <a:ea typeface="Calibri" pitchFamily="34" charset="-122"/>
                <a:cs typeface="Calibri" pitchFamily="34" charset="-120"/>
              </a:rPr>
              <a:t>Credenciales cifradas</a:t>
            </a:r>
            <a:endParaRPr lang="en-US" sz="1300" dirty="0"/>
          </a:p>
        </p:txBody>
      </p:sp>
      <p:sp>
        <p:nvSpPr>
          <p:cNvPr id="35" name="Text 33"/>
          <p:cNvSpPr txBox="1"/>
          <p:nvPr/>
        </p:nvSpPr>
        <p:spPr>
          <a:xfrm>
            <a:off x="6400800" y="5340096"/>
            <a:ext cx="5029200" cy="658368"/>
          </a:xfrm>
          <a:prstGeom prst="rect">
            <a:avLst/>
          </a:prstGeom>
          <a:noFill/>
          <a:ln/>
        </p:spPr>
        <p:txBody>
          <a:bodyPr wrap="square" lIns="0" tIns="0" rIns="0" bIns="0" rtlCol="0" anchor="ctr"/>
          <a:lstStyle/>
          <a:p>
            <a:pPr indent="0" marL="0">
              <a:buNone/>
            </a:pPr>
            <a:r>
              <a:rPr lang="en-US" sz="1080" dirty="0">
                <a:solidFill>
                  <a:srgbClr val="5A6570"/>
                </a:solidFill>
                <a:latin typeface="Calibri" pitchFamily="34" charset="0"/>
                <a:ea typeface="Calibri" pitchFamily="34" charset="-122"/>
                <a:cs typeface="Calibri" pitchFamily="34" charset="-120"/>
              </a:rPr>
              <a:t>Las credenciales de cámaras y grabadores se almacenan cifradas y su lectura exige autorización explícita.</a:t>
            </a:r>
            <a:endParaRPr lang="en-US" sz="108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1064240" cy="566928"/>
          </a:xfrm>
          <a:prstGeom prst="rect">
            <a:avLst/>
          </a:prstGeom>
          <a:noFill/>
          <a:ln/>
        </p:spPr>
        <p:txBody>
          <a:bodyPr wrap="square" lIns="0" tIns="0" rIns="0" bIns="0" rtlCol="0" anchor="ctr"/>
          <a:lstStyle/>
          <a:p>
            <a:pPr indent="0" marL="0">
              <a:buNone/>
            </a:pPr>
            <a:r>
              <a:rPr lang="en-US" sz="3000" b="1" dirty="0">
                <a:solidFill>
                  <a:srgbClr val="1B3A5C"/>
                </a:solidFill>
                <a:latin typeface="Cambria" pitchFamily="34" charset="0"/>
                <a:ea typeface="Cambria" pitchFamily="34" charset="-122"/>
                <a:cs typeface="Cambria" pitchFamily="34" charset="-120"/>
              </a:rPr>
              <a:t>Control de calidad del desarrollo</a:t>
            </a:r>
            <a:endParaRPr lang="en-US" sz="3000" dirty="0"/>
          </a:p>
        </p:txBody>
      </p:sp>
      <p:sp>
        <p:nvSpPr>
          <p:cNvPr id="3" name="Text 1"/>
          <p:cNvSpPr txBox="1"/>
          <p:nvPr/>
        </p:nvSpPr>
        <p:spPr>
          <a:xfrm>
            <a:off x="548640" y="896112"/>
            <a:ext cx="11064240" cy="329184"/>
          </a:xfrm>
          <a:prstGeom prst="rect">
            <a:avLst/>
          </a:prstGeom>
          <a:noFill/>
          <a:ln/>
        </p:spPr>
        <p:txBody>
          <a:bodyPr wrap="square" lIns="0" tIns="0" rIns="0" bIns="0" rtlCol="0" anchor="ctr"/>
          <a:lstStyle/>
          <a:p>
            <a:pPr indent="0" marL="0">
              <a:buNone/>
            </a:pPr>
            <a:r>
              <a:rPr lang="en-US" sz="1350" dirty="0">
                <a:solidFill>
                  <a:srgbClr val="5A6570"/>
                </a:solidFill>
                <a:latin typeface="Calibri" pitchFamily="34" charset="0"/>
                <a:ea typeface="Calibri" pitchFamily="34" charset="-122"/>
                <a:cs typeface="Calibri" pitchFamily="34" charset="-120"/>
              </a:rPr>
              <a:t>Cinco controles obligatorios antes de que un cambio alcance producción</a:t>
            </a:r>
            <a:endParaRPr lang="en-US" sz="1350" dirty="0"/>
          </a:p>
        </p:txBody>
      </p:sp>
      <p:sp>
        <p:nvSpPr>
          <p:cNvPr id="4" name="Text 2"/>
          <p:cNvSpPr txBox="1"/>
          <p:nvPr/>
        </p:nvSpPr>
        <p:spPr>
          <a:xfrm>
            <a:off x="548640" y="6400800"/>
            <a:ext cx="10058400" cy="274320"/>
          </a:xfrm>
          <a:prstGeom prst="rect">
            <a:avLst/>
          </a:prstGeom>
          <a:noFill/>
          <a:ln/>
        </p:spPr>
        <p:txBody>
          <a:bodyPr wrap="square" lIns="0" tIns="0" rIns="0" bIns="0" rtlCol="0" anchor="ctr"/>
          <a:lstStyle/>
          <a:p>
            <a:pPr indent="0" marL="0">
              <a:buNone/>
            </a:pPr>
            <a:r>
              <a:rPr lang="en-US" sz="900" dirty="0">
                <a:solidFill>
                  <a:srgbClr val="9AA4B0"/>
                </a:solidFill>
                <a:latin typeface="Calibri" pitchFamily="34" charset="0"/>
                <a:ea typeface="Calibri" pitchFamily="34" charset="-122"/>
                <a:cs typeface="Calibri" pitchFamily="34" charset="-120"/>
              </a:rPr>
              <a:t>SGIT-CCTV · Aceros Arequipa, Planta Pisco · Laminación (Trenes 1, 2 y 3)</a:t>
            </a:r>
            <a:endParaRPr lang="en-US" sz="900" dirty="0"/>
          </a:p>
        </p:txBody>
      </p:sp>
      <p:sp>
        <p:nvSpPr>
          <p:cNvPr id="5" name="Text 3"/>
          <p:cNvSpPr txBox="1"/>
          <p:nvPr/>
        </p:nvSpPr>
        <p:spPr>
          <a:xfrm>
            <a:off x="11338560" y="6400800"/>
            <a:ext cx="365760" cy="274320"/>
          </a:xfrm>
          <a:prstGeom prst="rect">
            <a:avLst/>
          </a:prstGeom>
          <a:noFill/>
          <a:ln/>
        </p:spPr>
        <p:txBody>
          <a:bodyPr wrap="square" lIns="0" tIns="0" rIns="0" bIns="0" rtlCol="0" anchor="ctr"/>
          <a:lstStyle/>
          <a:p>
            <a:pPr algn="r" indent="0" marL="0">
              <a:buNone/>
            </a:pPr>
            <a:r>
              <a:rPr lang="en-US" sz="1000" dirty="0">
                <a:solidFill>
                  <a:srgbClr val="5A6570"/>
                </a:solidFill>
                <a:latin typeface="Calibri" pitchFamily="34" charset="0"/>
                <a:ea typeface="Calibri" pitchFamily="34" charset="-122"/>
                <a:cs typeface="Calibri" pitchFamily="34" charset="-120"/>
              </a:rPr>
              <a:t>22</a:t>
            </a:r>
            <a:endParaRPr lang="en-US" sz="1000" dirty="0"/>
          </a:p>
        </p:txBody>
      </p:sp>
      <p:sp>
        <p:nvSpPr>
          <p:cNvPr id="6" name="Shape 4"/>
          <p:cNvSpPr/>
          <p:nvPr/>
        </p:nvSpPr>
        <p:spPr>
          <a:xfrm>
            <a:off x="548640" y="1463040"/>
            <a:ext cx="11064240" cy="841248"/>
          </a:xfrm>
          <a:prstGeom prst="roundRect">
            <a:avLst>
              <a:gd name="adj" fmla="val 8696"/>
            </a:avLst>
          </a:prstGeom>
          <a:solidFill>
            <a:srgbClr val="F4F7FA"/>
          </a:solidFill>
          <a:ln w="12700">
            <a:solidFill>
              <a:srgbClr val="E3E9F0"/>
            </a:solidFill>
            <a:prstDash val="solid"/>
          </a:ln>
        </p:spPr>
      </p:sp>
      <p:sp>
        <p:nvSpPr>
          <p:cNvPr id="7" name="Shape 5"/>
          <p:cNvSpPr/>
          <p:nvPr/>
        </p:nvSpPr>
        <p:spPr>
          <a:xfrm>
            <a:off x="749808" y="1682496"/>
            <a:ext cx="402336" cy="402336"/>
          </a:xfrm>
          <a:prstGeom prst="ellipse">
            <a:avLst/>
          </a:prstGeom>
          <a:solidFill>
            <a:srgbClr val="D9642B"/>
          </a:solidFill>
          <a:ln/>
        </p:spPr>
      </p:sp>
      <p:sp>
        <p:nvSpPr>
          <p:cNvPr id="8" name="Text 6"/>
          <p:cNvSpPr txBox="1"/>
          <p:nvPr/>
        </p:nvSpPr>
        <p:spPr>
          <a:xfrm>
            <a:off x="749808" y="168249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9" name="Text 7"/>
          <p:cNvSpPr txBox="1"/>
          <p:nvPr/>
        </p:nvSpPr>
        <p:spPr>
          <a:xfrm>
            <a:off x="1325880" y="1591056"/>
            <a:ext cx="3200400" cy="566928"/>
          </a:xfrm>
          <a:prstGeom prst="rect">
            <a:avLst/>
          </a:prstGeom>
          <a:noFill/>
          <a:ln/>
        </p:spPr>
        <p:txBody>
          <a:bodyPr wrap="square" lIns="0" tIns="0" rIns="0" bIns="0" rtlCol="0" anchor="ctr"/>
          <a:lstStyle/>
          <a:p>
            <a:pPr indent="0" marL="0">
              <a:buNone/>
            </a:pPr>
            <a:r>
              <a:rPr lang="en-US" sz="1350" b="1" dirty="0">
                <a:solidFill>
                  <a:srgbClr val="1B3A5C"/>
                </a:solidFill>
                <a:latin typeface="Calibri" pitchFamily="34" charset="0"/>
                <a:ea typeface="Calibri" pitchFamily="34" charset="-122"/>
                <a:cs typeface="Calibri" pitchFamily="34" charset="-120"/>
              </a:rPr>
              <a:t>Tipado estricto</a:t>
            </a:r>
            <a:endParaRPr lang="en-US" sz="1350" dirty="0"/>
          </a:p>
        </p:txBody>
      </p:sp>
      <p:sp>
        <p:nvSpPr>
          <p:cNvPr id="10" name="Text 8"/>
          <p:cNvSpPr txBox="1"/>
          <p:nvPr/>
        </p:nvSpPr>
        <p:spPr>
          <a:xfrm>
            <a:off x="4617720" y="1591056"/>
            <a:ext cx="6766560" cy="566928"/>
          </a:xfrm>
          <a:prstGeom prst="rect">
            <a:avLst/>
          </a:prstGeom>
          <a:noFill/>
          <a:ln/>
        </p:spPr>
        <p:txBody>
          <a:bodyPr wrap="square" lIns="0" tIns="0" rIns="0" bIns="0" rtlCol="0" anchor="ctr"/>
          <a:lstStyle/>
          <a:p>
            <a:pPr indent="0" marL="0">
              <a:buNone/>
            </a:pPr>
            <a:r>
              <a:rPr lang="en-US" sz="1120" dirty="0">
                <a:solidFill>
                  <a:srgbClr val="5A6570"/>
                </a:solidFill>
                <a:latin typeface="Calibri" pitchFamily="34" charset="0"/>
                <a:ea typeface="Calibri" pitchFamily="34" charset="-122"/>
                <a:cs typeface="Calibri" pitchFamily="34" charset="-120"/>
              </a:rPr>
              <a:t>Verificación de tipos en cliente y servidor: una referencia inválida impide la compilación.</a:t>
            </a:r>
            <a:endParaRPr lang="en-US" sz="1120" dirty="0"/>
          </a:p>
        </p:txBody>
      </p:sp>
      <p:sp>
        <p:nvSpPr>
          <p:cNvPr id="11" name="Shape 9"/>
          <p:cNvSpPr/>
          <p:nvPr/>
        </p:nvSpPr>
        <p:spPr>
          <a:xfrm>
            <a:off x="548640" y="2432304"/>
            <a:ext cx="11064240" cy="841248"/>
          </a:xfrm>
          <a:prstGeom prst="roundRect">
            <a:avLst>
              <a:gd name="adj" fmla="val 8696"/>
            </a:avLst>
          </a:prstGeom>
          <a:solidFill>
            <a:srgbClr val="FFFFFF"/>
          </a:solidFill>
          <a:ln w="12700">
            <a:solidFill>
              <a:srgbClr val="E3E9F0"/>
            </a:solidFill>
            <a:prstDash val="solid"/>
          </a:ln>
        </p:spPr>
      </p:sp>
      <p:sp>
        <p:nvSpPr>
          <p:cNvPr id="12" name="Shape 10"/>
          <p:cNvSpPr/>
          <p:nvPr/>
        </p:nvSpPr>
        <p:spPr>
          <a:xfrm>
            <a:off x="749808" y="2651760"/>
            <a:ext cx="402336" cy="402336"/>
          </a:xfrm>
          <a:prstGeom prst="ellipse">
            <a:avLst/>
          </a:prstGeom>
          <a:solidFill>
            <a:srgbClr val="D9642B"/>
          </a:solidFill>
          <a:ln/>
        </p:spPr>
      </p:sp>
      <p:sp>
        <p:nvSpPr>
          <p:cNvPr id="13" name="Text 11"/>
          <p:cNvSpPr txBox="1"/>
          <p:nvPr/>
        </p:nvSpPr>
        <p:spPr>
          <a:xfrm>
            <a:off x="749808" y="2651760"/>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4" name="Text 12"/>
          <p:cNvSpPr txBox="1"/>
          <p:nvPr/>
        </p:nvSpPr>
        <p:spPr>
          <a:xfrm>
            <a:off x="1325880" y="2560320"/>
            <a:ext cx="3200400" cy="566928"/>
          </a:xfrm>
          <a:prstGeom prst="rect">
            <a:avLst/>
          </a:prstGeom>
          <a:noFill/>
          <a:ln/>
        </p:spPr>
        <p:txBody>
          <a:bodyPr wrap="square" lIns="0" tIns="0" rIns="0" bIns="0" rtlCol="0" anchor="ctr"/>
          <a:lstStyle/>
          <a:p>
            <a:pPr indent="0" marL="0">
              <a:buNone/>
            </a:pPr>
            <a:r>
              <a:rPr lang="en-US" sz="1350" b="1" dirty="0">
                <a:solidFill>
                  <a:srgbClr val="1B3A5C"/>
                </a:solidFill>
                <a:latin typeface="Calibri" pitchFamily="34" charset="0"/>
                <a:ea typeface="Calibri" pitchFamily="34" charset="-122"/>
                <a:cs typeface="Calibri" pitchFamily="34" charset="-120"/>
              </a:rPr>
              <a:t>797 pruebas automáticas</a:t>
            </a:r>
            <a:endParaRPr lang="en-US" sz="1350" dirty="0"/>
          </a:p>
        </p:txBody>
      </p:sp>
      <p:sp>
        <p:nvSpPr>
          <p:cNvPr id="15" name="Text 13"/>
          <p:cNvSpPr txBox="1"/>
          <p:nvPr/>
        </p:nvSpPr>
        <p:spPr>
          <a:xfrm>
            <a:off x="4617720" y="2560320"/>
            <a:ext cx="6766560" cy="566928"/>
          </a:xfrm>
          <a:prstGeom prst="rect">
            <a:avLst/>
          </a:prstGeom>
          <a:noFill/>
          <a:ln/>
        </p:spPr>
        <p:txBody>
          <a:bodyPr wrap="square" lIns="0" tIns="0" rIns="0" bIns="0" rtlCol="0" anchor="ctr"/>
          <a:lstStyle/>
          <a:p>
            <a:pPr indent="0" marL="0">
              <a:buNone/>
            </a:pPr>
            <a:r>
              <a:rPr lang="en-US" sz="1120" dirty="0">
                <a:solidFill>
                  <a:srgbClr val="5A6570"/>
                </a:solidFill>
                <a:latin typeface="Calibri" pitchFamily="34" charset="0"/>
                <a:ea typeface="Calibri" pitchFamily="34" charset="-122"/>
                <a:cs typeface="Calibri" pitchFamily="34" charset="-120"/>
              </a:rPr>
              <a:t>Organizadas en 52 conjuntos. Fijan las reglas de negocio y los límites de cada perfil de usuario.</a:t>
            </a:r>
            <a:endParaRPr lang="en-US" sz="1120" dirty="0"/>
          </a:p>
        </p:txBody>
      </p:sp>
      <p:sp>
        <p:nvSpPr>
          <p:cNvPr id="16" name="Shape 14"/>
          <p:cNvSpPr/>
          <p:nvPr/>
        </p:nvSpPr>
        <p:spPr>
          <a:xfrm>
            <a:off x="548640" y="3401568"/>
            <a:ext cx="11064240" cy="841248"/>
          </a:xfrm>
          <a:prstGeom prst="roundRect">
            <a:avLst>
              <a:gd name="adj" fmla="val 8696"/>
            </a:avLst>
          </a:prstGeom>
          <a:solidFill>
            <a:srgbClr val="F4F7FA"/>
          </a:solidFill>
          <a:ln w="12700">
            <a:solidFill>
              <a:srgbClr val="E3E9F0"/>
            </a:solidFill>
            <a:prstDash val="solid"/>
          </a:ln>
        </p:spPr>
      </p:sp>
      <p:sp>
        <p:nvSpPr>
          <p:cNvPr id="17" name="Shape 15"/>
          <p:cNvSpPr/>
          <p:nvPr/>
        </p:nvSpPr>
        <p:spPr>
          <a:xfrm>
            <a:off x="749808" y="3621024"/>
            <a:ext cx="402336" cy="402336"/>
          </a:xfrm>
          <a:prstGeom prst="ellipse">
            <a:avLst/>
          </a:prstGeom>
          <a:solidFill>
            <a:srgbClr val="D9642B"/>
          </a:solidFill>
          <a:ln/>
        </p:spPr>
      </p:sp>
      <p:sp>
        <p:nvSpPr>
          <p:cNvPr id="18" name="Text 16"/>
          <p:cNvSpPr txBox="1"/>
          <p:nvPr/>
        </p:nvSpPr>
        <p:spPr>
          <a:xfrm>
            <a:off x="749808" y="36210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9" name="Text 17"/>
          <p:cNvSpPr txBox="1"/>
          <p:nvPr/>
        </p:nvSpPr>
        <p:spPr>
          <a:xfrm>
            <a:off x="1325880" y="3529584"/>
            <a:ext cx="3200400" cy="566928"/>
          </a:xfrm>
          <a:prstGeom prst="rect">
            <a:avLst/>
          </a:prstGeom>
          <a:noFill/>
          <a:ln/>
        </p:spPr>
        <p:txBody>
          <a:bodyPr wrap="square" lIns="0" tIns="0" rIns="0" bIns="0" rtlCol="0" anchor="ctr"/>
          <a:lstStyle/>
          <a:p>
            <a:pPr indent="0" marL="0">
              <a:buNone/>
            </a:pPr>
            <a:r>
              <a:rPr lang="en-US" sz="1350" b="1" dirty="0">
                <a:solidFill>
                  <a:srgbClr val="1B3A5C"/>
                </a:solidFill>
                <a:latin typeface="Calibri" pitchFamily="34" charset="0"/>
                <a:ea typeface="Calibri" pitchFamily="34" charset="-122"/>
                <a:cs typeface="Calibri" pitchFamily="34" charset="-120"/>
              </a:rPr>
              <a:t>30 verificadores propios</a:t>
            </a:r>
            <a:endParaRPr lang="en-US" sz="1350" dirty="0"/>
          </a:p>
        </p:txBody>
      </p:sp>
      <p:sp>
        <p:nvSpPr>
          <p:cNvPr id="20" name="Text 18"/>
          <p:cNvSpPr txBox="1"/>
          <p:nvPr/>
        </p:nvSpPr>
        <p:spPr>
          <a:xfrm>
            <a:off x="4617720" y="3529584"/>
            <a:ext cx="6766560" cy="566928"/>
          </a:xfrm>
          <a:prstGeom prst="rect">
            <a:avLst/>
          </a:prstGeom>
          <a:noFill/>
          <a:ln/>
        </p:spPr>
        <p:txBody>
          <a:bodyPr wrap="square" lIns="0" tIns="0" rIns="0" bIns="0" rtlCol="0" anchor="ctr"/>
          <a:lstStyle/>
          <a:p>
            <a:pPr indent="0" marL="0">
              <a:buNone/>
            </a:pPr>
            <a:r>
              <a:rPr lang="en-US" sz="1120" dirty="0">
                <a:solidFill>
                  <a:srgbClr val="5A6570"/>
                </a:solidFill>
                <a:latin typeface="Calibri" pitchFamily="34" charset="0"/>
                <a:ea typeface="Calibri" pitchFamily="34" charset="-122"/>
                <a:cs typeface="Calibri" pitchFamily="34" charset="-120"/>
              </a:rPr>
              <a:t>Controles estáticos derivados de incidencias reales, validados reproduciendo el defecto que detectan.</a:t>
            </a:r>
            <a:endParaRPr lang="en-US" sz="1120" dirty="0"/>
          </a:p>
        </p:txBody>
      </p:sp>
      <p:sp>
        <p:nvSpPr>
          <p:cNvPr id="21" name="Shape 19"/>
          <p:cNvSpPr/>
          <p:nvPr/>
        </p:nvSpPr>
        <p:spPr>
          <a:xfrm>
            <a:off x="548640" y="4370832"/>
            <a:ext cx="11064240" cy="841248"/>
          </a:xfrm>
          <a:prstGeom prst="roundRect">
            <a:avLst>
              <a:gd name="adj" fmla="val 8696"/>
            </a:avLst>
          </a:prstGeom>
          <a:solidFill>
            <a:srgbClr val="FFFFFF"/>
          </a:solidFill>
          <a:ln w="12700">
            <a:solidFill>
              <a:srgbClr val="E3E9F0"/>
            </a:solidFill>
            <a:prstDash val="solid"/>
          </a:ln>
        </p:spPr>
      </p:sp>
      <p:sp>
        <p:nvSpPr>
          <p:cNvPr id="22" name="Shape 20"/>
          <p:cNvSpPr/>
          <p:nvPr/>
        </p:nvSpPr>
        <p:spPr>
          <a:xfrm>
            <a:off x="749808" y="4590288"/>
            <a:ext cx="402336" cy="402336"/>
          </a:xfrm>
          <a:prstGeom prst="ellipse">
            <a:avLst/>
          </a:prstGeom>
          <a:solidFill>
            <a:srgbClr val="D9642B"/>
          </a:solidFill>
          <a:ln/>
        </p:spPr>
      </p:sp>
      <p:sp>
        <p:nvSpPr>
          <p:cNvPr id="23" name="Text 21"/>
          <p:cNvSpPr txBox="1"/>
          <p:nvPr/>
        </p:nvSpPr>
        <p:spPr>
          <a:xfrm>
            <a:off x="749808" y="459028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4" name="Text 22"/>
          <p:cNvSpPr txBox="1"/>
          <p:nvPr/>
        </p:nvSpPr>
        <p:spPr>
          <a:xfrm>
            <a:off x="1325880" y="4498848"/>
            <a:ext cx="3200400" cy="566928"/>
          </a:xfrm>
          <a:prstGeom prst="rect">
            <a:avLst/>
          </a:prstGeom>
          <a:noFill/>
          <a:ln/>
        </p:spPr>
        <p:txBody>
          <a:bodyPr wrap="square" lIns="0" tIns="0" rIns="0" bIns="0" rtlCol="0" anchor="ctr"/>
          <a:lstStyle/>
          <a:p>
            <a:pPr indent="0" marL="0">
              <a:buNone/>
            </a:pPr>
            <a:r>
              <a:rPr lang="en-US" sz="1350" b="1" dirty="0">
                <a:solidFill>
                  <a:srgbClr val="1B3A5C"/>
                </a:solidFill>
                <a:latin typeface="Calibri" pitchFamily="34" charset="0"/>
                <a:ea typeface="Calibri" pitchFamily="34" charset="-122"/>
                <a:cs typeface="Calibri" pitchFamily="34" charset="-120"/>
              </a:rPr>
              <a:t>Pruebas de interfaz automatizadas</a:t>
            </a:r>
            <a:endParaRPr lang="en-US" sz="1350" dirty="0"/>
          </a:p>
        </p:txBody>
      </p:sp>
      <p:sp>
        <p:nvSpPr>
          <p:cNvPr id="25" name="Text 23"/>
          <p:cNvSpPr txBox="1"/>
          <p:nvPr/>
        </p:nvSpPr>
        <p:spPr>
          <a:xfrm>
            <a:off x="4617720" y="4498848"/>
            <a:ext cx="6766560" cy="566928"/>
          </a:xfrm>
          <a:prstGeom prst="rect">
            <a:avLst/>
          </a:prstGeom>
          <a:noFill/>
          <a:ln/>
        </p:spPr>
        <p:txBody>
          <a:bodyPr wrap="square" lIns="0" tIns="0" rIns="0" bIns="0" rtlCol="0" anchor="ctr"/>
          <a:lstStyle/>
          <a:p>
            <a:pPr indent="0" marL="0">
              <a:buNone/>
            </a:pPr>
            <a:r>
              <a:rPr lang="en-US" sz="1120" dirty="0">
                <a:solidFill>
                  <a:srgbClr val="5A6570"/>
                </a:solidFill>
                <a:latin typeface="Calibri" pitchFamily="34" charset="0"/>
                <a:ea typeface="Calibri" pitchFamily="34" charset="-122"/>
                <a:cs typeface="Calibri" pitchFamily="34" charset="-120"/>
              </a:rPr>
              <a:t>Ejecución real de la aplicación en navegador de escritorio y móvil, verificando el comportamiento visible.</a:t>
            </a:r>
            <a:endParaRPr lang="en-US" sz="1120" dirty="0"/>
          </a:p>
        </p:txBody>
      </p:sp>
      <p:sp>
        <p:nvSpPr>
          <p:cNvPr id="26" name="Shape 24"/>
          <p:cNvSpPr/>
          <p:nvPr/>
        </p:nvSpPr>
        <p:spPr>
          <a:xfrm>
            <a:off x="548640" y="5340096"/>
            <a:ext cx="11064240" cy="841248"/>
          </a:xfrm>
          <a:prstGeom prst="roundRect">
            <a:avLst>
              <a:gd name="adj" fmla="val 8696"/>
            </a:avLst>
          </a:prstGeom>
          <a:solidFill>
            <a:srgbClr val="F4F7FA"/>
          </a:solidFill>
          <a:ln w="12700">
            <a:solidFill>
              <a:srgbClr val="E3E9F0"/>
            </a:solidFill>
            <a:prstDash val="solid"/>
          </a:ln>
        </p:spPr>
      </p:sp>
      <p:sp>
        <p:nvSpPr>
          <p:cNvPr id="27" name="Shape 25"/>
          <p:cNvSpPr/>
          <p:nvPr/>
        </p:nvSpPr>
        <p:spPr>
          <a:xfrm>
            <a:off x="749808" y="5559552"/>
            <a:ext cx="402336" cy="402336"/>
          </a:xfrm>
          <a:prstGeom prst="ellipse">
            <a:avLst/>
          </a:prstGeom>
          <a:solidFill>
            <a:srgbClr val="D9642B"/>
          </a:solidFill>
          <a:ln/>
        </p:spPr>
      </p:sp>
      <p:sp>
        <p:nvSpPr>
          <p:cNvPr id="28" name="Text 26"/>
          <p:cNvSpPr txBox="1"/>
          <p:nvPr/>
        </p:nvSpPr>
        <p:spPr>
          <a:xfrm>
            <a:off x="749808" y="5559552"/>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29" name="Text 27"/>
          <p:cNvSpPr txBox="1"/>
          <p:nvPr/>
        </p:nvSpPr>
        <p:spPr>
          <a:xfrm>
            <a:off x="1325880" y="5468112"/>
            <a:ext cx="3200400" cy="566928"/>
          </a:xfrm>
          <a:prstGeom prst="rect">
            <a:avLst/>
          </a:prstGeom>
          <a:noFill/>
          <a:ln/>
        </p:spPr>
        <p:txBody>
          <a:bodyPr wrap="square" lIns="0" tIns="0" rIns="0" bIns="0" rtlCol="0" anchor="ctr"/>
          <a:lstStyle/>
          <a:p>
            <a:pPr indent="0" marL="0">
              <a:buNone/>
            </a:pPr>
            <a:r>
              <a:rPr lang="en-US" sz="1350" b="1" dirty="0">
                <a:solidFill>
                  <a:srgbClr val="1B3A5C"/>
                </a:solidFill>
                <a:latin typeface="Calibri" pitchFamily="34" charset="0"/>
                <a:ea typeface="Calibri" pitchFamily="34" charset="-122"/>
                <a:cs typeface="Calibri" pitchFamily="34" charset="-120"/>
              </a:rPr>
              <a:t>Integración continua</a:t>
            </a:r>
            <a:endParaRPr lang="en-US" sz="1350" dirty="0"/>
          </a:p>
        </p:txBody>
      </p:sp>
      <p:sp>
        <p:nvSpPr>
          <p:cNvPr id="30" name="Text 28"/>
          <p:cNvSpPr txBox="1"/>
          <p:nvPr/>
        </p:nvSpPr>
        <p:spPr>
          <a:xfrm>
            <a:off x="4617720" y="5468112"/>
            <a:ext cx="6766560" cy="566928"/>
          </a:xfrm>
          <a:prstGeom prst="rect">
            <a:avLst/>
          </a:prstGeom>
          <a:noFill/>
          <a:ln/>
        </p:spPr>
        <p:txBody>
          <a:bodyPr wrap="square" lIns="0" tIns="0" rIns="0" bIns="0" rtlCol="0" anchor="ctr"/>
          <a:lstStyle/>
          <a:p>
            <a:pPr indent="0" marL="0">
              <a:buNone/>
            </a:pPr>
            <a:r>
              <a:rPr lang="en-US" sz="1120" dirty="0">
                <a:solidFill>
                  <a:srgbClr val="5A6570"/>
                </a:solidFill>
                <a:latin typeface="Calibri" pitchFamily="34" charset="0"/>
                <a:ea typeface="Calibri" pitchFamily="34" charset="-122"/>
                <a:cs typeface="Calibri" pitchFamily="34" charset="-120"/>
              </a:rPr>
              <a:t>Cada entrega ejecuta migraciones, arranque real, auditoría de dependencias y la totalidad de los controles anteriores.</a:t>
            </a:r>
            <a:endParaRPr lang="en-US" sz="112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1064240" cy="566928"/>
          </a:xfrm>
          <a:prstGeom prst="rect">
            <a:avLst/>
          </a:prstGeom>
          <a:noFill/>
          <a:ln/>
        </p:spPr>
        <p:txBody>
          <a:bodyPr wrap="square" lIns="0" tIns="0" rIns="0" bIns="0" rtlCol="0" anchor="ctr"/>
          <a:lstStyle/>
          <a:p>
            <a:pPr indent="0" marL="0">
              <a:buNone/>
            </a:pPr>
            <a:r>
              <a:rPr lang="en-US" sz="3000" b="1" dirty="0">
                <a:solidFill>
                  <a:srgbClr val="1B3A5C"/>
                </a:solidFill>
                <a:latin typeface="Cambria" pitchFamily="34" charset="0"/>
                <a:ea typeface="Cambria" pitchFamily="34" charset="-122"/>
                <a:cs typeface="Cambria" pitchFamily="34" charset="-120"/>
              </a:rPr>
              <a:t>Indicadores disponibles</a:t>
            </a:r>
            <a:endParaRPr lang="en-US" sz="3000" dirty="0"/>
          </a:p>
        </p:txBody>
      </p:sp>
      <p:sp>
        <p:nvSpPr>
          <p:cNvPr id="3" name="Text 1"/>
          <p:cNvSpPr txBox="1"/>
          <p:nvPr/>
        </p:nvSpPr>
        <p:spPr>
          <a:xfrm>
            <a:off x="548640" y="896112"/>
            <a:ext cx="11064240" cy="329184"/>
          </a:xfrm>
          <a:prstGeom prst="rect">
            <a:avLst/>
          </a:prstGeom>
          <a:noFill/>
          <a:ln/>
        </p:spPr>
        <p:txBody>
          <a:bodyPr wrap="square" lIns="0" tIns="0" rIns="0" bIns="0" rtlCol="0" anchor="ctr"/>
          <a:lstStyle/>
          <a:p>
            <a:pPr indent="0" marL="0">
              <a:buNone/>
            </a:pPr>
            <a:r>
              <a:rPr lang="en-US" sz="1350" dirty="0">
                <a:solidFill>
                  <a:srgbClr val="5A6570"/>
                </a:solidFill>
                <a:latin typeface="Calibri" pitchFamily="34" charset="0"/>
                <a:ea typeface="Calibri" pitchFamily="34" charset="-122"/>
                <a:cs typeface="Calibri" pitchFamily="34" charset="-120"/>
              </a:rPr>
              <a:t>Ninguno de estos indicadores era calculable antes, por ausencia del dato de origen</a:t>
            </a:r>
            <a:endParaRPr lang="en-US" sz="1350" dirty="0"/>
          </a:p>
        </p:txBody>
      </p:sp>
      <p:sp>
        <p:nvSpPr>
          <p:cNvPr id="4" name="Text 2"/>
          <p:cNvSpPr txBox="1"/>
          <p:nvPr/>
        </p:nvSpPr>
        <p:spPr>
          <a:xfrm>
            <a:off x="548640" y="6400800"/>
            <a:ext cx="10058400" cy="274320"/>
          </a:xfrm>
          <a:prstGeom prst="rect">
            <a:avLst/>
          </a:prstGeom>
          <a:noFill/>
          <a:ln/>
        </p:spPr>
        <p:txBody>
          <a:bodyPr wrap="square" lIns="0" tIns="0" rIns="0" bIns="0" rtlCol="0" anchor="ctr"/>
          <a:lstStyle/>
          <a:p>
            <a:pPr indent="0" marL="0">
              <a:buNone/>
            </a:pPr>
            <a:r>
              <a:rPr lang="en-US" sz="900" dirty="0">
                <a:solidFill>
                  <a:srgbClr val="9AA4B0"/>
                </a:solidFill>
                <a:latin typeface="Calibri" pitchFamily="34" charset="0"/>
                <a:ea typeface="Calibri" pitchFamily="34" charset="-122"/>
                <a:cs typeface="Calibri" pitchFamily="34" charset="-120"/>
              </a:rPr>
              <a:t>SGIT-CCTV · Aceros Arequipa, Planta Pisco · Laminación (Trenes 1, 2 y 3)</a:t>
            </a:r>
            <a:endParaRPr lang="en-US" sz="900" dirty="0"/>
          </a:p>
        </p:txBody>
      </p:sp>
      <p:sp>
        <p:nvSpPr>
          <p:cNvPr id="5" name="Text 3"/>
          <p:cNvSpPr txBox="1"/>
          <p:nvPr/>
        </p:nvSpPr>
        <p:spPr>
          <a:xfrm>
            <a:off x="11338560" y="6400800"/>
            <a:ext cx="365760" cy="274320"/>
          </a:xfrm>
          <a:prstGeom prst="rect">
            <a:avLst/>
          </a:prstGeom>
          <a:noFill/>
          <a:ln/>
        </p:spPr>
        <p:txBody>
          <a:bodyPr wrap="square" lIns="0" tIns="0" rIns="0" bIns="0" rtlCol="0" anchor="ctr"/>
          <a:lstStyle/>
          <a:p>
            <a:pPr algn="r" indent="0" marL="0">
              <a:buNone/>
            </a:pPr>
            <a:r>
              <a:rPr lang="en-US" sz="1000" dirty="0">
                <a:solidFill>
                  <a:srgbClr val="5A6570"/>
                </a:solidFill>
                <a:latin typeface="Calibri" pitchFamily="34" charset="0"/>
                <a:ea typeface="Calibri" pitchFamily="34" charset="-122"/>
                <a:cs typeface="Calibri" pitchFamily="34" charset="-120"/>
              </a:rPr>
              <a:t>23</a:t>
            </a:r>
            <a:endParaRPr lang="en-US" sz="1000" dirty="0"/>
          </a:p>
        </p:txBody>
      </p:sp>
      <p:sp>
        <p:nvSpPr>
          <p:cNvPr id="6" name="Shape 4"/>
          <p:cNvSpPr/>
          <p:nvPr/>
        </p:nvSpPr>
        <p:spPr>
          <a:xfrm>
            <a:off x="548640" y="1481328"/>
            <a:ext cx="5440680" cy="1033272"/>
          </a:xfrm>
          <a:prstGeom prst="roundRect">
            <a:avLst>
              <a:gd name="adj" fmla="val 7080"/>
            </a:avLst>
          </a:prstGeom>
          <a:solidFill>
            <a:srgbClr val="FFFFFF"/>
          </a:solidFill>
          <a:ln w="12700">
            <a:solidFill>
              <a:srgbClr val="D8E4F0"/>
            </a:solidFill>
            <a:prstDash val="solid"/>
          </a:ln>
        </p:spPr>
      </p:sp>
      <p:sp>
        <p:nvSpPr>
          <p:cNvPr id="7" name="Text 5"/>
          <p:cNvSpPr txBox="1"/>
          <p:nvPr/>
        </p:nvSpPr>
        <p:spPr>
          <a:xfrm>
            <a:off x="777240" y="1609344"/>
            <a:ext cx="5029200" cy="310896"/>
          </a:xfrm>
          <a:prstGeom prst="rect">
            <a:avLst/>
          </a:prstGeom>
          <a:noFill/>
          <a:ln/>
        </p:spPr>
        <p:txBody>
          <a:bodyPr wrap="square" lIns="0" tIns="0" rIns="0" bIns="0" rtlCol="0" anchor="ctr"/>
          <a:lstStyle/>
          <a:p>
            <a:pPr indent="0" marL="0">
              <a:buNone/>
            </a:pPr>
            <a:r>
              <a:rPr lang="en-US" sz="1300" b="1" dirty="0">
                <a:solidFill>
                  <a:srgbClr val="2E75B6"/>
                </a:solidFill>
                <a:latin typeface="Calibri" pitchFamily="34" charset="0"/>
                <a:ea typeface="Calibri" pitchFamily="34" charset="-122"/>
                <a:cs typeface="Calibri" pitchFamily="34" charset="-120"/>
              </a:rPr>
              <a:t>MTTR</a:t>
            </a:r>
            <a:endParaRPr lang="en-US" sz="1300" dirty="0"/>
          </a:p>
        </p:txBody>
      </p:sp>
      <p:sp>
        <p:nvSpPr>
          <p:cNvPr id="8" name="Text 6"/>
          <p:cNvSpPr txBox="1"/>
          <p:nvPr/>
        </p:nvSpPr>
        <p:spPr>
          <a:xfrm>
            <a:off x="777240" y="1938528"/>
            <a:ext cx="5029200" cy="512064"/>
          </a:xfrm>
          <a:prstGeom prst="rect">
            <a:avLst/>
          </a:prstGeom>
          <a:noFill/>
          <a:ln/>
        </p:spPr>
        <p:txBody>
          <a:bodyPr wrap="square" lIns="0" tIns="0" rIns="0" bIns="0" rtlCol="0" anchor="ctr"/>
          <a:lstStyle/>
          <a:p>
            <a:pPr indent="0" marL="0">
              <a:buNone/>
            </a:pPr>
            <a:r>
              <a:rPr lang="en-US" sz="1080" dirty="0">
                <a:solidFill>
                  <a:srgbClr val="5A6570"/>
                </a:solidFill>
                <a:latin typeface="Calibri" pitchFamily="34" charset="0"/>
                <a:ea typeface="Calibri" pitchFamily="34" charset="-122"/>
                <a:cs typeface="Calibri" pitchFamily="34" charset="-120"/>
              </a:rPr>
              <a:t>Tiempo medio de reparación, con separación entre demora de detección y ejecución del mantenimiento.</a:t>
            </a:r>
            <a:endParaRPr lang="en-US" sz="1080" dirty="0"/>
          </a:p>
        </p:txBody>
      </p:sp>
      <p:sp>
        <p:nvSpPr>
          <p:cNvPr id="9" name="Shape 7"/>
          <p:cNvSpPr/>
          <p:nvPr/>
        </p:nvSpPr>
        <p:spPr>
          <a:xfrm>
            <a:off x="6172200" y="1481328"/>
            <a:ext cx="5440680" cy="1033272"/>
          </a:xfrm>
          <a:prstGeom prst="roundRect">
            <a:avLst>
              <a:gd name="adj" fmla="val 7080"/>
            </a:avLst>
          </a:prstGeom>
          <a:solidFill>
            <a:srgbClr val="FFFFFF"/>
          </a:solidFill>
          <a:ln w="12700">
            <a:solidFill>
              <a:srgbClr val="D8E4F0"/>
            </a:solidFill>
            <a:prstDash val="solid"/>
          </a:ln>
        </p:spPr>
      </p:sp>
      <p:sp>
        <p:nvSpPr>
          <p:cNvPr id="10" name="Text 8"/>
          <p:cNvSpPr txBox="1"/>
          <p:nvPr/>
        </p:nvSpPr>
        <p:spPr>
          <a:xfrm>
            <a:off x="6400800" y="1609344"/>
            <a:ext cx="5029200" cy="310896"/>
          </a:xfrm>
          <a:prstGeom prst="rect">
            <a:avLst/>
          </a:prstGeom>
          <a:noFill/>
          <a:ln/>
        </p:spPr>
        <p:txBody>
          <a:bodyPr wrap="square" lIns="0" tIns="0" rIns="0" bIns="0" rtlCol="0" anchor="ctr"/>
          <a:lstStyle/>
          <a:p>
            <a:pPr indent="0" marL="0">
              <a:buNone/>
            </a:pPr>
            <a:r>
              <a:rPr lang="en-US" sz="1300" b="1" dirty="0">
                <a:solidFill>
                  <a:srgbClr val="2E75B6"/>
                </a:solidFill>
                <a:latin typeface="Calibri" pitchFamily="34" charset="0"/>
                <a:ea typeface="Calibri" pitchFamily="34" charset="-122"/>
                <a:cs typeface="Calibri" pitchFamily="34" charset="-120"/>
              </a:rPr>
              <a:t>MTBF por equipo</a:t>
            </a:r>
            <a:endParaRPr lang="en-US" sz="1300" dirty="0"/>
          </a:p>
        </p:txBody>
      </p:sp>
      <p:sp>
        <p:nvSpPr>
          <p:cNvPr id="11" name="Text 9"/>
          <p:cNvSpPr txBox="1"/>
          <p:nvPr/>
        </p:nvSpPr>
        <p:spPr>
          <a:xfrm>
            <a:off x="6400800" y="1938528"/>
            <a:ext cx="5029200" cy="512064"/>
          </a:xfrm>
          <a:prstGeom prst="rect">
            <a:avLst/>
          </a:prstGeom>
          <a:noFill/>
          <a:ln/>
        </p:spPr>
        <p:txBody>
          <a:bodyPr wrap="square" lIns="0" tIns="0" rIns="0" bIns="0" rtlCol="0" anchor="ctr"/>
          <a:lstStyle/>
          <a:p>
            <a:pPr indent="0" marL="0">
              <a:buNone/>
            </a:pPr>
            <a:r>
              <a:rPr lang="en-US" sz="1080" dirty="0">
                <a:solidFill>
                  <a:srgbClr val="5A6570"/>
                </a:solidFill>
                <a:latin typeface="Calibri" pitchFamily="34" charset="0"/>
                <a:ea typeface="Calibri" pitchFamily="34" charset="-122"/>
                <a:cs typeface="Calibri" pitchFamily="34" charset="-120"/>
              </a:rPr>
              <a:t>Tiempo medio entre fallas de cada activo. Sustenta las decisiones de reemplazo.</a:t>
            </a:r>
            <a:endParaRPr lang="en-US" sz="1080" dirty="0"/>
          </a:p>
        </p:txBody>
      </p:sp>
      <p:sp>
        <p:nvSpPr>
          <p:cNvPr id="12" name="Shape 10"/>
          <p:cNvSpPr/>
          <p:nvPr/>
        </p:nvSpPr>
        <p:spPr>
          <a:xfrm>
            <a:off x="548640" y="2679192"/>
            <a:ext cx="5440680" cy="1033272"/>
          </a:xfrm>
          <a:prstGeom prst="roundRect">
            <a:avLst>
              <a:gd name="adj" fmla="val 7080"/>
            </a:avLst>
          </a:prstGeom>
          <a:solidFill>
            <a:srgbClr val="FFFFFF"/>
          </a:solidFill>
          <a:ln w="12700">
            <a:solidFill>
              <a:srgbClr val="D8E4F0"/>
            </a:solidFill>
            <a:prstDash val="solid"/>
          </a:ln>
        </p:spPr>
      </p:sp>
      <p:sp>
        <p:nvSpPr>
          <p:cNvPr id="13" name="Text 11"/>
          <p:cNvSpPr txBox="1"/>
          <p:nvPr/>
        </p:nvSpPr>
        <p:spPr>
          <a:xfrm>
            <a:off x="777240" y="2807208"/>
            <a:ext cx="5029200" cy="310896"/>
          </a:xfrm>
          <a:prstGeom prst="rect">
            <a:avLst/>
          </a:prstGeom>
          <a:noFill/>
          <a:ln/>
        </p:spPr>
        <p:txBody>
          <a:bodyPr wrap="square" lIns="0" tIns="0" rIns="0" bIns="0" rtlCol="0" anchor="ctr"/>
          <a:lstStyle/>
          <a:p>
            <a:pPr indent="0" marL="0">
              <a:buNone/>
            </a:pPr>
            <a:r>
              <a:rPr lang="en-US" sz="1300" b="1" dirty="0">
                <a:solidFill>
                  <a:srgbClr val="2E75B6"/>
                </a:solidFill>
                <a:latin typeface="Calibri" pitchFamily="34" charset="0"/>
                <a:ea typeface="Calibri" pitchFamily="34" charset="-122"/>
                <a:cs typeface="Calibri" pitchFamily="34" charset="-120"/>
              </a:rPr>
              <a:t>Backlog de mantenimiento</a:t>
            </a:r>
            <a:endParaRPr lang="en-US" sz="1300" dirty="0"/>
          </a:p>
        </p:txBody>
      </p:sp>
      <p:sp>
        <p:nvSpPr>
          <p:cNvPr id="14" name="Text 12"/>
          <p:cNvSpPr txBox="1"/>
          <p:nvPr/>
        </p:nvSpPr>
        <p:spPr>
          <a:xfrm>
            <a:off x="777240" y="3136392"/>
            <a:ext cx="5029200" cy="512064"/>
          </a:xfrm>
          <a:prstGeom prst="rect">
            <a:avLst/>
          </a:prstGeom>
          <a:noFill/>
          <a:ln/>
        </p:spPr>
        <p:txBody>
          <a:bodyPr wrap="square" lIns="0" tIns="0" rIns="0" bIns="0" rtlCol="0" anchor="ctr"/>
          <a:lstStyle/>
          <a:p>
            <a:pPr indent="0" marL="0">
              <a:buNone/>
            </a:pPr>
            <a:r>
              <a:rPr lang="en-US" sz="1080" dirty="0">
                <a:solidFill>
                  <a:srgbClr val="5A6570"/>
                </a:solidFill>
                <a:latin typeface="Calibri" pitchFamily="34" charset="0"/>
                <a:ea typeface="Calibri" pitchFamily="34" charset="-122"/>
                <a:cs typeface="Calibri" pitchFamily="34" charset="-120"/>
              </a:rPr>
              <a:t>Trabajo pendiente y vencido, con su antigüedad, como medida de la carga acumulada.</a:t>
            </a:r>
            <a:endParaRPr lang="en-US" sz="1080" dirty="0"/>
          </a:p>
        </p:txBody>
      </p:sp>
      <p:sp>
        <p:nvSpPr>
          <p:cNvPr id="15" name="Shape 13"/>
          <p:cNvSpPr/>
          <p:nvPr/>
        </p:nvSpPr>
        <p:spPr>
          <a:xfrm>
            <a:off x="6172200" y="2679192"/>
            <a:ext cx="5440680" cy="1033272"/>
          </a:xfrm>
          <a:prstGeom prst="roundRect">
            <a:avLst>
              <a:gd name="adj" fmla="val 7080"/>
            </a:avLst>
          </a:prstGeom>
          <a:solidFill>
            <a:srgbClr val="FFFFFF"/>
          </a:solidFill>
          <a:ln w="12700">
            <a:solidFill>
              <a:srgbClr val="D8E4F0"/>
            </a:solidFill>
            <a:prstDash val="solid"/>
          </a:ln>
        </p:spPr>
      </p:sp>
      <p:sp>
        <p:nvSpPr>
          <p:cNvPr id="16" name="Text 14"/>
          <p:cNvSpPr txBox="1"/>
          <p:nvPr/>
        </p:nvSpPr>
        <p:spPr>
          <a:xfrm>
            <a:off x="6400800" y="2807208"/>
            <a:ext cx="5029200" cy="310896"/>
          </a:xfrm>
          <a:prstGeom prst="rect">
            <a:avLst/>
          </a:prstGeom>
          <a:noFill/>
          <a:ln/>
        </p:spPr>
        <p:txBody>
          <a:bodyPr wrap="square" lIns="0" tIns="0" rIns="0" bIns="0" rtlCol="0" anchor="ctr"/>
          <a:lstStyle/>
          <a:p>
            <a:pPr indent="0" marL="0">
              <a:buNone/>
            </a:pPr>
            <a:r>
              <a:rPr lang="en-US" sz="1300" b="1" dirty="0">
                <a:solidFill>
                  <a:srgbClr val="2E75B6"/>
                </a:solidFill>
                <a:latin typeface="Calibri" pitchFamily="34" charset="0"/>
                <a:ea typeface="Calibri" pitchFamily="34" charset="-122"/>
                <a:cs typeface="Calibri" pitchFamily="34" charset="-120"/>
              </a:rPr>
              <a:t>Cumplimiento del preventivo</a:t>
            </a:r>
            <a:endParaRPr lang="en-US" sz="1300" dirty="0"/>
          </a:p>
        </p:txBody>
      </p:sp>
      <p:sp>
        <p:nvSpPr>
          <p:cNvPr id="17" name="Text 15"/>
          <p:cNvSpPr txBox="1"/>
          <p:nvPr/>
        </p:nvSpPr>
        <p:spPr>
          <a:xfrm>
            <a:off x="6400800" y="3136392"/>
            <a:ext cx="5029200" cy="512064"/>
          </a:xfrm>
          <a:prstGeom prst="rect">
            <a:avLst/>
          </a:prstGeom>
          <a:noFill/>
          <a:ln/>
        </p:spPr>
        <p:txBody>
          <a:bodyPr wrap="square" lIns="0" tIns="0" rIns="0" bIns="0" rtlCol="0" anchor="ctr"/>
          <a:lstStyle/>
          <a:p>
            <a:pPr indent="0" marL="0">
              <a:buNone/>
            </a:pPr>
            <a:r>
              <a:rPr lang="en-US" sz="1080" dirty="0">
                <a:solidFill>
                  <a:srgbClr val="5A6570"/>
                </a:solidFill>
                <a:latin typeface="Calibri" pitchFamily="34" charset="0"/>
                <a:ea typeface="Calibri" pitchFamily="34" charset="-122"/>
                <a:cs typeface="Calibri" pitchFamily="34" charset="-120"/>
              </a:rPr>
              <a:t>Porcentaje del plan ejecutado dentro de la fecha programada.</a:t>
            </a:r>
            <a:endParaRPr lang="en-US" sz="1080" dirty="0"/>
          </a:p>
        </p:txBody>
      </p:sp>
      <p:sp>
        <p:nvSpPr>
          <p:cNvPr id="18" name="Shape 16"/>
          <p:cNvSpPr/>
          <p:nvPr/>
        </p:nvSpPr>
        <p:spPr>
          <a:xfrm>
            <a:off x="548640" y="3877056"/>
            <a:ext cx="5440680" cy="1033272"/>
          </a:xfrm>
          <a:prstGeom prst="roundRect">
            <a:avLst>
              <a:gd name="adj" fmla="val 7080"/>
            </a:avLst>
          </a:prstGeom>
          <a:solidFill>
            <a:srgbClr val="FFFFFF"/>
          </a:solidFill>
          <a:ln w="12700">
            <a:solidFill>
              <a:srgbClr val="D8E4F0"/>
            </a:solidFill>
            <a:prstDash val="solid"/>
          </a:ln>
        </p:spPr>
      </p:sp>
      <p:sp>
        <p:nvSpPr>
          <p:cNvPr id="19" name="Text 17"/>
          <p:cNvSpPr txBox="1"/>
          <p:nvPr/>
        </p:nvSpPr>
        <p:spPr>
          <a:xfrm>
            <a:off x="777240" y="4005072"/>
            <a:ext cx="5029200" cy="310896"/>
          </a:xfrm>
          <a:prstGeom prst="rect">
            <a:avLst/>
          </a:prstGeom>
          <a:noFill/>
          <a:ln/>
        </p:spPr>
        <p:txBody>
          <a:bodyPr wrap="square" lIns="0" tIns="0" rIns="0" bIns="0" rtlCol="0" anchor="ctr"/>
          <a:lstStyle/>
          <a:p>
            <a:pPr indent="0" marL="0">
              <a:buNone/>
            </a:pPr>
            <a:r>
              <a:rPr lang="en-US" sz="1300" b="1" dirty="0">
                <a:solidFill>
                  <a:srgbClr val="2E75B6"/>
                </a:solidFill>
                <a:latin typeface="Calibri" pitchFamily="34" charset="0"/>
                <a:ea typeface="Calibri" pitchFamily="34" charset="-122"/>
                <a:cs typeface="Calibri" pitchFamily="34" charset="-120"/>
              </a:rPr>
              <a:t>Reparto correctivo / preventivo</a:t>
            </a:r>
            <a:endParaRPr lang="en-US" sz="1300" dirty="0"/>
          </a:p>
        </p:txBody>
      </p:sp>
      <p:sp>
        <p:nvSpPr>
          <p:cNvPr id="20" name="Text 18"/>
          <p:cNvSpPr txBox="1"/>
          <p:nvPr/>
        </p:nvSpPr>
        <p:spPr>
          <a:xfrm>
            <a:off x="777240" y="4334256"/>
            <a:ext cx="5029200" cy="512064"/>
          </a:xfrm>
          <a:prstGeom prst="rect">
            <a:avLst/>
          </a:prstGeom>
          <a:noFill/>
          <a:ln/>
        </p:spPr>
        <p:txBody>
          <a:bodyPr wrap="square" lIns="0" tIns="0" rIns="0" bIns="0" rtlCol="0" anchor="ctr"/>
          <a:lstStyle/>
          <a:p>
            <a:pPr indent="0" marL="0">
              <a:buNone/>
            </a:pPr>
            <a:r>
              <a:rPr lang="en-US" sz="1080" dirty="0">
                <a:solidFill>
                  <a:srgbClr val="5A6570"/>
                </a:solidFill>
                <a:latin typeface="Calibri" pitchFamily="34" charset="0"/>
                <a:ea typeface="Calibri" pitchFamily="34" charset="-122"/>
                <a:cs typeface="Calibri" pitchFamily="34" charset="-120"/>
              </a:rPr>
              <a:t>Proporción entre trabajo reactivo y trabajo planificado. Indicador de madurez de la gestión.</a:t>
            </a:r>
            <a:endParaRPr lang="en-US" sz="1080" dirty="0"/>
          </a:p>
        </p:txBody>
      </p:sp>
      <p:sp>
        <p:nvSpPr>
          <p:cNvPr id="21" name="Shape 19"/>
          <p:cNvSpPr/>
          <p:nvPr/>
        </p:nvSpPr>
        <p:spPr>
          <a:xfrm>
            <a:off x="6172200" y="3877056"/>
            <a:ext cx="5440680" cy="1033272"/>
          </a:xfrm>
          <a:prstGeom prst="roundRect">
            <a:avLst>
              <a:gd name="adj" fmla="val 7080"/>
            </a:avLst>
          </a:prstGeom>
          <a:solidFill>
            <a:srgbClr val="FFFFFF"/>
          </a:solidFill>
          <a:ln w="12700">
            <a:solidFill>
              <a:srgbClr val="D8E4F0"/>
            </a:solidFill>
            <a:prstDash val="solid"/>
          </a:ln>
        </p:spPr>
      </p:sp>
      <p:sp>
        <p:nvSpPr>
          <p:cNvPr id="22" name="Text 20"/>
          <p:cNvSpPr txBox="1"/>
          <p:nvPr/>
        </p:nvSpPr>
        <p:spPr>
          <a:xfrm>
            <a:off x="6400800" y="4005072"/>
            <a:ext cx="5029200" cy="310896"/>
          </a:xfrm>
          <a:prstGeom prst="rect">
            <a:avLst/>
          </a:prstGeom>
          <a:noFill/>
          <a:ln/>
        </p:spPr>
        <p:txBody>
          <a:bodyPr wrap="square" lIns="0" tIns="0" rIns="0" bIns="0" rtlCol="0" anchor="ctr"/>
          <a:lstStyle/>
          <a:p>
            <a:pPr indent="0" marL="0">
              <a:buNone/>
            </a:pPr>
            <a:r>
              <a:rPr lang="en-US" sz="1300" b="1" dirty="0">
                <a:solidFill>
                  <a:srgbClr val="2E75B6"/>
                </a:solidFill>
                <a:latin typeface="Calibri" pitchFamily="34" charset="0"/>
                <a:ea typeface="Calibri" pitchFamily="34" charset="-122"/>
                <a:cs typeface="Calibri" pitchFamily="34" charset="-120"/>
              </a:rPr>
              <a:t>Nivel de servicio</a:t>
            </a:r>
            <a:endParaRPr lang="en-US" sz="1300" dirty="0"/>
          </a:p>
        </p:txBody>
      </p:sp>
      <p:sp>
        <p:nvSpPr>
          <p:cNvPr id="23" name="Text 21"/>
          <p:cNvSpPr txBox="1"/>
          <p:nvPr/>
        </p:nvSpPr>
        <p:spPr>
          <a:xfrm>
            <a:off x="6400800" y="4334256"/>
            <a:ext cx="5029200" cy="512064"/>
          </a:xfrm>
          <a:prstGeom prst="rect">
            <a:avLst/>
          </a:prstGeom>
          <a:noFill/>
          <a:ln/>
        </p:spPr>
        <p:txBody>
          <a:bodyPr wrap="square" lIns="0" tIns="0" rIns="0" bIns="0" rtlCol="0" anchor="ctr"/>
          <a:lstStyle/>
          <a:p>
            <a:pPr indent="0" marL="0">
              <a:buNone/>
            </a:pPr>
            <a:r>
              <a:rPr lang="en-US" sz="1080" dirty="0">
                <a:solidFill>
                  <a:srgbClr val="5A6570"/>
                </a:solidFill>
                <a:latin typeface="Calibri" pitchFamily="34" charset="0"/>
                <a:ea typeface="Calibri" pitchFamily="34" charset="-122"/>
                <a:cs typeface="Calibri" pitchFamily="34" charset="-120"/>
              </a:rPr>
              <a:t>Proporción de órdenes atendidas dentro del plazo comprometido.</a:t>
            </a:r>
            <a:endParaRPr lang="en-US" sz="1080" dirty="0"/>
          </a:p>
        </p:txBody>
      </p:sp>
      <p:sp>
        <p:nvSpPr>
          <p:cNvPr id="24" name="Shape 22"/>
          <p:cNvSpPr/>
          <p:nvPr/>
        </p:nvSpPr>
        <p:spPr>
          <a:xfrm>
            <a:off x="548640" y="5074920"/>
            <a:ext cx="5440680" cy="1033272"/>
          </a:xfrm>
          <a:prstGeom prst="roundRect">
            <a:avLst>
              <a:gd name="adj" fmla="val 7080"/>
            </a:avLst>
          </a:prstGeom>
          <a:solidFill>
            <a:srgbClr val="FFFFFF"/>
          </a:solidFill>
          <a:ln w="12700">
            <a:solidFill>
              <a:srgbClr val="D8E4F0"/>
            </a:solidFill>
            <a:prstDash val="solid"/>
          </a:ln>
        </p:spPr>
      </p:sp>
      <p:sp>
        <p:nvSpPr>
          <p:cNvPr id="25" name="Text 23"/>
          <p:cNvSpPr txBox="1"/>
          <p:nvPr/>
        </p:nvSpPr>
        <p:spPr>
          <a:xfrm>
            <a:off x="777240" y="5202936"/>
            <a:ext cx="5029200" cy="310896"/>
          </a:xfrm>
          <a:prstGeom prst="rect">
            <a:avLst/>
          </a:prstGeom>
          <a:noFill/>
          <a:ln/>
        </p:spPr>
        <p:txBody>
          <a:bodyPr wrap="square" lIns="0" tIns="0" rIns="0" bIns="0" rtlCol="0" anchor="ctr"/>
          <a:lstStyle/>
          <a:p>
            <a:pPr indent="0" marL="0">
              <a:buNone/>
            </a:pPr>
            <a:r>
              <a:rPr lang="en-US" sz="1300" b="1" dirty="0">
                <a:solidFill>
                  <a:srgbClr val="2E75B6"/>
                </a:solidFill>
                <a:latin typeface="Calibri" pitchFamily="34" charset="0"/>
                <a:ea typeface="Calibri" pitchFamily="34" charset="-122"/>
                <a:cs typeface="Calibri" pitchFamily="34" charset="-120"/>
              </a:rPr>
              <a:t>Concentración de fallas</a:t>
            </a:r>
            <a:endParaRPr lang="en-US" sz="1300" dirty="0"/>
          </a:p>
        </p:txBody>
      </p:sp>
      <p:sp>
        <p:nvSpPr>
          <p:cNvPr id="26" name="Text 24"/>
          <p:cNvSpPr txBox="1"/>
          <p:nvPr/>
        </p:nvSpPr>
        <p:spPr>
          <a:xfrm>
            <a:off x="777240" y="5532120"/>
            <a:ext cx="5029200" cy="512064"/>
          </a:xfrm>
          <a:prstGeom prst="rect">
            <a:avLst/>
          </a:prstGeom>
          <a:noFill/>
          <a:ln/>
        </p:spPr>
        <p:txBody>
          <a:bodyPr wrap="square" lIns="0" tIns="0" rIns="0" bIns="0" rtlCol="0" anchor="ctr"/>
          <a:lstStyle/>
          <a:p>
            <a:pPr indent="0" marL="0">
              <a:buNone/>
            </a:pPr>
            <a:r>
              <a:rPr lang="en-US" sz="1080" dirty="0">
                <a:solidFill>
                  <a:srgbClr val="5A6570"/>
                </a:solidFill>
                <a:latin typeface="Calibri" pitchFamily="34" charset="0"/>
                <a:ea typeface="Calibri" pitchFamily="34" charset="-122"/>
                <a:cs typeface="Calibri" pitchFamily="34" charset="-120"/>
              </a:rPr>
              <a:t>Activos ordenados por número de incidencias. Sustento del presupuesto de repuestos.</a:t>
            </a:r>
            <a:endParaRPr lang="en-US" sz="1080" dirty="0"/>
          </a:p>
        </p:txBody>
      </p:sp>
      <p:sp>
        <p:nvSpPr>
          <p:cNvPr id="27" name="Shape 25"/>
          <p:cNvSpPr/>
          <p:nvPr/>
        </p:nvSpPr>
        <p:spPr>
          <a:xfrm>
            <a:off x="6172200" y="5074920"/>
            <a:ext cx="5440680" cy="1033272"/>
          </a:xfrm>
          <a:prstGeom prst="roundRect">
            <a:avLst>
              <a:gd name="adj" fmla="val 7080"/>
            </a:avLst>
          </a:prstGeom>
          <a:solidFill>
            <a:srgbClr val="FFFFFF"/>
          </a:solidFill>
          <a:ln w="12700">
            <a:solidFill>
              <a:srgbClr val="D8E4F0"/>
            </a:solidFill>
            <a:prstDash val="solid"/>
          </a:ln>
        </p:spPr>
      </p:sp>
      <p:sp>
        <p:nvSpPr>
          <p:cNvPr id="28" name="Text 26"/>
          <p:cNvSpPr txBox="1"/>
          <p:nvPr/>
        </p:nvSpPr>
        <p:spPr>
          <a:xfrm>
            <a:off x="6400800" y="5202936"/>
            <a:ext cx="5029200" cy="310896"/>
          </a:xfrm>
          <a:prstGeom prst="rect">
            <a:avLst/>
          </a:prstGeom>
          <a:noFill/>
          <a:ln/>
        </p:spPr>
        <p:txBody>
          <a:bodyPr wrap="square" lIns="0" tIns="0" rIns="0" bIns="0" rtlCol="0" anchor="ctr"/>
          <a:lstStyle/>
          <a:p>
            <a:pPr indent="0" marL="0">
              <a:buNone/>
            </a:pPr>
            <a:r>
              <a:rPr lang="en-US" sz="1300" b="1" dirty="0">
                <a:solidFill>
                  <a:srgbClr val="2E75B6"/>
                </a:solidFill>
                <a:latin typeface="Calibri" pitchFamily="34" charset="0"/>
                <a:ea typeface="Calibri" pitchFamily="34" charset="-122"/>
                <a:cs typeface="Calibri" pitchFamily="34" charset="-120"/>
              </a:rPr>
              <a:t>Cumplimiento normativo</a:t>
            </a:r>
            <a:endParaRPr lang="en-US" sz="1300" dirty="0"/>
          </a:p>
        </p:txBody>
      </p:sp>
      <p:sp>
        <p:nvSpPr>
          <p:cNvPr id="29" name="Text 27"/>
          <p:cNvSpPr txBox="1"/>
          <p:nvPr/>
        </p:nvSpPr>
        <p:spPr>
          <a:xfrm>
            <a:off x="6400800" y="5532120"/>
            <a:ext cx="5029200" cy="512064"/>
          </a:xfrm>
          <a:prstGeom prst="rect">
            <a:avLst/>
          </a:prstGeom>
          <a:noFill/>
          <a:ln/>
        </p:spPr>
        <p:txBody>
          <a:bodyPr wrap="square" lIns="0" tIns="0" rIns="0" bIns="0" rtlCol="0" anchor="ctr"/>
          <a:lstStyle/>
          <a:p>
            <a:pPr indent="0" marL="0">
              <a:buNone/>
            </a:pPr>
            <a:r>
              <a:rPr lang="en-US" sz="1080" dirty="0">
                <a:solidFill>
                  <a:srgbClr val="5A6570"/>
                </a:solidFill>
                <a:latin typeface="Calibri" pitchFamily="34" charset="0"/>
                <a:ea typeface="Calibri" pitchFamily="34" charset="-122"/>
                <a:cs typeface="Calibri" pitchFamily="34" charset="-120"/>
              </a:rPr>
              <a:t>Registros que no cumplen los requisitos documentales del propio sistema, con su punto de corrección.</a:t>
            </a:r>
            <a:endParaRPr lang="en-US" sz="108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1064240" cy="566928"/>
          </a:xfrm>
          <a:prstGeom prst="rect">
            <a:avLst/>
          </a:prstGeom>
          <a:noFill/>
          <a:ln/>
        </p:spPr>
        <p:txBody>
          <a:bodyPr wrap="square" lIns="0" tIns="0" rIns="0" bIns="0" rtlCol="0" anchor="ctr"/>
          <a:lstStyle/>
          <a:p>
            <a:pPr indent="0" marL="0">
              <a:buNone/>
            </a:pPr>
            <a:r>
              <a:rPr lang="en-US" sz="3000" b="1" dirty="0">
                <a:solidFill>
                  <a:srgbClr val="1B3A5C"/>
                </a:solidFill>
                <a:latin typeface="Cambria" pitchFamily="34" charset="0"/>
                <a:ea typeface="Cambria" pitchFamily="34" charset="-122"/>
                <a:cs typeface="Cambria" pitchFamily="34" charset="-120"/>
              </a:rPr>
              <a:t>Base sobre la que se apoya el crecimiento</a:t>
            </a:r>
            <a:endParaRPr lang="en-US" sz="3000" dirty="0"/>
          </a:p>
        </p:txBody>
      </p:sp>
      <p:sp>
        <p:nvSpPr>
          <p:cNvPr id="3" name="Text 1"/>
          <p:cNvSpPr txBox="1"/>
          <p:nvPr/>
        </p:nvSpPr>
        <p:spPr>
          <a:xfrm>
            <a:off x="548640" y="896112"/>
            <a:ext cx="11064240" cy="329184"/>
          </a:xfrm>
          <a:prstGeom prst="rect">
            <a:avLst/>
          </a:prstGeom>
          <a:noFill/>
          <a:ln/>
        </p:spPr>
        <p:txBody>
          <a:bodyPr wrap="square" lIns="0" tIns="0" rIns="0" bIns="0" rtlCol="0" anchor="ctr"/>
          <a:lstStyle/>
          <a:p>
            <a:pPr indent="0" marL="0">
              <a:buNone/>
            </a:pPr>
            <a:r>
              <a:rPr lang="en-US" sz="1350" dirty="0">
                <a:solidFill>
                  <a:srgbClr val="5A6570"/>
                </a:solidFill>
                <a:latin typeface="Calibri" pitchFamily="34" charset="0"/>
                <a:ea typeface="Calibri" pitchFamily="34" charset="-122"/>
                <a:cs typeface="Calibri" pitchFamily="34" charset="-120"/>
              </a:rPr>
              <a:t>El sistema no sólo documenta la operación: acumula el dato que sustenta las decisiones de inversión</a:t>
            </a:r>
            <a:endParaRPr lang="en-US" sz="1350" dirty="0"/>
          </a:p>
        </p:txBody>
      </p:sp>
      <p:sp>
        <p:nvSpPr>
          <p:cNvPr id="4" name="Text 2"/>
          <p:cNvSpPr txBox="1"/>
          <p:nvPr/>
        </p:nvSpPr>
        <p:spPr>
          <a:xfrm>
            <a:off x="548640" y="6400800"/>
            <a:ext cx="10058400" cy="274320"/>
          </a:xfrm>
          <a:prstGeom prst="rect">
            <a:avLst/>
          </a:prstGeom>
          <a:noFill/>
          <a:ln/>
        </p:spPr>
        <p:txBody>
          <a:bodyPr wrap="square" lIns="0" tIns="0" rIns="0" bIns="0" rtlCol="0" anchor="ctr"/>
          <a:lstStyle/>
          <a:p>
            <a:pPr indent="0" marL="0">
              <a:buNone/>
            </a:pPr>
            <a:r>
              <a:rPr lang="en-US" sz="900" dirty="0">
                <a:solidFill>
                  <a:srgbClr val="9AA4B0"/>
                </a:solidFill>
                <a:latin typeface="Calibri" pitchFamily="34" charset="0"/>
                <a:ea typeface="Calibri" pitchFamily="34" charset="-122"/>
                <a:cs typeface="Calibri" pitchFamily="34" charset="-120"/>
              </a:rPr>
              <a:t>SGIT-CCTV · Aceros Arequipa, Planta Pisco · Laminación (Trenes 1, 2 y 3)</a:t>
            </a:r>
            <a:endParaRPr lang="en-US" sz="900" dirty="0"/>
          </a:p>
        </p:txBody>
      </p:sp>
      <p:sp>
        <p:nvSpPr>
          <p:cNvPr id="5" name="Text 3"/>
          <p:cNvSpPr txBox="1"/>
          <p:nvPr/>
        </p:nvSpPr>
        <p:spPr>
          <a:xfrm>
            <a:off x="11338560" y="6400800"/>
            <a:ext cx="365760" cy="274320"/>
          </a:xfrm>
          <a:prstGeom prst="rect">
            <a:avLst/>
          </a:prstGeom>
          <a:noFill/>
          <a:ln/>
        </p:spPr>
        <p:txBody>
          <a:bodyPr wrap="square" lIns="0" tIns="0" rIns="0" bIns="0" rtlCol="0" anchor="ctr"/>
          <a:lstStyle/>
          <a:p>
            <a:pPr algn="r" indent="0" marL="0">
              <a:buNone/>
            </a:pPr>
            <a:r>
              <a:rPr lang="en-US" sz="1000" dirty="0">
                <a:solidFill>
                  <a:srgbClr val="5A6570"/>
                </a:solidFill>
                <a:latin typeface="Calibri" pitchFamily="34" charset="0"/>
                <a:ea typeface="Calibri" pitchFamily="34" charset="-122"/>
                <a:cs typeface="Calibri" pitchFamily="34" charset="-120"/>
              </a:rPr>
              <a:t>24</a:t>
            </a:r>
            <a:endParaRPr lang="en-US" sz="1000" dirty="0"/>
          </a:p>
        </p:txBody>
      </p:sp>
      <p:sp>
        <p:nvSpPr>
          <p:cNvPr id="6" name="Shape 4"/>
          <p:cNvSpPr/>
          <p:nvPr/>
        </p:nvSpPr>
        <p:spPr>
          <a:xfrm>
            <a:off x="548640" y="1463040"/>
            <a:ext cx="5440680" cy="1444752"/>
          </a:xfrm>
          <a:prstGeom prst="roundRect">
            <a:avLst>
              <a:gd name="adj" fmla="val 5063"/>
            </a:avLst>
          </a:prstGeom>
          <a:solidFill>
            <a:srgbClr val="F4F7FA"/>
          </a:solidFill>
          <a:ln w="12700">
            <a:solidFill>
              <a:srgbClr val="E3E9F0"/>
            </a:solidFill>
            <a:prstDash val="solid"/>
          </a:ln>
        </p:spPr>
      </p:sp>
      <p:sp>
        <p:nvSpPr>
          <p:cNvPr id="7" name="Shape 5"/>
          <p:cNvSpPr/>
          <p:nvPr/>
        </p:nvSpPr>
        <p:spPr>
          <a:xfrm>
            <a:off x="768096" y="1664208"/>
            <a:ext cx="310896" cy="310896"/>
          </a:xfrm>
          <a:prstGeom prst="roundRect">
            <a:avLst>
              <a:gd name="adj" fmla="val 14706"/>
            </a:avLst>
          </a:prstGeom>
          <a:solidFill>
            <a:srgbClr val="2E75B6"/>
          </a:solidFill>
          <a:ln/>
        </p:spPr>
      </p:sp>
      <p:sp>
        <p:nvSpPr>
          <p:cNvPr id="8" name="Text 6"/>
          <p:cNvSpPr txBox="1"/>
          <p:nvPr/>
        </p:nvSpPr>
        <p:spPr>
          <a:xfrm>
            <a:off x="768096" y="1664208"/>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9" name="Text 7"/>
          <p:cNvSpPr txBox="1"/>
          <p:nvPr/>
        </p:nvSpPr>
        <p:spPr>
          <a:xfrm>
            <a:off x="1188720" y="1627632"/>
            <a:ext cx="4617720" cy="402336"/>
          </a:xfrm>
          <a:prstGeom prst="rect">
            <a:avLst/>
          </a:prstGeom>
          <a:noFill/>
          <a:ln/>
        </p:spPr>
        <p:txBody>
          <a:bodyPr wrap="square" lIns="0" tIns="0" rIns="0" bIns="0" rtlCol="0" anchor="ctr"/>
          <a:lstStyle/>
          <a:p>
            <a:pPr indent="0" marL="0">
              <a:buNone/>
            </a:pPr>
            <a:r>
              <a:rPr lang="en-US" sz="1250" b="1" dirty="0">
                <a:solidFill>
                  <a:srgbClr val="1B3A5C"/>
                </a:solidFill>
                <a:latin typeface="Calibri" pitchFamily="34" charset="0"/>
                <a:ea typeface="Calibri" pitchFamily="34" charset="-122"/>
                <a:cs typeface="Calibri" pitchFamily="34" charset="-120"/>
              </a:rPr>
              <a:t>Evento de falla con cuatro marcas temporales</a:t>
            </a:r>
            <a:endParaRPr lang="en-US" sz="1250" dirty="0"/>
          </a:p>
        </p:txBody>
      </p:sp>
      <p:sp>
        <p:nvSpPr>
          <p:cNvPr id="10" name="Text 8"/>
          <p:cNvSpPr txBox="1"/>
          <p:nvPr/>
        </p:nvSpPr>
        <p:spPr>
          <a:xfrm>
            <a:off x="768096" y="2121408"/>
            <a:ext cx="5029200" cy="676656"/>
          </a:xfrm>
          <a:prstGeom prst="rect">
            <a:avLst/>
          </a:prstGeom>
          <a:noFill/>
          <a:ln/>
        </p:spPr>
        <p:txBody>
          <a:bodyPr wrap="square" lIns="0" tIns="0" rIns="0" bIns="0" rtlCol="0" anchor="ctr"/>
          <a:lstStyle/>
          <a:p>
            <a:pPr indent="0" marL="0">
              <a:buNone/>
            </a:pPr>
            <a:r>
              <a:rPr lang="en-US" sz="1050" dirty="0">
                <a:solidFill>
                  <a:srgbClr val="5A6570"/>
                </a:solidFill>
                <a:latin typeface="Calibri" pitchFamily="34" charset="0"/>
                <a:ea typeface="Calibri" pitchFamily="34" charset="-122"/>
                <a:cs typeface="Calibri" pitchFamily="34" charset="-120"/>
              </a:rPr>
              <a:t>Ocurrencia, detección, inicio de reparación y restitución. Permite separar la demora de aviso del trabajo de mantenimiento y atribuir cada tramo a su responsable.</a:t>
            </a:r>
            <a:endParaRPr lang="en-US" sz="1050" dirty="0"/>
          </a:p>
        </p:txBody>
      </p:sp>
      <p:sp>
        <p:nvSpPr>
          <p:cNvPr id="11" name="Shape 9"/>
          <p:cNvSpPr/>
          <p:nvPr/>
        </p:nvSpPr>
        <p:spPr>
          <a:xfrm>
            <a:off x="6172200" y="1463040"/>
            <a:ext cx="5440680" cy="1444752"/>
          </a:xfrm>
          <a:prstGeom prst="roundRect">
            <a:avLst>
              <a:gd name="adj" fmla="val 5063"/>
            </a:avLst>
          </a:prstGeom>
          <a:solidFill>
            <a:srgbClr val="F4F7FA"/>
          </a:solidFill>
          <a:ln w="12700">
            <a:solidFill>
              <a:srgbClr val="E3E9F0"/>
            </a:solidFill>
            <a:prstDash val="solid"/>
          </a:ln>
        </p:spPr>
      </p:sp>
      <p:sp>
        <p:nvSpPr>
          <p:cNvPr id="12" name="Shape 10"/>
          <p:cNvSpPr/>
          <p:nvPr/>
        </p:nvSpPr>
        <p:spPr>
          <a:xfrm>
            <a:off x="6391656" y="1664208"/>
            <a:ext cx="310896" cy="310896"/>
          </a:xfrm>
          <a:prstGeom prst="roundRect">
            <a:avLst>
              <a:gd name="adj" fmla="val 14706"/>
            </a:avLst>
          </a:prstGeom>
          <a:solidFill>
            <a:srgbClr val="2E75B6"/>
          </a:solidFill>
          <a:ln/>
        </p:spPr>
      </p:sp>
      <p:sp>
        <p:nvSpPr>
          <p:cNvPr id="13" name="Text 11"/>
          <p:cNvSpPr txBox="1"/>
          <p:nvPr/>
        </p:nvSpPr>
        <p:spPr>
          <a:xfrm>
            <a:off x="6391656" y="1664208"/>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14" name="Text 12"/>
          <p:cNvSpPr txBox="1"/>
          <p:nvPr/>
        </p:nvSpPr>
        <p:spPr>
          <a:xfrm>
            <a:off x="6812280" y="1627632"/>
            <a:ext cx="4617720" cy="402336"/>
          </a:xfrm>
          <a:prstGeom prst="rect">
            <a:avLst/>
          </a:prstGeom>
          <a:noFill/>
          <a:ln/>
        </p:spPr>
        <p:txBody>
          <a:bodyPr wrap="square" lIns="0" tIns="0" rIns="0" bIns="0" rtlCol="0" anchor="ctr"/>
          <a:lstStyle/>
          <a:p>
            <a:pPr indent="0" marL="0">
              <a:buNone/>
            </a:pPr>
            <a:r>
              <a:rPr lang="en-US" sz="1250" b="1" dirty="0">
                <a:solidFill>
                  <a:srgbClr val="1B3A5C"/>
                </a:solidFill>
                <a:latin typeface="Calibri" pitchFamily="34" charset="0"/>
                <a:ea typeface="Calibri" pitchFamily="34" charset="-122"/>
                <a:cs typeface="Calibri" pitchFamily="34" charset="-120"/>
              </a:rPr>
              <a:t>Codificación obligatoria de síntoma, causa y acción</a:t>
            </a:r>
            <a:endParaRPr lang="en-US" sz="1250" dirty="0"/>
          </a:p>
        </p:txBody>
      </p:sp>
      <p:sp>
        <p:nvSpPr>
          <p:cNvPr id="15" name="Text 13"/>
          <p:cNvSpPr txBox="1"/>
          <p:nvPr/>
        </p:nvSpPr>
        <p:spPr>
          <a:xfrm>
            <a:off x="6391656" y="2121408"/>
            <a:ext cx="5029200" cy="676656"/>
          </a:xfrm>
          <a:prstGeom prst="rect">
            <a:avLst/>
          </a:prstGeom>
          <a:noFill/>
          <a:ln/>
        </p:spPr>
        <p:txBody>
          <a:bodyPr wrap="square" lIns="0" tIns="0" rIns="0" bIns="0" rtlCol="0" anchor="ctr"/>
          <a:lstStyle/>
          <a:p>
            <a:pPr indent="0" marL="0">
              <a:buNone/>
            </a:pPr>
            <a:r>
              <a:rPr lang="en-US" sz="1050" dirty="0">
                <a:solidFill>
                  <a:srgbClr val="5A6570"/>
                </a:solidFill>
                <a:latin typeface="Calibri" pitchFamily="34" charset="0"/>
                <a:ea typeface="Calibri" pitchFamily="34" charset="-122"/>
                <a:cs typeface="Calibri" pitchFamily="34" charset="-120"/>
              </a:rPr>
              <a:t>La causa raíz deja de ser texto libre y pasa a ser una magnitud agregable por equipo, por modelo y por período.</a:t>
            </a:r>
            <a:endParaRPr lang="en-US" sz="1050" dirty="0"/>
          </a:p>
        </p:txBody>
      </p:sp>
      <p:sp>
        <p:nvSpPr>
          <p:cNvPr id="16" name="Shape 14"/>
          <p:cNvSpPr/>
          <p:nvPr/>
        </p:nvSpPr>
        <p:spPr>
          <a:xfrm>
            <a:off x="548640" y="3090672"/>
            <a:ext cx="5440680" cy="1444752"/>
          </a:xfrm>
          <a:prstGeom prst="roundRect">
            <a:avLst>
              <a:gd name="adj" fmla="val 5063"/>
            </a:avLst>
          </a:prstGeom>
          <a:solidFill>
            <a:srgbClr val="F4F7FA"/>
          </a:solidFill>
          <a:ln w="12700">
            <a:solidFill>
              <a:srgbClr val="E3E9F0"/>
            </a:solidFill>
            <a:prstDash val="solid"/>
          </a:ln>
        </p:spPr>
      </p:sp>
      <p:sp>
        <p:nvSpPr>
          <p:cNvPr id="17" name="Shape 15"/>
          <p:cNvSpPr/>
          <p:nvPr/>
        </p:nvSpPr>
        <p:spPr>
          <a:xfrm>
            <a:off x="768096" y="3291840"/>
            <a:ext cx="310896" cy="310896"/>
          </a:xfrm>
          <a:prstGeom prst="roundRect">
            <a:avLst>
              <a:gd name="adj" fmla="val 14706"/>
            </a:avLst>
          </a:prstGeom>
          <a:solidFill>
            <a:srgbClr val="2E75B6"/>
          </a:solidFill>
          <a:ln/>
        </p:spPr>
      </p:sp>
      <p:sp>
        <p:nvSpPr>
          <p:cNvPr id="18" name="Text 16"/>
          <p:cNvSpPr txBox="1"/>
          <p:nvPr/>
        </p:nvSpPr>
        <p:spPr>
          <a:xfrm>
            <a:off x="768096" y="3291840"/>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19" name="Text 17"/>
          <p:cNvSpPr txBox="1"/>
          <p:nvPr/>
        </p:nvSpPr>
        <p:spPr>
          <a:xfrm>
            <a:off x="1188720" y="3255264"/>
            <a:ext cx="4617720" cy="402336"/>
          </a:xfrm>
          <a:prstGeom prst="rect">
            <a:avLst/>
          </a:prstGeom>
          <a:noFill/>
          <a:ln/>
        </p:spPr>
        <p:txBody>
          <a:bodyPr wrap="square" lIns="0" tIns="0" rIns="0" bIns="0" rtlCol="0" anchor="ctr"/>
          <a:lstStyle/>
          <a:p>
            <a:pPr indent="0" marL="0">
              <a:buNone/>
            </a:pPr>
            <a:r>
              <a:rPr lang="en-US" sz="1250" b="1" dirty="0">
                <a:solidFill>
                  <a:srgbClr val="1B3A5C"/>
                </a:solidFill>
                <a:latin typeface="Calibri" pitchFamily="34" charset="0"/>
                <a:ea typeface="Calibri" pitchFamily="34" charset="-122"/>
                <a:cs typeface="Calibri" pitchFamily="34" charset="-120"/>
              </a:rPr>
              <a:t>Criticidad A/B/C recalculada en cada consulta</a:t>
            </a:r>
            <a:endParaRPr lang="en-US" sz="1250" dirty="0"/>
          </a:p>
        </p:txBody>
      </p:sp>
      <p:sp>
        <p:nvSpPr>
          <p:cNvPr id="20" name="Text 18"/>
          <p:cNvSpPr txBox="1"/>
          <p:nvPr/>
        </p:nvSpPr>
        <p:spPr>
          <a:xfrm>
            <a:off x="768096" y="3749040"/>
            <a:ext cx="5029200" cy="676656"/>
          </a:xfrm>
          <a:prstGeom prst="rect">
            <a:avLst/>
          </a:prstGeom>
          <a:noFill/>
          <a:ln/>
        </p:spPr>
        <p:txBody>
          <a:bodyPr wrap="square" lIns="0" tIns="0" rIns="0" bIns="0" rtlCol="0" anchor="ctr"/>
          <a:lstStyle/>
          <a:p>
            <a:pPr indent="0" marL="0">
              <a:buNone/>
            </a:pPr>
            <a:r>
              <a:rPr lang="en-US" sz="1050" dirty="0">
                <a:solidFill>
                  <a:srgbClr val="5A6570"/>
                </a:solidFill>
                <a:latin typeface="Calibri" pitchFamily="34" charset="0"/>
                <a:ea typeface="Calibri" pitchFamily="34" charset="-122"/>
                <a:cs typeface="Calibri" pitchFamily="34" charset="-120"/>
              </a:rPr>
              <a:t>No se almacena: se deriva del impacto operacional, la redundancia, la dificultad de acceso y la frecuencia de falla registrada.</a:t>
            </a:r>
            <a:endParaRPr lang="en-US" sz="1050" dirty="0"/>
          </a:p>
        </p:txBody>
      </p:sp>
      <p:sp>
        <p:nvSpPr>
          <p:cNvPr id="21" name="Shape 19"/>
          <p:cNvSpPr/>
          <p:nvPr/>
        </p:nvSpPr>
        <p:spPr>
          <a:xfrm>
            <a:off x="6172200" y="3090672"/>
            <a:ext cx="5440680" cy="1444752"/>
          </a:xfrm>
          <a:prstGeom prst="roundRect">
            <a:avLst>
              <a:gd name="adj" fmla="val 5063"/>
            </a:avLst>
          </a:prstGeom>
          <a:solidFill>
            <a:srgbClr val="F4F7FA"/>
          </a:solidFill>
          <a:ln w="12700">
            <a:solidFill>
              <a:srgbClr val="E3E9F0"/>
            </a:solidFill>
            <a:prstDash val="solid"/>
          </a:ln>
        </p:spPr>
      </p:sp>
      <p:sp>
        <p:nvSpPr>
          <p:cNvPr id="22" name="Shape 20"/>
          <p:cNvSpPr/>
          <p:nvPr/>
        </p:nvSpPr>
        <p:spPr>
          <a:xfrm>
            <a:off x="6391656" y="3291840"/>
            <a:ext cx="310896" cy="310896"/>
          </a:xfrm>
          <a:prstGeom prst="roundRect">
            <a:avLst>
              <a:gd name="adj" fmla="val 14706"/>
            </a:avLst>
          </a:prstGeom>
          <a:solidFill>
            <a:srgbClr val="2E75B6"/>
          </a:solidFill>
          <a:ln/>
        </p:spPr>
      </p:sp>
      <p:sp>
        <p:nvSpPr>
          <p:cNvPr id="23" name="Text 21"/>
          <p:cNvSpPr txBox="1"/>
          <p:nvPr/>
        </p:nvSpPr>
        <p:spPr>
          <a:xfrm>
            <a:off x="6391656" y="3291840"/>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24" name="Text 22"/>
          <p:cNvSpPr txBox="1"/>
          <p:nvPr/>
        </p:nvSpPr>
        <p:spPr>
          <a:xfrm>
            <a:off x="6812280" y="3255264"/>
            <a:ext cx="4617720" cy="402336"/>
          </a:xfrm>
          <a:prstGeom prst="rect">
            <a:avLst/>
          </a:prstGeom>
          <a:noFill/>
          <a:ln/>
        </p:spPr>
        <p:txBody>
          <a:bodyPr wrap="square" lIns="0" tIns="0" rIns="0" bIns="0" rtlCol="0" anchor="ctr"/>
          <a:lstStyle/>
          <a:p>
            <a:pPr indent="0" marL="0">
              <a:buNone/>
            </a:pPr>
            <a:r>
              <a:rPr lang="en-US" sz="1250" b="1" dirty="0">
                <a:solidFill>
                  <a:srgbClr val="1B3A5C"/>
                </a:solidFill>
                <a:latin typeface="Calibri" pitchFamily="34" charset="0"/>
                <a:ea typeface="Calibri" pitchFamily="34" charset="-122"/>
                <a:cs typeface="Calibri" pitchFamily="34" charset="-120"/>
              </a:rPr>
              <a:t>Árbol de planta y grafo de dependencias</a:t>
            </a:r>
            <a:endParaRPr lang="en-US" sz="1250" dirty="0"/>
          </a:p>
        </p:txBody>
      </p:sp>
      <p:sp>
        <p:nvSpPr>
          <p:cNvPr id="25" name="Text 23"/>
          <p:cNvSpPr txBox="1"/>
          <p:nvPr/>
        </p:nvSpPr>
        <p:spPr>
          <a:xfrm>
            <a:off x="6391656" y="3749040"/>
            <a:ext cx="5029200" cy="676656"/>
          </a:xfrm>
          <a:prstGeom prst="rect">
            <a:avLst/>
          </a:prstGeom>
          <a:noFill/>
          <a:ln/>
        </p:spPr>
        <p:txBody>
          <a:bodyPr wrap="square" lIns="0" tIns="0" rIns="0" bIns="0" rtlCol="0" anchor="ctr"/>
          <a:lstStyle/>
          <a:p>
            <a:pPr indent="0" marL="0">
              <a:buNone/>
            </a:pPr>
            <a:r>
              <a:rPr lang="en-US" sz="1050" dirty="0">
                <a:solidFill>
                  <a:srgbClr val="5A6570"/>
                </a:solidFill>
                <a:latin typeface="Calibri" pitchFamily="34" charset="0"/>
                <a:ea typeface="Calibri" pitchFamily="34" charset="-122"/>
                <a:cs typeface="Calibri" pitchFamily="34" charset="-120"/>
              </a:rPr>
              <a:t>Cada activo conoce su tren, su etapa, su ambiente, su alimentación eléctrica y el equipo del que depende su comunicación.</a:t>
            </a:r>
            <a:endParaRPr lang="en-US" sz="1050" dirty="0"/>
          </a:p>
        </p:txBody>
      </p:sp>
      <p:sp>
        <p:nvSpPr>
          <p:cNvPr id="26" name="Shape 24"/>
          <p:cNvSpPr/>
          <p:nvPr/>
        </p:nvSpPr>
        <p:spPr>
          <a:xfrm>
            <a:off x="548640" y="4718304"/>
            <a:ext cx="5440680" cy="1444752"/>
          </a:xfrm>
          <a:prstGeom prst="roundRect">
            <a:avLst>
              <a:gd name="adj" fmla="val 5063"/>
            </a:avLst>
          </a:prstGeom>
          <a:solidFill>
            <a:srgbClr val="F4F7FA"/>
          </a:solidFill>
          <a:ln w="12700">
            <a:solidFill>
              <a:srgbClr val="E3E9F0"/>
            </a:solidFill>
            <a:prstDash val="solid"/>
          </a:ln>
        </p:spPr>
      </p:sp>
      <p:sp>
        <p:nvSpPr>
          <p:cNvPr id="27" name="Shape 25"/>
          <p:cNvSpPr/>
          <p:nvPr/>
        </p:nvSpPr>
        <p:spPr>
          <a:xfrm>
            <a:off x="768096" y="4919472"/>
            <a:ext cx="310896" cy="310896"/>
          </a:xfrm>
          <a:prstGeom prst="roundRect">
            <a:avLst>
              <a:gd name="adj" fmla="val 14706"/>
            </a:avLst>
          </a:prstGeom>
          <a:solidFill>
            <a:srgbClr val="2E75B6"/>
          </a:solidFill>
          <a:ln/>
        </p:spPr>
      </p:sp>
      <p:sp>
        <p:nvSpPr>
          <p:cNvPr id="28" name="Text 26"/>
          <p:cNvSpPr txBox="1"/>
          <p:nvPr/>
        </p:nvSpPr>
        <p:spPr>
          <a:xfrm>
            <a:off x="768096" y="49194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29" name="Text 27"/>
          <p:cNvSpPr txBox="1"/>
          <p:nvPr/>
        </p:nvSpPr>
        <p:spPr>
          <a:xfrm>
            <a:off x="1188720" y="4882896"/>
            <a:ext cx="4617720" cy="402336"/>
          </a:xfrm>
          <a:prstGeom prst="rect">
            <a:avLst/>
          </a:prstGeom>
          <a:noFill/>
          <a:ln/>
        </p:spPr>
        <p:txBody>
          <a:bodyPr wrap="square" lIns="0" tIns="0" rIns="0" bIns="0" rtlCol="0" anchor="ctr"/>
          <a:lstStyle/>
          <a:p>
            <a:pPr indent="0" marL="0">
              <a:buNone/>
            </a:pPr>
            <a:r>
              <a:rPr lang="en-US" sz="1250" b="1" dirty="0">
                <a:solidFill>
                  <a:srgbClr val="1B3A5C"/>
                </a:solidFill>
                <a:latin typeface="Calibri" pitchFamily="34" charset="0"/>
                <a:ea typeface="Calibri" pitchFamily="34" charset="-122"/>
                <a:cs typeface="Calibri" pitchFamily="34" charset="-120"/>
              </a:rPr>
              <a:t>Ventanas de parada declaradas por Producción</a:t>
            </a:r>
            <a:endParaRPr lang="en-US" sz="1250" dirty="0"/>
          </a:p>
        </p:txBody>
      </p:sp>
      <p:sp>
        <p:nvSpPr>
          <p:cNvPr id="30" name="Text 28"/>
          <p:cNvSpPr txBox="1"/>
          <p:nvPr/>
        </p:nvSpPr>
        <p:spPr>
          <a:xfrm>
            <a:off x="768096" y="5376672"/>
            <a:ext cx="5029200" cy="676656"/>
          </a:xfrm>
          <a:prstGeom prst="rect">
            <a:avLst/>
          </a:prstGeom>
          <a:noFill/>
          <a:ln/>
        </p:spPr>
        <p:txBody>
          <a:bodyPr wrap="square" lIns="0" tIns="0" rIns="0" bIns="0" rtlCol="0" anchor="ctr"/>
          <a:lstStyle/>
          <a:p>
            <a:pPr indent="0" marL="0">
              <a:buNone/>
            </a:pPr>
            <a:r>
              <a:rPr lang="en-US" sz="1050" dirty="0">
                <a:solidFill>
                  <a:srgbClr val="5A6570"/>
                </a:solidFill>
                <a:latin typeface="Calibri" pitchFamily="34" charset="0"/>
                <a:ea typeface="Calibri" pitchFamily="34" charset="-122"/>
                <a:cs typeface="Calibri" pitchFamily="34" charset="-120"/>
              </a:rPr>
              <a:t>Toda orden puede ligarse a una ventana. Las zonas que exigen línea detenida no se programan fuera de ella.</a:t>
            </a:r>
            <a:endParaRPr lang="en-US" sz="1050" dirty="0"/>
          </a:p>
        </p:txBody>
      </p:sp>
      <p:sp>
        <p:nvSpPr>
          <p:cNvPr id="31" name="Shape 29"/>
          <p:cNvSpPr/>
          <p:nvPr/>
        </p:nvSpPr>
        <p:spPr>
          <a:xfrm>
            <a:off x="6172200" y="4718304"/>
            <a:ext cx="5440680" cy="1444752"/>
          </a:xfrm>
          <a:prstGeom prst="roundRect">
            <a:avLst>
              <a:gd name="adj" fmla="val 5063"/>
            </a:avLst>
          </a:prstGeom>
          <a:solidFill>
            <a:srgbClr val="F4F7FA"/>
          </a:solidFill>
          <a:ln w="12700">
            <a:solidFill>
              <a:srgbClr val="E3E9F0"/>
            </a:solidFill>
            <a:prstDash val="solid"/>
          </a:ln>
        </p:spPr>
      </p:sp>
      <p:sp>
        <p:nvSpPr>
          <p:cNvPr id="32" name="Shape 30"/>
          <p:cNvSpPr/>
          <p:nvPr/>
        </p:nvSpPr>
        <p:spPr>
          <a:xfrm>
            <a:off x="6391656" y="4919472"/>
            <a:ext cx="310896" cy="310896"/>
          </a:xfrm>
          <a:prstGeom prst="roundRect">
            <a:avLst>
              <a:gd name="adj" fmla="val 14706"/>
            </a:avLst>
          </a:prstGeom>
          <a:solidFill>
            <a:srgbClr val="2E75B6"/>
          </a:solidFill>
          <a:ln/>
        </p:spPr>
      </p:sp>
      <p:sp>
        <p:nvSpPr>
          <p:cNvPr id="33" name="Text 31"/>
          <p:cNvSpPr txBox="1"/>
          <p:nvPr/>
        </p:nvSpPr>
        <p:spPr>
          <a:xfrm>
            <a:off x="6391656" y="49194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6</a:t>
            </a:r>
            <a:endParaRPr lang="en-US" sz="1100" dirty="0"/>
          </a:p>
        </p:txBody>
      </p:sp>
      <p:sp>
        <p:nvSpPr>
          <p:cNvPr id="34" name="Text 32"/>
          <p:cNvSpPr txBox="1"/>
          <p:nvPr/>
        </p:nvSpPr>
        <p:spPr>
          <a:xfrm>
            <a:off x="6812280" y="4882896"/>
            <a:ext cx="4617720" cy="402336"/>
          </a:xfrm>
          <a:prstGeom prst="rect">
            <a:avLst/>
          </a:prstGeom>
          <a:noFill/>
          <a:ln/>
        </p:spPr>
        <p:txBody>
          <a:bodyPr wrap="square" lIns="0" tIns="0" rIns="0" bIns="0" rtlCol="0" anchor="ctr"/>
          <a:lstStyle/>
          <a:p>
            <a:pPr indent="0" marL="0">
              <a:buNone/>
            </a:pPr>
            <a:r>
              <a:rPr lang="en-US" sz="1250" b="1" dirty="0">
                <a:solidFill>
                  <a:srgbClr val="1B3A5C"/>
                </a:solidFill>
                <a:latin typeface="Calibri" pitchFamily="34" charset="0"/>
                <a:ea typeface="Calibri" pitchFamily="34" charset="-122"/>
                <a:cs typeface="Calibri" pitchFamily="34" charset="-120"/>
              </a:rPr>
              <a:t>Registro de auditoría por petición</a:t>
            </a:r>
            <a:endParaRPr lang="en-US" sz="1250" dirty="0"/>
          </a:p>
        </p:txBody>
      </p:sp>
      <p:sp>
        <p:nvSpPr>
          <p:cNvPr id="35" name="Text 33"/>
          <p:cNvSpPr txBox="1"/>
          <p:nvPr/>
        </p:nvSpPr>
        <p:spPr>
          <a:xfrm>
            <a:off x="6391656" y="5376672"/>
            <a:ext cx="5029200" cy="676656"/>
          </a:xfrm>
          <a:prstGeom prst="rect">
            <a:avLst/>
          </a:prstGeom>
          <a:noFill/>
          <a:ln/>
        </p:spPr>
        <p:txBody>
          <a:bodyPr wrap="square" lIns="0" tIns="0" rIns="0" bIns="0" rtlCol="0" anchor="ctr"/>
          <a:lstStyle/>
          <a:p>
            <a:pPr indent="0" marL="0">
              <a:buNone/>
            </a:pPr>
            <a:r>
              <a:rPr lang="en-US" sz="1050" dirty="0">
                <a:solidFill>
                  <a:srgbClr val="5A6570"/>
                </a:solidFill>
                <a:latin typeface="Calibri" pitchFamily="34" charset="0"/>
                <a:ea typeface="Calibri" pitchFamily="34" charset="-122"/>
                <a:cs typeface="Calibri" pitchFamily="34" charset="-120"/>
              </a:rPr>
              <a:t>Cada operación de escritura queda atribuida, fechada y localizada. Es la base probatoria de todo lo anterior.</a:t>
            </a:r>
            <a:endParaRPr lang="en-US" sz="10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1064240" cy="566928"/>
          </a:xfrm>
          <a:prstGeom prst="rect">
            <a:avLst/>
          </a:prstGeom>
          <a:noFill/>
          <a:ln/>
        </p:spPr>
        <p:txBody>
          <a:bodyPr wrap="square" lIns="0" tIns="0" rIns="0" bIns="0" rtlCol="0" anchor="ctr"/>
          <a:lstStyle/>
          <a:p>
            <a:pPr indent="0" marL="0">
              <a:buNone/>
            </a:pPr>
            <a:r>
              <a:rPr lang="en-US" sz="3000" b="1" dirty="0">
                <a:solidFill>
                  <a:srgbClr val="1B3A5C"/>
                </a:solidFill>
                <a:latin typeface="Cambria" pitchFamily="34" charset="0"/>
                <a:ea typeface="Cambria" pitchFamily="34" charset="-122"/>
                <a:cs typeface="Cambria" pitchFamily="34" charset="-120"/>
              </a:rPr>
              <a:t>Capacidad de crecimiento</a:t>
            </a:r>
            <a:endParaRPr lang="en-US" sz="3000" dirty="0"/>
          </a:p>
        </p:txBody>
      </p:sp>
      <p:sp>
        <p:nvSpPr>
          <p:cNvPr id="3" name="Text 1"/>
          <p:cNvSpPr txBox="1"/>
          <p:nvPr/>
        </p:nvSpPr>
        <p:spPr>
          <a:xfrm>
            <a:off x="548640" y="896112"/>
            <a:ext cx="11064240" cy="329184"/>
          </a:xfrm>
          <a:prstGeom prst="rect">
            <a:avLst/>
          </a:prstGeom>
          <a:noFill/>
          <a:ln/>
        </p:spPr>
        <p:txBody>
          <a:bodyPr wrap="square" lIns="0" tIns="0" rIns="0" bIns="0" rtlCol="0" anchor="ctr"/>
          <a:lstStyle/>
          <a:p>
            <a:pPr indent="0" marL="0">
              <a:buNone/>
            </a:pPr>
            <a:r>
              <a:rPr lang="en-US" sz="1350" dirty="0">
                <a:solidFill>
                  <a:srgbClr val="5A6570"/>
                </a:solidFill>
                <a:latin typeface="Calibri" pitchFamily="34" charset="0"/>
                <a:ea typeface="Calibri" pitchFamily="34" charset="-122"/>
                <a:cs typeface="Calibri" pitchFamily="34" charset="-120"/>
              </a:rPr>
              <a:t>Cuatro fases sucesivas: cada una se apoya en el dato que produce la anterior y ninguna exige rehacer lo construido</a:t>
            </a:r>
            <a:endParaRPr lang="en-US" sz="1350" dirty="0"/>
          </a:p>
        </p:txBody>
      </p:sp>
      <p:sp>
        <p:nvSpPr>
          <p:cNvPr id="4" name="Text 2"/>
          <p:cNvSpPr txBox="1"/>
          <p:nvPr/>
        </p:nvSpPr>
        <p:spPr>
          <a:xfrm>
            <a:off x="548640" y="6400800"/>
            <a:ext cx="10058400" cy="274320"/>
          </a:xfrm>
          <a:prstGeom prst="rect">
            <a:avLst/>
          </a:prstGeom>
          <a:noFill/>
          <a:ln/>
        </p:spPr>
        <p:txBody>
          <a:bodyPr wrap="square" lIns="0" tIns="0" rIns="0" bIns="0" rtlCol="0" anchor="ctr"/>
          <a:lstStyle/>
          <a:p>
            <a:pPr indent="0" marL="0">
              <a:buNone/>
            </a:pPr>
            <a:r>
              <a:rPr lang="en-US" sz="900" dirty="0">
                <a:solidFill>
                  <a:srgbClr val="9AA4B0"/>
                </a:solidFill>
                <a:latin typeface="Calibri" pitchFamily="34" charset="0"/>
                <a:ea typeface="Calibri" pitchFamily="34" charset="-122"/>
                <a:cs typeface="Calibri" pitchFamily="34" charset="-120"/>
              </a:rPr>
              <a:t>SGIT-CCTV · Aceros Arequipa, Planta Pisco · Laminación (Trenes 1, 2 y 3)</a:t>
            </a:r>
            <a:endParaRPr lang="en-US" sz="900" dirty="0"/>
          </a:p>
        </p:txBody>
      </p:sp>
      <p:sp>
        <p:nvSpPr>
          <p:cNvPr id="5" name="Text 3"/>
          <p:cNvSpPr txBox="1"/>
          <p:nvPr/>
        </p:nvSpPr>
        <p:spPr>
          <a:xfrm>
            <a:off x="11338560" y="6400800"/>
            <a:ext cx="365760" cy="274320"/>
          </a:xfrm>
          <a:prstGeom prst="rect">
            <a:avLst/>
          </a:prstGeom>
          <a:noFill/>
          <a:ln/>
        </p:spPr>
        <p:txBody>
          <a:bodyPr wrap="square" lIns="0" tIns="0" rIns="0" bIns="0" rtlCol="0" anchor="ctr"/>
          <a:lstStyle/>
          <a:p>
            <a:pPr algn="r" indent="0" marL="0">
              <a:buNone/>
            </a:pPr>
            <a:r>
              <a:rPr lang="en-US" sz="1000" dirty="0">
                <a:solidFill>
                  <a:srgbClr val="5A6570"/>
                </a:solidFill>
                <a:latin typeface="Calibri" pitchFamily="34" charset="0"/>
                <a:ea typeface="Calibri" pitchFamily="34" charset="-122"/>
                <a:cs typeface="Calibri" pitchFamily="34" charset="-120"/>
              </a:rPr>
              <a:t>25</a:t>
            </a:r>
            <a:endParaRPr lang="en-US" sz="1000" dirty="0"/>
          </a:p>
        </p:txBody>
      </p:sp>
      <p:pic>
        <p:nvPicPr>
          <p:cNvPr id="6" name="Image 0" descr="img/evolucion.png">    </p:cNvPr>
          <p:cNvPicPr>
            <a:picLocks noChangeAspect="1"/>
          </p:cNvPicPr>
          <p:nvPr/>
        </p:nvPicPr>
        <p:blipFill>
          <a:blip r:embed="rId1"/>
          <a:srcRect l="0" r="0" t="0" b="0"/>
          <a:stretch/>
        </p:blipFill>
        <p:spPr>
          <a:xfrm>
            <a:off x="411480" y="1298448"/>
            <a:ext cx="11338560" cy="4956048"/>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1064240" cy="566928"/>
          </a:xfrm>
          <a:prstGeom prst="rect">
            <a:avLst/>
          </a:prstGeom>
          <a:noFill/>
          <a:ln/>
        </p:spPr>
        <p:txBody>
          <a:bodyPr wrap="square" lIns="0" tIns="0" rIns="0" bIns="0" rtlCol="0" anchor="ctr"/>
          <a:lstStyle/>
          <a:p>
            <a:pPr indent="0" marL="0">
              <a:buNone/>
            </a:pPr>
            <a:r>
              <a:rPr lang="en-US" sz="3000" b="1" dirty="0">
                <a:solidFill>
                  <a:srgbClr val="1B3A5C"/>
                </a:solidFill>
                <a:latin typeface="Cambria" pitchFamily="34" charset="0"/>
                <a:ea typeface="Cambria" pitchFamily="34" charset="-122"/>
                <a:cs typeface="Cambria" pitchFamily="34" charset="-120"/>
              </a:rPr>
              <a:t>Ampliación de cobertura acoplada a las paradas de tren</a:t>
            </a:r>
            <a:endParaRPr lang="en-US" sz="3000" dirty="0"/>
          </a:p>
        </p:txBody>
      </p:sp>
      <p:sp>
        <p:nvSpPr>
          <p:cNvPr id="3" name="Text 1"/>
          <p:cNvSpPr txBox="1"/>
          <p:nvPr/>
        </p:nvSpPr>
        <p:spPr>
          <a:xfrm>
            <a:off x="548640" y="896112"/>
            <a:ext cx="11064240" cy="329184"/>
          </a:xfrm>
          <a:prstGeom prst="rect">
            <a:avLst/>
          </a:prstGeom>
          <a:noFill/>
          <a:ln/>
        </p:spPr>
        <p:txBody>
          <a:bodyPr wrap="square" lIns="0" tIns="0" rIns="0" bIns="0" rtlCol="0" anchor="ctr"/>
          <a:lstStyle/>
          <a:p>
            <a:pPr indent="0" marL="0">
              <a:buNone/>
            </a:pPr>
            <a:r>
              <a:rPr lang="en-US" sz="1350" dirty="0">
                <a:solidFill>
                  <a:srgbClr val="5A6570"/>
                </a:solidFill>
                <a:latin typeface="Calibri" pitchFamily="34" charset="0"/>
                <a:ea typeface="Calibri" pitchFamily="34" charset="-122"/>
                <a:cs typeface="Calibri" pitchFamily="34" charset="-120"/>
              </a:rPr>
              <a:t>Notación BPMN 2.0 · Bizagi Modeler — expediente de instalación con visita previa obligatoria y programación contra ventana de parada</a:t>
            </a:r>
            <a:endParaRPr lang="en-US" sz="1350" dirty="0"/>
          </a:p>
        </p:txBody>
      </p:sp>
      <p:sp>
        <p:nvSpPr>
          <p:cNvPr id="4" name="Text 2"/>
          <p:cNvSpPr txBox="1"/>
          <p:nvPr/>
        </p:nvSpPr>
        <p:spPr>
          <a:xfrm>
            <a:off x="548640" y="6400800"/>
            <a:ext cx="10058400" cy="274320"/>
          </a:xfrm>
          <a:prstGeom prst="rect">
            <a:avLst/>
          </a:prstGeom>
          <a:noFill/>
          <a:ln/>
        </p:spPr>
        <p:txBody>
          <a:bodyPr wrap="square" lIns="0" tIns="0" rIns="0" bIns="0" rtlCol="0" anchor="ctr"/>
          <a:lstStyle/>
          <a:p>
            <a:pPr indent="0" marL="0">
              <a:buNone/>
            </a:pPr>
            <a:r>
              <a:rPr lang="en-US" sz="900" dirty="0">
                <a:solidFill>
                  <a:srgbClr val="9AA4B0"/>
                </a:solidFill>
                <a:latin typeface="Calibri" pitchFamily="34" charset="0"/>
                <a:ea typeface="Calibri" pitchFamily="34" charset="-122"/>
                <a:cs typeface="Calibri" pitchFamily="34" charset="-120"/>
              </a:rPr>
              <a:t>SGIT-CCTV · Aceros Arequipa, Planta Pisco · Laminación (Trenes 1, 2 y 3)</a:t>
            </a:r>
            <a:endParaRPr lang="en-US" sz="900" dirty="0"/>
          </a:p>
        </p:txBody>
      </p:sp>
      <p:sp>
        <p:nvSpPr>
          <p:cNvPr id="5" name="Text 3"/>
          <p:cNvSpPr txBox="1"/>
          <p:nvPr/>
        </p:nvSpPr>
        <p:spPr>
          <a:xfrm>
            <a:off x="11338560" y="6400800"/>
            <a:ext cx="365760" cy="274320"/>
          </a:xfrm>
          <a:prstGeom prst="rect">
            <a:avLst/>
          </a:prstGeom>
          <a:noFill/>
          <a:ln/>
        </p:spPr>
        <p:txBody>
          <a:bodyPr wrap="square" lIns="0" tIns="0" rIns="0" bIns="0" rtlCol="0" anchor="ctr"/>
          <a:lstStyle/>
          <a:p>
            <a:pPr algn="r" indent="0" marL="0">
              <a:buNone/>
            </a:pPr>
            <a:r>
              <a:rPr lang="en-US" sz="1000" dirty="0">
                <a:solidFill>
                  <a:srgbClr val="5A6570"/>
                </a:solidFill>
                <a:latin typeface="Calibri" pitchFamily="34" charset="0"/>
                <a:ea typeface="Calibri" pitchFamily="34" charset="-122"/>
                <a:cs typeface="Calibri" pitchFamily="34" charset="-120"/>
              </a:rPr>
              <a:t>26</a:t>
            </a:r>
            <a:endParaRPr lang="en-US" sz="1000" dirty="0"/>
          </a:p>
        </p:txBody>
      </p:sp>
      <p:pic>
        <p:nvPicPr>
          <p:cNvPr id="6" name="Image 0" descr="img/bpmn_instalacion.png">    </p:cNvPr>
          <p:cNvPicPr>
            <a:picLocks noChangeAspect="1"/>
          </p:cNvPicPr>
          <p:nvPr/>
        </p:nvPicPr>
        <p:blipFill>
          <a:blip r:embed="rId1"/>
          <a:srcRect l="0" r="0" t="0" b="0"/>
          <a:stretch/>
        </p:blipFill>
        <p:spPr>
          <a:xfrm>
            <a:off x="411480" y="1298448"/>
            <a:ext cx="11338560" cy="4956048"/>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1B3A5C"/>
        </a:solidFill>
      </p:bgPr>
    </p:bg>
    <p:spTree>
      <p:nvGrpSpPr>
        <p:cNvPr id="1" name=""/>
        <p:cNvGrpSpPr/>
        <p:nvPr/>
      </p:nvGrpSpPr>
      <p:grpSpPr>
        <a:xfrm>
          <a:off x="0" y="0"/>
          <a:ext cx="0" cy="0"/>
          <a:chOff x="0" y="0"/>
          <a:chExt cx="0" cy="0"/>
        </a:xfrm>
      </p:grpSpPr>
      <p:sp>
        <p:nvSpPr>
          <p:cNvPr id="2" name="Text 0"/>
          <p:cNvSpPr txBox="1"/>
          <p:nvPr/>
        </p:nvSpPr>
        <p:spPr>
          <a:xfrm>
            <a:off x="822960" y="1051560"/>
            <a:ext cx="10515600" cy="68580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Resultado para la gestión</a:t>
            </a:r>
            <a:endParaRPr lang="en-US" sz="3400" dirty="0"/>
          </a:p>
        </p:txBody>
      </p:sp>
      <p:sp>
        <p:nvSpPr>
          <p:cNvPr id="3" name="Shape 1"/>
          <p:cNvSpPr/>
          <p:nvPr/>
        </p:nvSpPr>
        <p:spPr>
          <a:xfrm>
            <a:off x="822960" y="2148840"/>
            <a:ext cx="10515600" cy="822960"/>
          </a:xfrm>
          <a:prstGeom prst="roundRect">
            <a:avLst>
              <a:gd name="adj" fmla="val 8889"/>
            </a:avLst>
          </a:prstGeom>
          <a:solidFill>
            <a:srgbClr val="254A70"/>
          </a:solidFill>
          <a:ln w="12700">
            <a:solidFill>
              <a:srgbClr val="35618C"/>
            </a:solidFill>
            <a:prstDash val="solid"/>
          </a:ln>
        </p:spPr>
      </p:sp>
      <p:sp>
        <p:nvSpPr>
          <p:cNvPr id="4" name="Shape 2"/>
          <p:cNvSpPr/>
          <p:nvPr/>
        </p:nvSpPr>
        <p:spPr>
          <a:xfrm>
            <a:off x="1024128" y="2377440"/>
            <a:ext cx="365760" cy="365760"/>
          </a:xfrm>
          <a:prstGeom prst="ellipse">
            <a:avLst/>
          </a:prstGeom>
          <a:solidFill>
            <a:srgbClr val="D9642B"/>
          </a:solidFill>
          <a:ln/>
        </p:spPr>
      </p:sp>
      <p:sp>
        <p:nvSpPr>
          <p:cNvPr id="5" name="Text 3"/>
          <p:cNvSpPr txBox="1"/>
          <p:nvPr/>
        </p:nvSpPr>
        <p:spPr>
          <a:xfrm>
            <a:off x="1572768" y="2240280"/>
            <a:ext cx="2377440" cy="64008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Evidencia verificable</a:t>
            </a:r>
            <a:endParaRPr lang="en-US" sz="1500" dirty="0"/>
          </a:p>
        </p:txBody>
      </p:sp>
      <p:sp>
        <p:nvSpPr>
          <p:cNvPr id="6" name="Text 4"/>
          <p:cNvSpPr txBox="1"/>
          <p:nvPr/>
        </p:nvSpPr>
        <p:spPr>
          <a:xfrm>
            <a:off x="4023360" y="2240280"/>
            <a:ext cx="7132320" cy="640080"/>
          </a:xfrm>
          <a:prstGeom prst="rect">
            <a:avLst/>
          </a:prstGeom>
          <a:noFill/>
          <a:ln/>
        </p:spPr>
        <p:txBody>
          <a:bodyPr wrap="square" lIns="0" tIns="0" rIns="0" bIns="0" rtlCol="0" anchor="ctr"/>
          <a:lstStyle/>
          <a:p>
            <a:pPr indent="0" marL="0">
              <a:buNone/>
            </a:pPr>
            <a:r>
              <a:rPr lang="en-US" sz="1150" dirty="0">
                <a:solidFill>
                  <a:srgbClr val="CADCFC"/>
                </a:solidFill>
                <a:latin typeface="Calibri" pitchFamily="34" charset="0"/>
                <a:ea typeface="Calibri" pitchFamily="34" charset="-122"/>
                <a:cs typeface="Calibri" pitchFamily="34" charset="-120"/>
              </a:rPr>
              <a:t>Expediente completo por intervención: incidencia, orden, materiales, registro fotográfico y firma, con fecha y responsable.</a:t>
            </a:r>
            <a:endParaRPr lang="en-US" sz="1150" dirty="0"/>
          </a:p>
        </p:txBody>
      </p:sp>
      <p:sp>
        <p:nvSpPr>
          <p:cNvPr id="7" name="Shape 5"/>
          <p:cNvSpPr/>
          <p:nvPr/>
        </p:nvSpPr>
        <p:spPr>
          <a:xfrm>
            <a:off x="822960" y="3108960"/>
            <a:ext cx="10515600" cy="822960"/>
          </a:xfrm>
          <a:prstGeom prst="roundRect">
            <a:avLst>
              <a:gd name="adj" fmla="val 8889"/>
            </a:avLst>
          </a:prstGeom>
          <a:solidFill>
            <a:srgbClr val="254A70"/>
          </a:solidFill>
          <a:ln w="12700">
            <a:solidFill>
              <a:srgbClr val="35618C"/>
            </a:solidFill>
            <a:prstDash val="solid"/>
          </a:ln>
        </p:spPr>
      </p:sp>
      <p:sp>
        <p:nvSpPr>
          <p:cNvPr id="8" name="Shape 6"/>
          <p:cNvSpPr/>
          <p:nvPr/>
        </p:nvSpPr>
        <p:spPr>
          <a:xfrm>
            <a:off x="1024128" y="3337560"/>
            <a:ext cx="365760" cy="365760"/>
          </a:xfrm>
          <a:prstGeom prst="ellipse">
            <a:avLst/>
          </a:prstGeom>
          <a:solidFill>
            <a:srgbClr val="D9642B"/>
          </a:solidFill>
          <a:ln/>
        </p:spPr>
      </p:sp>
      <p:sp>
        <p:nvSpPr>
          <p:cNvPr id="9" name="Text 7"/>
          <p:cNvSpPr txBox="1"/>
          <p:nvPr/>
        </p:nvSpPr>
        <p:spPr>
          <a:xfrm>
            <a:off x="1572768" y="3200400"/>
            <a:ext cx="2377440" cy="64008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Decisión sustentada</a:t>
            </a:r>
            <a:endParaRPr lang="en-US" sz="1500" dirty="0"/>
          </a:p>
        </p:txBody>
      </p:sp>
      <p:sp>
        <p:nvSpPr>
          <p:cNvPr id="10" name="Text 8"/>
          <p:cNvSpPr txBox="1"/>
          <p:nvPr/>
        </p:nvSpPr>
        <p:spPr>
          <a:xfrm>
            <a:off x="4023360" y="3200400"/>
            <a:ext cx="7132320" cy="640080"/>
          </a:xfrm>
          <a:prstGeom prst="rect">
            <a:avLst/>
          </a:prstGeom>
          <a:noFill/>
          <a:ln/>
        </p:spPr>
        <p:txBody>
          <a:bodyPr wrap="square" lIns="0" tIns="0" rIns="0" bIns="0" rtlCol="0" anchor="ctr"/>
          <a:lstStyle/>
          <a:p>
            <a:pPr indent="0" marL="0">
              <a:buNone/>
            </a:pPr>
            <a:r>
              <a:rPr lang="en-US" sz="1150" dirty="0">
                <a:solidFill>
                  <a:srgbClr val="CADCFC"/>
                </a:solidFill>
                <a:latin typeface="Calibri" pitchFamily="34" charset="0"/>
                <a:ea typeface="Calibri" pitchFamily="34" charset="-122"/>
                <a:cs typeface="Calibri" pitchFamily="34" charset="-120"/>
              </a:rPr>
              <a:t>El presupuesto de repuestos y de horas se justifica con el histórico registrado por el propio sistema.</a:t>
            </a:r>
            <a:endParaRPr lang="en-US" sz="1150" dirty="0"/>
          </a:p>
        </p:txBody>
      </p:sp>
      <p:sp>
        <p:nvSpPr>
          <p:cNvPr id="11" name="Shape 9"/>
          <p:cNvSpPr/>
          <p:nvPr/>
        </p:nvSpPr>
        <p:spPr>
          <a:xfrm>
            <a:off x="822960" y="4069080"/>
            <a:ext cx="10515600" cy="822960"/>
          </a:xfrm>
          <a:prstGeom prst="roundRect">
            <a:avLst>
              <a:gd name="adj" fmla="val 8889"/>
            </a:avLst>
          </a:prstGeom>
          <a:solidFill>
            <a:srgbClr val="254A70"/>
          </a:solidFill>
          <a:ln w="12700">
            <a:solidFill>
              <a:srgbClr val="35618C"/>
            </a:solidFill>
            <a:prstDash val="solid"/>
          </a:ln>
        </p:spPr>
      </p:sp>
      <p:sp>
        <p:nvSpPr>
          <p:cNvPr id="12" name="Shape 10"/>
          <p:cNvSpPr/>
          <p:nvPr/>
        </p:nvSpPr>
        <p:spPr>
          <a:xfrm>
            <a:off x="1024128" y="4297680"/>
            <a:ext cx="365760" cy="365760"/>
          </a:xfrm>
          <a:prstGeom prst="ellipse">
            <a:avLst/>
          </a:prstGeom>
          <a:solidFill>
            <a:srgbClr val="D9642B"/>
          </a:solidFill>
          <a:ln/>
        </p:spPr>
      </p:sp>
      <p:sp>
        <p:nvSpPr>
          <p:cNvPr id="13" name="Text 11"/>
          <p:cNvSpPr txBox="1"/>
          <p:nvPr/>
        </p:nvSpPr>
        <p:spPr>
          <a:xfrm>
            <a:off x="1572768" y="4160520"/>
            <a:ext cx="2377440" cy="64008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Continuidad operativa</a:t>
            </a:r>
            <a:endParaRPr lang="en-US" sz="1500" dirty="0"/>
          </a:p>
        </p:txBody>
      </p:sp>
      <p:sp>
        <p:nvSpPr>
          <p:cNvPr id="14" name="Text 12"/>
          <p:cNvSpPr txBox="1"/>
          <p:nvPr/>
        </p:nvSpPr>
        <p:spPr>
          <a:xfrm>
            <a:off x="4023360" y="4160520"/>
            <a:ext cx="7132320" cy="640080"/>
          </a:xfrm>
          <a:prstGeom prst="rect">
            <a:avLst/>
          </a:prstGeom>
          <a:noFill/>
          <a:ln/>
        </p:spPr>
        <p:txBody>
          <a:bodyPr wrap="square" lIns="0" tIns="0" rIns="0" bIns="0" rtlCol="0" anchor="ctr"/>
          <a:lstStyle/>
          <a:p>
            <a:pPr indent="0" marL="0">
              <a:buNone/>
            </a:pPr>
            <a:r>
              <a:rPr lang="en-US" sz="1150" dirty="0">
                <a:solidFill>
                  <a:srgbClr val="CADCFC"/>
                </a:solidFill>
                <a:latin typeface="Calibri" pitchFamily="34" charset="0"/>
                <a:ea typeface="Calibri" pitchFamily="34" charset="-122"/>
                <a:cs typeface="Calibri" pitchFamily="34" charset="-120"/>
              </a:rPr>
              <a:t>El conocimiento técnico de la planta queda documentado y es independiente de la permanencia del personal.</a:t>
            </a:r>
            <a:endParaRPr lang="en-US" sz="1150" dirty="0"/>
          </a:p>
        </p:txBody>
      </p:sp>
      <p:sp>
        <p:nvSpPr>
          <p:cNvPr id="15" name="Shape 13"/>
          <p:cNvSpPr/>
          <p:nvPr/>
        </p:nvSpPr>
        <p:spPr>
          <a:xfrm>
            <a:off x="822960" y="5029200"/>
            <a:ext cx="10515600" cy="822960"/>
          </a:xfrm>
          <a:prstGeom prst="roundRect">
            <a:avLst>
              <a:gd name="adj" fmla="val 8889"/>
            </a:avLst>
          </a:prstGeom>
          <a:solidFill>
            <a:srgbClr val="254A70"/>
          </a:solidFill>
          <a:ln w="12700">
            <a:solidFill>
              <a:srgbClr val="35618C"/>
            </a:solidFill>
            <a:prstDash val="solid"/>
          </a:ln>
        </p:spPr>
      </p:sp>
      <p:sp>
        <p:nvSpPr>
          <p:cNvPr id="16" name="Shape 14"/>
          <p:cNvSpPr/>
          <p:nvPr/>
        </p:nvSpPr>
        <p:spPr>
          <a:xfrm>
            <a:off x="1024128" y="5257800"/>
            <a:ext cx="365760" cy="365760"/>
          </a:xfrm>
          <a:prstGeom prst="ellipse">
            <a:avLst/>
          </a:prstGeom>
          <a:solidFill>
            <a:srgbClr val="D9642B"/>
          </a:solidFill>
          <a:ln/>
        </p:spPr>
      </p:sp>
      <p:sp>
        <p:nvSpPr>
          <p:cNvPr id="17" name="Text 15"/>
          <p:cNvSpPr txBox="1"/>
          <p:nvPr/>
        </p:nvSpPr>
        <p:spPr>
          <a:xfrm>
            <a:off x="1572768" y="5120640"/>
            <a:ext cx="2377440" cy="64008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Capacidad de crecimiento</a:t>
            </a:r>
            <a:endParaRPr lang="en-US" sz="1500" dirty="0"/>
          </a:p>
        </p:txBody>
      </p:sp>
      <p:sp>
        <p:nvSpPr>
          <p:cNvPr id="18" name="Text 16"/>
          <p:cNvSpPr txBox="1"/>
          <p:nvPr/>
        </p:nvSpPr>
        <p:spPr>
          <a:xfrm>
            <a:off x="4023360" y="5120640"/>
            <a:ext cx="7132320" cy="640080"/>
          </a:xfrm>
          <a:prstGeom prst="rect">
            <a:avLst/>
          </a:prstGeom>
          <a:noFill/>
          <a:ln/>
        </p:spPr>
        <p:txBody>
          <a:bodyPr wrap="square" lIns="0" tIns="0" rIns="0" bIns="0" rtlCol="0" anchor="ctr"/>
          <a:lstStyle/>
          <a:p>
            <a:pPr indent="0" marL="0">
              <a:buNone/>
            </a:pPr>
            <a:r>
              <a:rPr lang="en-US" sz="1150" dirty="0">
                <a:solidFill>
                  <a:srgbClr val="CADCFC"/>
                </a:solidFill>
                <a:latin typeface="Calibri" pitchFamily="34" charset="0"/>
                <a:ea typeface="Calibri" pitchFamily="34" charset="-122"/>
                <a:cs typeface="Calibri" pitchFamily="34" charset="-120"/>
              </a:rPr>
              <a:t>La criticidad A/B/C, las hojas de ruta y las ventanas de parada permiten planificar ampliaciones y renovación tecnológica.</a:t>
            </a:r>
            <a:endParaRPr lang="en-US" sz="1150" dirty="0"/>
          </a:p>
        </p:txBody>
      </p:sp>
      <p:sp>
        <p:nvSpPr>
          <p:cNvPr id="19" name="Text 17"/>
          <p:cNvSpPr txBox="1"/>
          <p:nvPr/>
        </p:nvSpPr>
        <p:spPr>
          <a:xfrm>
            <a:off x="822960" y="6172200"/>
            <a:ext cx="10515600" cy="320040"/>
          </a:xfrm>
          <a:prstGeom prst="rect">
            <a:avLst/>
          </a:prstGeom>
          <a:noFill/>
          <a:ln/>
        </p:spPr>
        <p:txBody>
          <a:bodyPr wrap="square" lIns="0" tIns="0" rIns="0" bIns="0" rtlCol="0" anchor="ctr"/>
          <a:lstStyle/>
          <a:p>
            <a:pPr indent="0" marL="0">
              <a:buNone/>
            </a:pPr>
            <a:r>
              <a:rPr lang="en-US" sz="1100" dirty="0">
                <a:solidFill>
                  <a:srgbClr val="8FA6C4"/>
                </a:solidFill>
                <a:latin typeface="Calibri" pitchFamily="34" charset="0"/>
                <a:ea typeface="Calibri" pitchFamily="34" charset="-122"/>
                <a:cs typeface="Calibri" pitchFamily="34" charset="-120"/>
              </a:rPr>
              <a:t>SGIT-CCTV · Aceros Arequipa, Planta Pisco · Laminación (Trenes 1, 2 y 3)</a:t>
            </a:r>
            <a:endParaRPr lang="en-US" sz="11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1064240" cy="566928"/>
          </a:xfrm>
          <a:prstGeom prst="rect">
            <a:avLst/>
          </a:prstGeom>
          <a:noFill/>
          <a:ln/>
        </p:spPr>
        <p:txBody>
          <a:bodyPr wrap="square" lIns="0" tIns="0" rIns="0" bIns="0" rtlCol="0" anchor="ctr"/>
          <a:lstStyle/>
          <a:p>
            <a:pPr indent="0" marL="0">
              <a:buNone/>
            </a:pPr>
            <a:r>
              <a:rPr lang="en-US" sz="3000" b="1" dirty="0">
                <a:solidFill>
                  <a:srgbClr val="1B3A5C"/>
                </a:solidFill>
                <a:latin typeface="Cambria" pitchFamily="34" charset="0"/>
                <a:ea typeface="Cambria" pitchFamily="34" charset="-122"/>
                <a:cs typeface="Cambria" pitchFamily="34" charset="-120"/>
              </a:rPr>
              <a:t>Acceso para evaluación</a:t>
            </a:r>
            <a:endParaRPr lang="en-US" sz="3000" dirty="0"/>
          </a:p>
        </p:txBody>
      </p:sp>
      <p:sp>
        <p:nvSpPr>
          <p:cNvPr id="3" name="Text 1"/>
          <p:cNvSpPr txBox="1"/>
          <p:nvPr/>
        </p:nvSpPr>
        <p:spPr>
          <a:xfrm>
            <a:off x="548640" y="896112"/>
            <a:ext cx="11064240" cy="329184"/>
          </a:xfrm>
          <a:prstGeom prst="rect">
            <a:avLst/>
          </a:prstGeom>
          <a:noFill/>
          <a:ln/>
        </p:spPr>
        <p:txBody>
          <a:bodyPr wrap="square" lIns="0" tIns="0" rIns="0" bIns="0" rtlCol="0" anchor="ctr"/>
          <a:lstStyle/>
          <a:p>
            <a:pPr indent="0" marL="0">
              <a:buNone/>
            </a:pPr>
            <a:r>
              <a:rPr lang="en-US" sz="1350" dirty="0">
                <a:solidFill>
                  <a:srgbClr val="5A6570"/>
                </a:solidFill>
                <a:latin typeface="Calibri" pitchFamily="34" charset="0"/>
                <a:ea typeface="Calibri" pitchFamily="34" charset="-122"/>
                <a:cs typeface="Calibri" pitchFamily="34" charset="-120"/>
              </a:rPr>
              <a:t>El sistema está en operación y disponible para su revisión directa</a:t>
            </a:r>
            <a:endParaRPr lang="en-US" sz="1350" dirty="0"/>
          </a:p>
        </p:txBody>
      </p:sp>
      <p:sp>
        <p:nvSpPr>
          <p:cNvPr id="4" name="Text 2"/>
          <p:cNvSpPr txBox="1"/>
          <p:nvPr/>
        </p:nvSpPr>
        <p:spPr>
          <a:xfrm>
            <a:off x="548640" y="6400800"/>
            <a:ext cx="10058400" cy="274320"/>
          </a:xfrm>
          <a:prstGeom prst="rect">
            <a:avLst/>
          </a:prstGeom>
          <a:noFill/>
          <a:ln/>
        </p:spPr>
        <p:txBody>
          <a:bodyPr wrap="square" lIns="0" tIns="0" rIns="0" bIns="0" rtlCol="0" anchor="ctr"/>
          <a:lstStyle/>
          <a:p>
            <a:pPr indent="0" marL="0">
              <a:buNone/>
            </a:pPr>
            <a:r>
              <a:rPr lang="en-US" sz="900" dirty="0">
                <a:solidFill>
                  <a:srgbClr val="9AA4B0"/>
                </a:solidFill>
                <a:latin typeface="Calibri" pitchFamily="34" charset="0"/>
                <a:ea typeface="Calibri" pitchFamily="34" charset="-122"/>
                <a:cs typeface="Calibri" pitchFamily="34" charset="-120"/>
              </a:rPr>
              <a:t>SGIT-CCTV · Aceros Arequipa, Planta Pisco · Laminación (Trenes 1, 2 y 3)</a:t>
            </a:r>
            <a:endParaRPr lang="en-US" sz="900" dirty="0"/>
          </a:p>
        </p:txBody>
      </p:sp>
      <p:sp>
        <p:nvSpPr>
          <p:cNvPr id="5" name="Text 3"/>
          <p:cNvSpPr txBox="1"/>
          <p:nvPr/>
        </p:nvSpPr>
        <p:spPr>
          <a:xfrm>
            <a:off x="11338560" y="6400800"/>
            <a:ext cx="365760" cy="274320"/>
          </a:xfrm>
          <a:prstGeom prst="rect">
            <a:avLst/>
          </a:prstGeom>
          <a:noFill/>
          <a:ln/>
        </p:spPr>
        <p:txBody>
          <a:bodyPr wrap="square" lIns="0" tIns="0" rIns="0" bIns="0" rtlCol="0" anchor="ctr"/>
          <a:lstStyle/>
          <a:p>
            <a:pPr algn="r" indent="0" marL="0">
              <a:buNone/>
            </a:pPr>
            <a:r>
              <a:rPr lang="en-US" sz="1000" dirty="0">
                <a:solidFill>
                  <a:srgbClr val="5A6570"/>
                </a:solidFill>
                <a:latin typeface="Calibri" pitchFamily="34" charset="0"/>
                <a:ea typeface="Calibri" pitchFamily="34" charset="-122"/>
                <a:cs typeface="Calibri" pitchFamily="34" charset="-120"/>
              </a:rPr>
              <a:t>27</a:t>
            </a:r>
            <a:endParaRPr lang="en-US" sz="1000" dirty="0"/>
          </a:p>
        </p:txBody>
      </p:sp>
      <p:sp>
        <p:nvSpPr>
          <p:cNvPr id="6" name="Shape 4"/>
          <p:cNvSpPr/>
          <p:nvPr/>
        </p:nvSpPr>
        <p:spPr>
          <a:xfrm>
            <a:off x="548640" y="1417320"/>
            <a:ext cx="11064240" cy="1371600"/>
          </a:xfrm>
          <a:prstGeom prst="roundRect">
            <a:avLst>
              <a:gd name="adj" fmla="val 6667"/>
            </a:avLst>
          </a:prstGeom>
          <a:solidFill>
            <a:srgbClr val="1B3A5C"/>
          </a:solidFill>
          <a:ln/>
        </p:spPr>
      </p:sp>
      <p:sp>
        <p:nvSpPr>
          <p:cNvPr id="7" name="Text 5"/>
          <p:cNvSpPr txBox="1"/>
          <p:nvPr/>
        </p:nvSpPr>
        <p:spPr>
          <a:xfrm>
            <a:off x="868680" y="1572768"/>
            <a:ext cx="4572000" cy="292608"/>
          </a:xfrm>
          <a:prstGeom prst="rect">
            <a:avLst/>
          </a:prstGeom>
          <a:noFill/>
          <a:ln/>
        </p:spPr>
        <p:txBody>
          <a:bodyPr wrap="square" lIns="0" tIns="0" rIns="0" bIns="0" rtlCol="0" anchor="ctr"/>
          <a:lstStyle/>
          <a:p>
            <a:pPr indent="0" marL="0">
              <a:buNone/>
            </a:pPr>
            <a:r>
              <a:rPr lang="en-US" sz="1200" dirty="0">
                <a:solidFill>
                  <a:srgbClr val="AFC4DC"/>
                </a:solidFill>
                <a:latin typeface="Calibri" pitchFamily="34" charset="0"/>
                <a:ea typeface="Calibri" pitchFamily="34" charset="-122"/>
                <a:cs typeface="Calibri" pitchFamily="34" charset="-120"/>
              </a:rPr>
              <a:t>Dirección del sistema</a:t>
            </a:r>
            <a:endParaRPr lang="en-US" sz="1200" dirty="0"/>
          </a:p>
        </p:txBody>
      </p:sp>
      <p:sp>
        <p:nvSpPr>
          <p:cNvPr id="8" name="Text 6"/>
          <p:cNvSpPr txBox="1"/>
          <p:nvPr/>
        </p:nvSpPr>
        <p:spPr>
          <a:xfrm>
            <a:off x="868680" y="1901952"/>
            <a:ext cx="10424160" cy="502920"/>
          </a:xfrm>
          <a:prstGeom prst="rect">
            <a:avLst/>
          </a:prstGeom>
          <a:noFill/>
          <a:ln/>
        </p:spPr>
        <p:txBody>
          <a:bodyPr wrap="square" lIns="0" tIns="0" rIns="0" bIns="0"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https://aceros-arequipa-sgitcctv.up.railway.app</a:t>
            </a:r>
            <a:endParaRPr lang="en-US" sz="2600" dirty="0"/>
          </a:p>
        </p:txBody>
      </p:sp>
      <p:sp>
        <p:nvSpPr>
          <p:cNvPr id="9" name="Text 7"/>
          <p:cNvSpPr txBox="1"/>
          <p:nvPr/>
        </p:nvSpPr>
        <p:spPr>
          <a:xfrm>
            <a:off x="868680" y="2432304"/>
            <a:ext cx="10424160" cy="274320"/>
          </a:xfrm>
          <a:prstGeom prst="rect">
            <a:avLst/>
          </a:prstGeom>
          <a:noFill/>
          <a:ln/>
        </p:spPr>
        <p:txBody>
          <a:bodyPr wrap="square" lIns="0" tIns="0" rIns="0" bIns="0" rtlCol="0" anchor="ctr"/>
          <a:lstStyle/>
          <a:p>
            <a:pPr indent="0" marL="0">
              <a:buNone/>
            </a:pPr>
            <a:r>
              <a:rPr lang="en-US" sz="1100" dirty="0">
                <a:solidFill>
                  <a:srgbClr val="AFC4DC"/>
                </a:solidFill>
                <a:latin typeface="Calibri" pitchFamily="34" charset="0"/>
                <a:ea typeface="Calibri" pitchFamily="34" charset="-122"/>
                <a:cs typeface="Calibri" pitchFamily="34" charset="-120"/>
              </a:rPr>
              <a:t>Compatible con navegador de escritorio y con teléfono. No requiere instalación ni VPN.</a:t>
            </a:r>
            <a:endParaRPr lang="en-US" sz="1100" dirty="0"/>
          </a:p>
        </p:txBody>
      </p:sp>
      <p:sp>
        <p:nvSpPr>
          <p:cNvPr id="10" name="Shape 8"/>
          <p:cNvSpPr/>
          <p:nvPr/>
        </p:nvSpPr>
        <p:spPr>
          <a:xfrm>
            <a:off x="548640" y="2999232"/>
            <a:ext cx="5440680" cy="1874520"/>
          </a:xfrm>
          <a:prstGeom prst="roundRect">
            <a:avLst>
              <a:gd name="adj" fmla="val 3902"/>
            </a:avLst>
          </a:prstGeom>
          <a:solidFill>
            <a:srgbClr val="F4F7FA"/>
          </a:solidFill>
          <a:ln w="12700">
            <a:solidFill>
              <a:srgbClr val="C9D4E0"/>
            </a:solidFill>
            <a:prstDash val="solid"/>
          </a:ln>
        </p:spPr>
      </p:sp>
      <p:sp>
        <p:nvSpPr>
          <p:cNvPr id="11" name="Text 9"/>
          <p:cNvSpPr txBox="1"/>
          <p:nvPr/>
        </p:nvSpPr>
        <p:spPr>
          <a:xfrm>
            <a:off x="777240" y="3145536"/>
            <a:ext cx="4983480" cy="329184"/>
          </a:xfrm>
          <a:prstGeom prst="rect">
            <a:avLst/>
          </a:prstGeom>
          <a:noFill/>
          <a:ln/>
        </p:spPr>
        <p:txBody>
          <a:bodyPr wrap="square" lIns="0" tIns="0" rIns="0" bIns="0" rtlCol="0" anchor="ctr"/>
          <a:lstStyle/>
          <a:p>
            <a:pPr indent="0" marL="0">
              <a:buNone/>
            </a:pPr>
            <a:r>
              <a:rPr lang="en-US" sz="1400" b="1" dirty="0">
                <a:solidFill>
                  <a:srgbClr val="1B3A5C"/>
                </a:solidFill>
                <a:latin typeface="Calibri" pitchFamily="34" charset="0"/>
                <a:ea typeface="Calibri" pitchFamily="34" charset="-122"/>
                <a:cs typeface="Calibri" pitchFamily="34" charset="-120"/>
              </a:rPr>
              <a:t>Credenciales de evaluación</a:t>
            </a:r>
            <a:endParaRPr lang="en-US" sz="1400" dirty="0"/>
          </a:p>
        </p:txBody>
      </p:sp>
      <p:sp>
        <p:nvSpPr>
          <p:cNvPr id="12" name="Text 10"/>
          <p:cNvSpPr txBox="1"/>
          <p:nvPr/>
        </p:nvSpPr>
        <p:spPr>
          <a:xfrm>
            <a:off x="777240" y="3566160"/>
            <a:ext cx="4983480" cy="292608"/>
          </a:xfrm>
          <a:prstGeom prst="rect">
            <a:avLst/>
          </a:prstGeom>
          <a:noFill/>
          <a:ln/>
        </p:spPr>
        <p:txBody>
          <a:bodyPr wrap="square" lIns="0" tIns="0" rIns="0" bIns="0" rtlCol="0" anchor="ctr"/>
          <a:lstStyle/>
          <a:p>
            <a:pPr indent="0" marL="0">
              <a:buNone/>
            </a:pPr>
            <a:r>
              <a:rPr lang="en-US" sz="1250" b="1" dirty="0">
                <a:solidFill>
                  <a:srgbClr val="16283C"/>
                </a:solidFill>
                <a:latin typeface="Courier New" pitchFamily="34" charset="0"/>
                <a:ea typeface="Courier New" pitchFamily="34" charset="-122"/>
                <a:cs typeface="Courier New" pitchFamily="34" charset="-120"/>
              </a:rPr>
              <a:t>Usuario:  </a:t>
            </a:r>
            <a:pPr indent="0" marL="0">
              <a:buNone/>
            </a:pPr>
            <a:r>
              <a:rPr lang="en-US" sz="1250" dirty="0">
                <a:solidFill>
                  <a:srgbClr val="16283C"/>
                </a:solidFill>
                <a:latin typeface="Courier New" pitchFamily="34" charset="0"/>
                <a:ea typeface="Courier New" pitchFamily="34" charset="-122"/>
                <a:cs typeface="Courier New" pitchFamily="34" charset="-120"/>
              </a:rPr>
              <a:t>demo@acerosarequipa.local</a:t>
            </a:r>
            <a:endParaRPr lang="en-US" sz="1250" dirty="0"/>
          </a:p>
        </p:txBody>
      </p:sp>
      <p:sp>
        <p:nvSpPr>
          <p:cNvPr id="13" name="Text 11"/>
          <p:cNvSpPr txBox="1"/>
          <p:nvPr/>
        </p:nvSpPr>
        <p:spPr>
          <a:xfrm>
            <a:off x="777240" y="3895344"/>
            <a:ext cx="4983480" cy="292608"/>
          </a:xfrm>
          <a:prstGeom prst="rect">
            <a:avLst/>
          </a:prstGeom>
          <a:noFill/>
          <a:ln/>
        </p:spPr>
        <p:txBody>
          <a:bodyPr wrap="square" lIns="0" tIns="0" rIns="0" bIns="0" rtlCol="0" anchor="ctr"/>
          <a:lstStyle/>
          <a:p>
            <a:pPr indent="0" marL="0">
              <a:buNone/>
            </a:pPr>
            <a:r>
              <a:rPr lang="en-US" sz="1250" b="1" dirty="0">
                <a:solidFill>
                  <a:srgbClr val="16283C"/>
                </a:solidFill>
                <a:latin typeface="Courier New" pitchFamily="34" charset="0"/>
                <a:ea typeface="Courier New" pitchFamily="34" charset="-122"/>
                <a:cs typeface="Courier New" pitchFamily="34" charset="-120"/>
              </a:rPr>
              <a:t>Clave:    </a:t>
            </a:r>
            <a:pPr indent="0" marL="0">
              <a:buNone/>
            </a:pPr>
            <a:r>
              <a:rPr lang="en-US" sz="1250" dirty="0">
                <a:solidFill>
                  <a:srgbClr val="16283C"/>
                </a:solidFill>
                <a:latin typeface="Courier New" pitchFamily="34" charset="0"/>
                <a:ea typeface="Courier New" pitchFamily="34" charset="-122"/>
                <a:cs typeface="Courier New" pitchFamily="34" charset="-120"/>
              </a:rPr>
              <a:t>· · · · · · · · · · · ·</a:t>
            </a:r>
            <a:endParaRPr lang="en-US" sz="1250" dirty="0"/>
          </a:p>
        </p:txBody>
      </p:sp>
      <p:sp>
        <p:nvSpPr>
          <p:cNvPr id="14" name="Text 12"/>
          <p:cNvSpPr txBox="1"/>
          <p:nvPr/>
        </p:nvSpPr>
        <p:spPr>
          <a:xfrm>
            <a:off x="777240" y="4279392"/>
            <a:ext cx="4983480" cy="475488"/>
          </a:xfrm>
          <a:prstGeom prst="rect">
            <a:avLst/>
          </a:prstGeom>
          <a:noFill/>
          <a:ln/>
        </p:spPr>
        <p:txBody>
          <a:bodyPr wrap="square" lIns="0" tIns="0" rIns="0" bIns="0" rtlCol="0" anchor="ctr"/>
          <a:lstStyle/>
          <a:p>
            <a:pPr indent="0" marL="0">
              <a:buNone/>
            </a:pPr>
            <a:r>
              <a:rPr lang="en-US" sz="1050" dirty="0">
                <a:solidFill>
                  <a:srgbClr val="5A6570"/>
                </a:solidFill>
                <a:latin typeface="Calibri" pitchFamily="34" charset="0"/>
                <a:ea typeface="Calibri" pitchFamily="34" charset="-122"/>
                <a:cs typeface="Calibri" pitchFamily="34" charset="-120"/>
              </a:rPr>
              <a:t>Perfil de sólo consulta. Permite recorrer el sistema completo sin capacidad de modificar, cerrar ni eliminar ningún registro.</a:t>
            </a:r>
            <a:endParaRPr lang="en-US" sz="1050" dirty="0"/>
          </a:p>
        </p:txBody>
      </p:sp>
      <p:sp>
        <p:nvSpPr>
          <p:cNvPr id="15" name="Shape 13"/>
          <p:cNvSpPr/>
          <p:nvPr/>
        </p:nvSpPr>
        <p:spPr>
          <a:xfrm>
            <a:off x="6172200" y="2999232"/>
            <a:ext cx="5440680" cy="1874520"/>
          </a:xfrm>
          <a:prstGeom prst="roundRect">
            <a:avLst>
              <a:gd name="adj" fmla="val 3902"/>
            </a:avLst>
          </a:prstGeom>
          <a:solidFill>
            <a:srgbClr val="FFFFFF"/>
          </a:solidFill>
          <a:ln w="12700">
            <a:solidFill>
              <a:srgbClr val="D8E4F0"/>
            </a:solidFill>
            <a:prstDash val="solid"/>
          </a:ln>
        </p:spPr>
      </p:sp>
      <p:sp>
        <p:nvSpPr>
          <p:cNvPr id="16" name="Text 14"/>
          <p:cNvSpPr txBox="1"/>
          <p:nvPr/>
        </p:nvSpPr>
        <p:spPr>
          <a:xfrm>
            <a:off x="6400800" y="3145536"/>
            <a:ext cx="4983480" cy="329184"/>
          </a:xfrm>
          <a:prstGeom prst="rect">
            <a:avLst/>
          </a:prstGeom>
          <a:noFill/>
          <a:ln/>
        </p:spPr>
        <p:txBody>
          <a:bodyPr wrap="square" lIns="0" tIns="0" rIns="0" bIns="0" rtlCol="0" anchor="ctr"/>
          <a:lstStyle/>
          <a:p>
            <a:pPr indent="0" marL="0">
              <a:buNone/>
            </a:pPr>
            <a:r>
              <a:rPr lang="en-US" sz="1400" b="1" dirty="0">
                <a:solidFill>
                  <a:srgbClr val="1B3A5C"/>
                </a:solidFill>
                <a:latin typeface="Calibri" pitchFamily="34" charset="0"/>
                <a:ea typeface="Calibri" pitchFamily="34" charset="-122"/>
                <a:cs typeface="Calibri" pitchFamily="34" charset="-120"/>
              </a:rPr>
              <a:t>Recorrido sugerido para la revisión</a:t>
            </a:r>
            <a:endParaRPr lang="en-US" sz="1400" dirty="0"/>
          </a:p>
        </p:txBody>
      </p:sp>
      <p:sp>
        <p:nvSpPr>
          <p:cNvPr id="17" name="Text 15"/>
          <p:cNvSpPr txBox="1"/>
          <p:nvPr/>
        </p:nvSpPr>
        <p:spPr>
          <a:xfrm>
            <a:off x="6400800" y="3566160"/>
            <a:ext cx="274320" cy="274320"/>
          </a:xfrm>
          <a:prstGeom prst="rect">
            <a:avLst/>
          </a:prstGeom>
          <a:noFill/>
          <a:ln/>
        </p:spPr>
        <p:txBody>
          <a:bodyPr wrap="square" lIns="0" tIns="0" rIns="0" bIns="0" rtlCol="0" anchor="ctr"/>
          <a:lstStyle/>
          <a:p>
            <a:pPr indent="0" marL="0">
              <a:buNone/>
            </a:pPr>
            <a:r>
              <a:rPr lang="en-US" sz="1100" b="1" dirty="0">
                <a:solidFill>
                  <a:srgbClr val="2E75B6"/>
                </a:solidFill>
                <a:latin typeface="Calibri" pitchFamily="34" charset="0"/>
                <a:ea typeface="Calibri" pitchFamily="34" charset="-122"/>
                <a:cs typeface="Calibri" pitchFamily="34" charset="-120"/>
              </a:rPr>
              <a:t>1.</a:t>
            </a:r>
            <a:endParaRPr lang="en-US" sz="1100" dirty="0"/>
          </a:p>
        </p:txBody>
      </p:sp>
      <p:sp>
        <p:nvSpPr>
          <p:cNvPr id="18" name="Text 16"/>
          <p:cNvSpPr txBox="1"/>
          <p:nvPr/>
        </p:nvSpPr>
        <p:spPr>
          <a:xfrm>
            <a:off x="6675120" y="3566160"/>
            <a:ext cx="4709160" cy="274320"/>
          </a:xfrm>
          <a:prstGeom prst="rect">
            <a:avLst/>
          </a:prstGeom>
          <a:noFill/>
          <a:ln/>
        </p:spPr>
        <p:txBody>
          <a:bodyPr wrap="square" lIns="0" tIns="0" rIns="0" bIns="0" rtlCol="0" anchor="ctr"/>
          <a:lstStyle/>
          <a:p>
            <a:pPr indent="0" marL="0">
              <a:buNone/>
            </a:pPr>
            <a:r>
              <a:rPr lang="en-US" sz="1100" dirty="0">
                <a:solidFill>
                  <a:srgbClr val="16283C"/>
                </a:solidFill>
                <a:latin typeface="Calibri" pitchFamily="34" charset="0"/>
                <a:ea typeface="Calibri" pitchFamily="34" charset="-122"/>
                <a:cs typeface="Calibri" pitchFamily="34" charset="-120"/>
              </a:rPr>
              <a:t>Incidencias — la bitácora con autor, hora y evidencia</a:t>
            </a:r>
            <a:endParaRPr lang="en-US" sz="1100" dirty="0"/>
          </a:p>
        </p:txBody>
      </p:sp>
      <p:sp>
        <p:nvSpPr>
          <p:cNvPr id="19" name="Text 17"/>
          <p:cNvSpPr txBox="1"/>
          <p:nvPr/>
        </p:nvSpPr>
        <p:spPr>
          <a:xfrm>
            <a:off x="6400800" y="3886200"/>
            <a:ext cx="274320" cy="274320"/>
          </a:xfrm>
          <a:prstGeom prst="rect">
            <a:avLst/>
          </a:prstGeom>
          <a:noFill/>
          <a:ln/>
        </p:spPr>
        <p:txBody>
          <a:bodyPr wrap="square" lIns="0" tIns="0" rIns="0" bIns="0" rtlCol="0" anchor="ctr"/>
          <a:lstStyle/>
          <a:p>
            <a:pPr indent="0" marL="0">
              <a:buNone/>
            </a:pPr>
            <a:r>
              <a:rPr lang="en-US" sz="1100" b="1" dirty="0">
                <a:solidFill>
                  <a:srgbClr val="2E75B6"/>
                </a:solidFill>
                <a:latin typeface="Calibri" pitchFamily="34" charset="0"/>
                <a:ea typeface="Calibri" pitchFamily="34" charset="-122"/>
                <a:cs typeface="Calibri" pitchFamily="34" charset="-120"/>
              </a:rPr>
              <a:t>2.</a:t>
            </a:r>
            <a:endParaRPr lang="en-US" sz="1100" dirty="0"/>
          </a:p>
        </p:txBody>
      </p:sp>
      <p:sp>
        <p:nvSpPr>
          <p:cNvPr id="20" name="Text 18"/>
          <p:cNvSpPr txBox="1"/>
          <p:nvPr/>
        </p:nvSpPr>
        <p:spPr>
          <a:xfrm>
            <a:off x="6675120" y="3886200"/>
            <a:ext cx="4709160" cy="274320"/>
          </a:xfrm>
          <a:prstGeom prst="rect">
            <a:avLst/>
          </a:prstGeom>
          <a:noFill/>
          <a:ln/>
        </p:spPr>
        <p:txBody>
          <a:bodyPr wrap="square" lIns="0" tIns="0" rIns="0" bIns="0" rtlCol="0" anchor="ctr"/>
          <a:lstStyle/>
          <a:p>
            <a:pPr indent="0" marL="0">
              <a:buNone/>
            </a:pPr>
            <a:r>
              <a:rPr lang="en-US" sz="1100" dirty="0">
                <a:solidFill>
                  <a:srgbClr val="16283C"/>
                </a:solidFill>
                <a:latin typeface="Calibri" pitchFamily="34" charset="0"/>
                <a:ea typeface="Calibri" pitchFamily="34" charset="-122"/>
                <a:cs typeface="Calibri" pitchFamily="34" charset="-120"/>
              </a:rPr>
              <a:t>Órdenes de Mantenimiento — el expediente completo</a:t>
            </a:r>
            <a:endParaRPr lang="en-US" sz="1100" dirty="0"/>
          </a:p>
        </p:txBody>
      </p:sp>
      <p:sp>
        <p:nvSpPr>
          <p:cNvPr id="21" name="Text 19"/>
          <p:cNvSpPr txBox="1"/>
          <p:nvPr/>
        </p:nvSpPr>
        <p:spPr>
          <a:xfrm>
            <a:off x="6400800" y="4206240"/>
            <a:ext cx="274320" cy="274320"/>
          </a:xfrm>
          <a:prstGeom prst="rect">
            <a:avLst/>
          </a:prstGeom>
          <a:noFill/>
          <a:ln/>
        </p:spPr>
        <p:txBody>
          <a:bodyPr wrap="square" lIns="0" tIns="0" rIns="0" bIns="0" rtlCol="0" anchor="ctr"/>
          <a:lstStyle/>
          <a:p>
            <a:pPr indent="0" marL="0">
              <a:buNone/>
            </a:pPr>
            <a:r>
              <a:rPr lang="en-US" sz="1100" b="1" dirty="0">
                <a:solidFill>
                  <a:srgbClr val="2E75B6"/>
                </a:solidFill>
                <a:latin typeface="Calibri" pitchFamily="34" charset="0"/>
                <a:ea typeface="Calibri" pitchFamily="34" charset="-122"/>
                <a:cs typeface="Calibri" pitchFamily="34" charset="-120"/>
              </a:rPr>
              <a:t>3.</a:t>
            </a:r>
            <a:endParaRPr lang="en-US" sz="1100" dirty="0"/>
          </a:p>
        </p:txBody>
      </p:sp>
      <p:sp>
        <p:nvSpPr>
          <p:cNvPr id="22" name="Text 20"/>
          <p:cNvSpPr txBox="1"/>
          <p:nvPr/>
        </p:nvSpPr>
        <p:spPr>
          <a:xfrm>
            <a:off x="6675120" y="4206240"/>
            <a:ext cx="4709160" cy="274320"/>
          </a:xfrm>
          <a:prstGeom prst="rect">
            <a:avLst/>
          </a:prstGeom>
          <a:noFill/>
          <a:ln/>
        </p:spPr>
        <p:txBody>
          <a:bodyPr wrap="square" lIns="0" tIns="0" rIns="0" bIns="0" rtlCol="0" anchor="ctr"/>
          <a:lstStyle/>
          <a:p>
            <a:pPr indent="0" marL="0">
              <a:buNone/>
            </a:pPr>
            <a:r>
              <a:rPr lang="en-US" sz="1100" dirty="0">
                <a:solidFill>
                  <a:srgbClr val="16283C"/>
                </a:solidFill>
                <a:latin typeface="Calibri" pitchFamily="34" charset="0"/>
                <a:ea typeface="Calibri" pitchFamily="34" charset="-122"/>
                <a:cs typeface="Calibri" pitchFamily="34" charset="-120"/>
              </a:rPr>
              <a:t>Criticidad de activos — la clasificación A/B/C</a:t>
            </a:r>
            <a:endParaRPr lang="en-US" sz="1100" dirty="0"/>
          </a:p>
        </p:txBody>
      </p:sp>
      <p:sp>
        <p:nvSpPr>
          <p:cNvPr id="23" name="Text 21"/>
          <p:cNvSpPr txBox="1"/>
          <p:nvPr/>
        </p:nvSpPr>
        <p:spPr>
          <a:xfrm>
            <a:off x="6400800" y="4526280"/>
            <a:ext cx="274320" cy="274320"/>
          </a:xfrm>
          <a:prstGeom prst="rect">
            <a:avLst/>
          </a:prstGeom>
          <a:noFill/>
          <a:ln/>
        </p:spPr>
        <p:txBody>
          <a:bodyPr wrap="square" lIns="0" tIns="0" rIns="0" bIns="0" rtlCol="0" anchor="ctr"/>
          <a:lstStyle/>
          <a:p>
            <a:pPr indent="0" marL="0">
              <a:buNone/>
            </a:pPr>
            <a:r>
              <a:rPr lang="en-US" sz="1100" b="1" dirty="0">
                <a:solidFill>
                  <a:srgbClr val="2E75B6"/>
                </a:solidFill>
                <a:latin typeface="Calibri" pitchFamily="34" charset="0"/>
                <a:ea typeface="Calibri" pitchFamily="34" charset="-122"/>
                <a:cs typeface="Calibri" pitchFamily="34" charset="-120"/>
              </a:rPr>
              <a:t>4.</a:t>
            </a:r>
            <a:endParaRPr lang="en-US" sz="1100" dirty="0"/>
          </a:p>
        </p:txBody>
      </p:sp>
      <p:sp>
        <p:nvSpPr>
          <p:cNvPr id="24" name="Text 22"/>
          <p:cNvSpPr txBox="1"/>
          <p:nvPr/>
        </p:nvSpPr>
        <p:spPr>
          <a:xfrm>
            <a:off x="6675120" y="4526280"/>
            <a:ext cx="4709160" cy="274320"/>
          </a:xfrm>
          <a:prstGeom prst="rect">
            <a:avLst/>
          </a:prstGeom>
          <a:noFill/>
          <a:ln/>
        </p:spPr>
        <p:txBody>
          <a:bodyPr wrap="square" lIns="0" tIns="0" rIns="0" bIns="0" rtlCol="0" anchor="ctr"/>
          <a:lstStyle/>
          <a:p>
            <a:pPr indent="0" marL="0">
              <a:buNone/>
            </a:pPr>
            <a:r>
              <a:rPr lang="en-US" sz="1100" dirty="0">
                <a:solidFill>
                  <a:srgbClr val="16283C"/>
                </a:solidFill>
                <a:latin typeface="Calibri" pitchFamily="34" charset="0"/>
                <a:ea typeface="Calibri" pitchFamily="34" charset="-122"/>
                <a:cs typeface="Calibri" pitchFamily="34" charset="-120"/>
              </a:rPr>
              <a:t>Indicadores — MTTR, backlog y cumplimiento</a:t>
            </a:r>
            <a:endParaRPr lang="en-US" sz="1100" dirty="0"/>
          </a:p>
        </p:txBody>
      </p:sp>
      <p:sp>
        <p:nvSpPr>
          <p:cNvPr id="25" name="Shape 23"/>
          <p:cNvSpPr/>
          <p:nvPr/>
        </p:nvSpPr>
        <p:spPr>
          <a:xfrm>
            <a:off x="548640" y="5074920"/>
            <a:ext cx="11064240" cy="777240"/>
          </a:xfrm>
          <a:prstGeom prst="roundRect">
            <a:avLst>
              <a:gd name="adj" fmla="val 9412"/>
            </a:avLst>
          </a:prstGeom>
          <a:solidFill>
            <a:srgbClr val="FFF7E8"/>
          </a:solidFill>
          <a:ln w="15240">
            <a:solidFill>
              <a:srgbClr val="C9A227"/>
            </a:solidFill>
            <a:prstDash val="solid"/>
          </a:ln>
        </p:spPr>
      </p:sp>
      <p:sp>
        <p:nvSpPr>
          <p:cNvPr id="26" name="Text 24"/>
          <p:cNvSpPr txBox="1"/>
          <p:nvPr/>
        </p:nvSpPr>
        <p:spPr>
          <a:xfrm>
            <a:off x="822960" y="5138928"/>
            <a:ext cx="10515600" cy="649224"/>
          </a:xfrm>
          <a:prstGeom prst="rect">
            <a:avLst/>
          </a:prstGeom>
          <a:noFill/>
          <a:ln/>
        </p:spPr>
        <p:txBody>
          <a:bodyPr wrap="square" lIns="0" tIns="0" rIns="0" bIns="0" rtlCol="0" anchor="ctr"/>
          <a:lstStyle/>
          <a:p>
            <a:pPr indent="0" marL="0">
              <a:buNone/>
            </a:pPr>
            <a:r>
              <a:rPr lang="en-US" sz="1120" dirty="0">
                <a:solidFill>
                  <a:srgbClr val="6B4E00"/>
                </a:solidFill>
                <a:latin typeface="Calibri" pitchFamily="34" charset="0"/>
                <a:ea typeface="Calibri" pitchFamily="34" charset="-122"/>
                <a:cs typeface="Calibri" pitchFamily="34" charset="-120"/>
              </a:rPr>
              <a:t>La clave de evaluación se entrega por canal aparte y no se incorpora a este documento. El acceso es nominal y de sólo consulta: toda operación queda registrada en la auditoría del sistema con usuario, marca temporal y origen.</a:t>
            </a:r>
            <a:endParaRPr lang="en-US" sz="1120" dirty="0"/>
          </a:p>
        </p:txBody>
      </p:sp>
      <p:sp>
        <p:nvSpPr>
          <p:cNvPr id="27" name="Text 25"/>
          <p:cNvSpPr txBox="1"/>
          <p:nvPr/>
        </p:nvSpPr>
        <p:spPr>
          <a:xfrm>
            <a:off x="548640" y="6400800"/>
            <a:ext cx="10058400" cy="274320"/>
          </a:xfrm>
          <a:prstGeom prst="rect">
            <a:avLst/>
          </a:prstGeom>
          <a:noFill/>
          <a:ln/>
        </p:spPr>
        <p:txBody>
          <a:bodyPr wrap="square" lIns="0" tIns="0" rIns="0" bIns="0" rtlCol="0" anchor="ctr"/>
          <a:lstStyle/>
          <a:p>
            <a:pPr indent="0" marL="0">
              <a:buNone/>
            </a:pPr>
            <a:r>
              <a:rPr lang="en-US" sz="900" dirty="0">
                <a:solidFill>
                  <a:srgbClr val="9AA4B0"/>
                </a:solidFill>
                <a:latin typeface="Calibri" pitchFamily="34" charset="0"/>
                <a:ea typeface="Calibri" pitchFamily="34" charset="-122"/>
                <a:cs typeface="Calibri" pitchFamily="34" charset="-120"/>
              </a:rPr>
              <a:t>SGIT-CCTV · Aceros Arequipa, Planta Pisco · Laminación (Trenes 1, 2 y 3)</a:t>
            </a:r>
            <a:endParaRPr lang="en-US" sz="900" dirty="0"/>
          </a:p>
        </p:txBody>
      </p:sp>
      <p:sp>
        <p:nvSpPr>
          <p:cNvPr id="28" name="Text 26"/>
          <p:cNvSpPr txBox="1"/>
          <p:nvPr/>
        </p:nvSpPr>
        <p:spPr>
          <a:xfrm>
            <a:off x="11338560" y="6400800"/>
            <a:ext cx="365760" cy="274320"/>
          </a:xfrm>
          <a:prstGeom prst="rect">
            <a:avLst/>
          </a:prstGeom>
          <a:noFill/>
          <a:ln/>
        </p:spPr>
        <p:txBody>
          <a:bodyPr wrap="square" lIns="0" tIns="0" rIns="0" bIns="0" rtlCol="0" anchor="ctr"/>
          <a:lstStyle/>
          <a:p>
            <a:pPr algn="r" indent="0" marL="0">
              <a:buNone/>
            </a:pPr>
            <a:r>
              <a:rPr lang="en-US" sz="1000" dirty="0">
                <a:solidFill>
                  <a:srgbClr val="5A6570"/>
                </a:solidFill>
                <a:latin typeface="Calibri" pitchFamily="34" charset="0"/>
                <a:ea typeface="Calibri" pitchFamily="34" charset="-122"/>
                <a:cs typeface="Calibri" pitchFamily="34" charset="-120"/>
              </a:rPr>
              <a:t>28</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29</Slides>
  <Notes>29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29</vt:i4>
      </vt:variant>
    </vt:vector>
  </HeadingPairs>
  <TitlesOfParts>
    <vt:vector size="3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vector>
  </TitlesOfParts>
  <Company>Aceros Arequipa · Planta Pisco</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SGIT-CCTV — Del papel al expediente digital</dc:title>
  <dc:subject>PptxGenJS Presentation</dc:subject>
  <dc:creator>Área de Mantenimiento — CCTV y Red</dc:creator>
  <cp:lastModifiedBy>Área de Mantenimiento — CCTV y Red</cp:lastModifiedBy>
  <cp:revision>1</cp:revision>
  <dcterms:created xsi:type="dcterms:W3CDTF">2026-09-04T11:28:54Z</dcterms:created>
  <dcterms:modified xsi:type="dcterms:W3CDTF">2026-09-04T11:28:54Z</dcterms:modified>
</cp:coreProperties>
</file>